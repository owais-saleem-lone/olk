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4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20.xml" ContentType="application/vnd.openxmlformats-officedocument.presentationml.slide+xml"/>
  <Override PartName="/ppt/slides/slide28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43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2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Layouts/slideLayout7.xml" ContentType="application/vnd.openxmlformats-officedocument.presentationml.slideLayout+xml"/>
  <Override PartName="/ppt/notesSlides/notesSlide28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32.xml" ContentType="application/vnd.openxmlformats-officedocument.presentationml.slide+xml"/>
  <Override PartName="/ppt/slides/slide8.xml" ContentType="application/vnd.openxmlformats-officedocument.presentationml.slide+xml"/>
  <Override PartName="/ppt/notesSlides/notesSlide37.xml" ContentType="application/vnd.openxmlformats-officedocument.presentationml.notesSlide+xml"/>
  <Override PartName="/ppt/notesSlides/notesSlide7.xml" ContentType="application/vnd.openxmlformats-officedocument.presentationml.notesSlide+xml"/>
  <Override PartName="/ppt/viewProps.xml" ContentType="application/vnd.openxmlformats-officedocument.presentationml.viewProps+xml"/>
  <Override PartName="/ppt/slides/slide17.xml" ContentType="application/vnd.openxmlformats-officedocument.presentationml.sl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slides/slide7.xml" ContentType="application/vnd.openxmlformats-officedocument.presentationml.slide+xml"/>
  <Override PartName="/ppt/slides/slide41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0.xml" ContentType="application/vnd.openxmlformats-officedocument.presentationml.notesSlide+xml"/>
  <Override PartName="/ppt/notesSlides/notesSlide20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2.xml" ContentType="application/vnd.openxmlformats-officedocument.presentationml.notes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notesSlides/notesSlide15.xml" ContentType="application/vnd.openxmlformats-officedocument.presentationml.notesSlide+xml"/>
  <Override PartName="/ppt/slides/slide13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5.xml" ContentType="application/vnd.openxmlformats-officedocument.presentationml.slide+xml"/>
  <Override PartName="/ppt/notesSlides/notesSlide4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1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22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26.xml" ContentType="application/vnd.openxmlformats-officedocument.presentationml.slide+xml"/>
  <Override PartName="/ppt/theme/theme2.xml" ContentType="application/vnd.openxmlformats-officedocument.them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3.xml" ContentType="application/vnd.openxmlformats-officedocument.presentationml.slide+xml"/>
  <Override PartName="/ppt/slides/slide24.xml" ContentType="application/vnd.openxmlformats-officedocument.presentationml.slide+xml"/>
  <Override PartName="/ppt/slides/slide40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Slides/notesSlide33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9.xml" ContentType="application/vnd.openxmlformats-officedocument.presentationml.slide+xml"/>
  <Override PartName="/ppt/presentation.xml" ContentType="application/vnd.openxmlformats-officedocument.presentationml.presentation.main+xml"/>
  <Override PartName="/ppt/slides/slide42.xml" ContentType="application/vnd.openxmlformats-officedocument.presentationml.slide+xml"/>
  <Override PartName="/ppt/slides/slide44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4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presProps.xml" ContentType="application/vnd.openxmlformats-officedocument.presentationml.presProps+xml"/>
  <Override PartName="/ppt/slides/slide21.xml" ContentType="application/vnd.openxmlformats-officedocument.presentationml.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4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</p:sldIdLst>
  <p:sldSz cx="12191695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 /><Relationship Id="rId50" Type="http://schemas.openxmlformats.org/officeDocument/2006/relationships/tableStyles" Target="tableStyles.xml" /><Relationship Id="rId5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 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 ?>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 ?>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 ?>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 ?>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902797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965225380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Welcome. This deck is a companion to the 23-chapter technical manual (Guide/main.pdf) — every claim here traces back to a chapter there. Suggested Canva touch: fade/slide-in on the title, slow pan on the mountain band.</a:t>
            </a:r>
            <a:endParaRPr/>
          </a:p>
        </p:txBody>
      </p:sp>
      <p:sp>
        <p:nvSpPr>
          <p:cNvPr id="365953869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5B4EE8-07D4-1E39-6A9D-0F935B8146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86960E-9149-D899-9012-E42AE3F00BE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E1A39C-E41E-B208-7FE4-87D44E96CB4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E5CF1C-9A28-DA2E-28E9-470BC70DEC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2787E7-0ED2-E72E-128B-81A26F204C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574054-BCC8-4F59-B489-8ED42A38B2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7454CF-E5E2-26E5-BA2C-8615F5EDBE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4148FE-E74F-3A64-21B7-840802026B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7D0627-1D4A-F2C8-C79A-6B7DACBCAD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19B13C-6B37-5D2B-01A5-2CC3D27628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9E2AE9-DED3-5E18-8428-7D236592AA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AE644D-2A7E-B34D-54B3-D311FE6558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1F160F-C917-D54E-8230-8922FCFD5B9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691C7E-91C2-9C03-3AB5-F0ADC5113D7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F8C93F-0F0E-78B5-303E-906D7837AC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5CA969-DCE9-F7FF-8F35-E5DD7782AB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F84115-B7D3-6339-00FC-8BE7F7611B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A3E50C2-A2BC-C67E-3FE5-1602AC8F73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B4AF49-182C-F384-A00C-E1B6E205B4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96BB2C-05CB-84F9-9AA6-C819A215D0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9EC840-E26A-D83A-84BE-6C12B0C98C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D60A77-D4C6-77F4-1486-3C1CF7F1373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E365A5-A967-A418-F679-57E026BBDC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1770A8-B666-C976-F726-ED8ED3EF43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1C83F1-7EB2-404E-66D5-D65CDE1E18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08DFBA-A4E8-945F-8320-BAC303FB0B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1D5A48-3EE9-68E5-4D4B-FFAD7D0EC9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A8E80F-4061-3865-68B3-D589F42BB6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9694F5D-4A7C-CCC6-6CDF-BD7260FC48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3C7164-C55B-4006-2A33-0F0B29BB74F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9AB75B-5CAD-D6D2-CC54-EEA60FE7C20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14A15-B612-F6F6-A55C-D86D7408573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54B5D8-83B6-04C8-38AE-56053029F9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D5D395-E2FD-C58C-D192-370DDDFB5F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35B23E-1510-8EEF-2998-AA618B15D2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1366F1-E2D5-28C8-2BD5-956B5130A5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7BA27C-3900-0D30-F021-8DD8FEC97A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59E690-3CF4-05E3-A4B9-C45090099F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93F8E0-BC95-E5A1-0C59-F98E8A132E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61FBBE-4283-4345-838C-3BB4C297323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C56255-C241-C36D-36D1-E8A39BEBD7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D20D5D-15BB-0C14-797F-496340EFCB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19271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987756465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Closing beat. Suggested Canva touch: hold on this slide, invite questions, maybe a subtle looping shimmer on the teal horizon line.</a:t>
            </a:r>
            <a:endParaRPr/>
          </a:p>
        </p:txBody>
      </p:sp>
      <p:sp>
        <p:nvSpPr>
          <p:cNvPr id="1479840272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2235320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6445125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1031199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766861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127328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48745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3359500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1133664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199658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75936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2691585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1391895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4571875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980635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7036266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998162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1888284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9332454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3969069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8782712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939388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930276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1117405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3095822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2828354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2794617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8021304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09139516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861640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42903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4859537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9068371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8920580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73345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39018969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0925918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655573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95767265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117986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7712560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1174924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2625368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7804040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0817947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44841402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5363150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6942660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622696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81892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3304370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148496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8288959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6168756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958288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0603943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026140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501798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470803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31755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72109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8071808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19340752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36890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080055" name="Rectangle 1"/>
          <p:cNvSpPr/>
          <p:nvPr/>
        </p:nvSpPr>
        <p:spPr bwMode="auto">
          <a:xfrm>
            <a:off x="0" y="4206240"/>
            <a:ext cx="12191695" cy="2651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5559254" name="Freeform 2"/>
          <p:cNvSpPr/>
          <p:nvPr/>
        </p:nvSpPr>
        <p:spPr bwMode="auto">
          <a:xfrm>
            <a:off x="0" y="4736592"/>
            <a:ext cx="12191695" cy="2121408"/>
          </a:xfrm>
          <a:custGeom>
            <a:avLst/>
            <a:gdLst/>
            <a:ahLst/>
            <a:cxnLst/>
            <a:rect l="l" t="t" r="r" b="b"/>
            <a:pathLst>
              <a:path w="12191695" h="2121408" fill="norm" stroke="1" extrusionOk="0">
                <a:moveTo>
                  <a:pt x="0" y="2121408"/>
                </a:moveTo>
                <a:lnTo>
                  <a:pt x="0" y="928116"/>
                </a:lnTo>
                <a:lnTo>
                  <a:pt x="1706837" y="265176"/>
                </a:lnTo>
                <a:lnTo>
                  <a:pt x="3291758" y="795528"/>
                </a:lnTo>
                <a:lnTo>
                  <a:pt x="5120512" y="53035"/>
                </a:lnTo>
                <a:lnTo>
                  <a:pt x="7071183" y="742493"/>
                </a:lnTo>
                <a:lnTo>
                  <a:pt x="9021854" y="0"/>
                </a:lnTo>
                <a:lnTo>
                  <a:pt x="10972526" y="689458"/>
                </a:lnTo>
                <a:lnTo>
                  <a:pt x="12191695" y="212141"/>
                </a:lnTo>
                <a:lnTo>
                  <a:pt x="12191695" y="2121408"/>
                </a:lnTo>
                <a:lnTo>
                  <a:pt x="0" y="2121408"/>
                </a:lnTo>
                <a:close/>
              </a:path>
            </a:pathLst>
          </a:cu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6548846" name="Freeform 3"/>
          <p:cNvSpPr/>
          <p:nvPr/>
        </p:nvSpPr>
        <p:spPr bwMode="auto">
          <a:xfrm>
            <a:off x="0" y="5373014"/>
            <a:ext cx="12191695" cy="1484985"/>
          </a:xfrm>
          <a:custGeom>
            <a:avLst/>
            <a:gdLst/>
            <a:ahLst/>
            <a:cxnLst/>
            <a:rect l="l" t="t" r="r" b="b"/>
            <a:pathLst>
              <a:path w="12191695" h="1484986" fill="norm" stroke="1" extrusionOk="0">
                <a:moveTo>
                  <a:pt x="0" y="1484986"/>
                </a:moveTo>
                <a:lnTo>
                  <a:pt x="0" y="822046"/>
                </a:lnTo>
                <a:lnTo>
                  <a:pt x="1219170" y="212141"/>
                </a:lnTo>
                <a:lnTo>
                  <a:pt x="2682173" y="636423"/>
                </a:lnTo>
                <a:lnTo>
                  <a:pt x="4389010" y="53036"/>
                </a:lnTo>
                <a:lnTo>
                  <a:pt x="6095848" y="689458"/>
                </a:lnTo>
                <a:lnTo>
                  <a:pt x="7802685" y="0"/>
                </a:lnTo>
                <a:lnTo>
                  <a:pt x="9509522" y="689458"/>
                </a:lnTo>
                <a:lnTo>
                  <a:pt x="11216359" y="106071"/>
                </a:lnTo>
                <a:lnTo>
                  <a:pt x="12191695" y="477317"/>
                </a:lnTo>
                <a:lnTo>
                  <a:pt x="12191695" y="1484986"/>
                </a:lnTo>
                <a:lnTo>
                  <a:pt x="0" y="1484986"/>
                </a:lnTo>
                <a:close/>
              </a:path>
            </a:pathLst>
          </a:cu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8700216" name="Oval 4"/>
          <p:cNvSpPr/>
          <p:nvPr/>
        </p:nvSpPr>
        <p:spPr bwMode="auto">
          <a:xfrm>
            <a:off x="1950671" y="4683556"/>
            <a:ext cx="310896" cy="310896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4130925" name="Rectangle 5"/>
          <p:cNvSpPr/>
          <p:nvPr/>
        </p:nvSpPr>
        <p:spPr bwMode="auto">
          <a:xfrm>
            <a:off x="0" y="5319979"/>
            <a:ext cx="12191695" cy="330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2450149" name="TextBox 6"/>
          <p:cNvSpPr txBox="1"/>
          <p:nvPr/>
        </p:nvSpPr>
        <p:spPr bwMode="auto">
          <a:xfrm>
            <a:off x="822960" y="13716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600" b="1" i="0">
                <a:solidFill>
                  <a:srgbClr val="2DD4BF"/>
                </a:solidFill>
                <a:latin typeface="Calibri"/>
              </a:rPr>
              <a:t>DEVELOPER &amp; TEAM KICKOFF</a:t>
            </a:r>
            <a:endParaRPr/>
          </a:p>
        </p:txBody>
      </p:sp>
      <p:sp>
        <p:nvSpPr>
          <p:cNvPr id="1678070946" name="TextBox 7"/>
          <p:cNvSpPr txBox="1"/>
          <p:nvPr/>
        </p:nvSpPr>
        <p:spPr bwMode="auto">
          <a:xfrm>
            <a:off x="777240" y="1783080"/>
            <a:ext cx="105156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4800" b="1" i="0">
                <a:solidFill>
                  <a:srgbClr val="FFFFFF"/>
                </a:solidFill>
                <a:latin typeface="Calibri"/>
              </a:rPr>
              <a:t>OLK — Open Library Kashmir</a:t>
            </a:r>
            <a:endParaRPr/>
          </a:p>
        </p:txBody>
      </p:sp>
      <p:sp>
        <p:nvSpPr>
          <p:cNvPr id="253815277" name="TextBox 8"/>
          <p:cNvSpPr txBox="1"/>
          <p:nvPr/>
        </p:nvSpPr>
        <p:spPr bwMode="auto">
          <a:xfrm>
            <a:off x="822960" y="269748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200" b="0" i="0">
                <a:solidFill>
                  <a:srgbClr val="CBD5E1"/>
                </a:solidFill>
                <a:latin typeface="Calibri"/>
              </a:rPr>
              <a:t>A Technical &amp; Product Deep Dive</a:t>
            </a:r>
            <a:endParaRPr/>
          </a:p>
        </p:txBody>
      </p:sp>
      <p:sp>
        <p:nvSpPr>
          <p:cNvPr id="1758327977" name="Rectangle 9"/>
          <p:cNvSpPr/>
          <p:nvPr/>
        </p:nvSpPr>
        <p:spPr bwMode="auto">
          <a:xfrm>
            <a:off x="822960" y="3246120"/>
            <a:ext cx="100584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6316822" name="TextBox 10"/>
          <p:cNvSpPr txBox="1"/>
          <p:nvPr/>
        </p:nvSpPr>
        <p:spPr bwMode="auto">
          <a:xfrm>
            <a:off x="822960" y="34290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0" i="0">
                <a:solidFill>
                  <a:srgbClr val="64748B"/>
                </a:solidFill>
                <a:latin typeface="Calibri"/>
              </a:rPr>
              <a:t>OLK Engineering  ·  First developer meeting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50612" name="TextBox 1"/>
          <p:cNvSpPr txBox="1"/>
          <p:nvPr/>
        </p:nvSpPr>
        <p:spPr bwMode="auto"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14B8A6"/>
                </a:solidFill>
                <a:latin typeface="Calibri"/>
              </a:rPr>
              <a:t>ROUGHLY 45 MINUTES</a:t>
            </a:r>
            <a:endParaRPr/>
          </a:p>
        </p:txBody>
      </p:sp>
      <p:sp>
        <p:nvSpPr>
          <p:cNvPr id="1433847442" name="TextBox 2"/>
          <p:cNvSpPr txBox="1"/>
          <p:nvPr/>
        </p:nvSpPr>
        <p:spPr bwMode="auto"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000" b="1" i="0">
                <a:solidFill>
                  <a:srgbClr val="0F172A"/>
                </a:solidFill>
                <a:latin typeface="Calibri"/>
              </a:rPr>
              <a:t>Agenda</a:t>
            </a:r>
            <a:endParaRPr/>
          </a:p>
        </p:txBody>
      </p:sp>
      <p:sp>
        <p:nvSpPr>
          <p:cNvPr id="669000129" name="Rectangle 3"/>
          <p:cNvSpPr/>
          <p:nvPr/>
        </p:nvSpPr>
        <p:spPr bwMode="auto">
          <a:xfrm>
            <a:off x="548640" y="1207008"/>
            <a:ext cx="914400" cy="40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9711730" name="Rectangle 4"/>
          <p:cNvSpPr/>
          <p:nvPr/>
        </p:nvSpPr>
        <p:spPr bwMode="auto">
          <a:xfrm>
            <a:off x="548640" y="1554480"/>
            <a:ext cx="1106424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2773645" name="Oval 5"/>
          <p:cNvSpPr/>
          <p:nvPr/>
        </p:nvSpPr>
        <p:spPr bwMode="auto">
          <a:xfrm>
            <a:off x="640080" y="1664208"/>
            <a:ext cx="457200" cy="457200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1680000238" name="TextBox 6"/>
          <p:cNvSpPr txBox="1"/>
          <p:nvPr/>
        </p:nvSpPr>
        <p:spPr bwMode="auto">
          <a:xfrm>
            <a:off x="1325880" y="1627632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600" b="1" i="0">
                <a:solidFill>
                  <a:srgbClr val="0F172A"/>
                </a:solidFill>
                <a:latin typeface="Calibri"/>
              </a:rPr>
              <a:t>Why OLK exists</a:t>
            </a:r>
            <a:endParaRPr/>
          </a:p>
        </p:txBody>
      </p:sp>
      <p:sp>
        <p:nvSpPr>
          <p:cNvPr id="1423525482" name="TextBox 7"/>
          <p:cNvSpPr txBox="1"/>
          <p:nvPr/>
        </p:nvSpPr>
        <p:spPr bwMode="auto">
          <a:xfrm>
            <a:off x="1325880" y="1920240"/>
            <a:ext cx="74980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b="0" i="0">
                <a:solidFill>
                  <a:srgbClr val="64748B"/>
                </a:solidFill>
                <a:latin typeface="Calibri"/>
              </a:rPr>
              <a:t>Product &amp; the constraint that shapes everything</a:t>
            </a:r>
            <a:endParaRPr/>
          </a:p>
        </p:txBody>
      </p:sp>
      <p:sp>
        <p:nvSpPr>
          <p:cNvPr id="1696966638" name="TextBox 8"/>
          <p:cNvSpPr txBox="1"/>
          <p:nvPr/>
        </p:nvSpPr>
        <p:spPr bwMode="auto">
          <a:xfrm>
            <a:off x="10149840" y="1755648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b="1" i="0">
                <a:solidFill>
                  <a:srgbClr val="0D9488"/>
                </a:solidFill>
                <a:latin typeface="Calibri"/>
              </a:rPr>
              <a:t>5 min</a:t>
            </a:r>
            <a:endParaRPr/>
          </a:p>
        </p:txBody>
      </p:sp>
      <p:sp>
        <p:nvSpPr>
          <p:cNvPr id="859938482" name="Rectangle 9"/>
          <p:cNvSpPr/>
          <p:nvPr/>
        </p:nvSpPr>
        <p:spPr bwMode="auto">
          <a:xfrm>
            <a:off x="548640" y="2212848"/>
            <a:ext cx="11064240" cy="658368"/>
          </a:xfrm>
          <a:prstGeom prst="rect">
            <a:avLst/>
          </a:prstGeom>
          <a:solidFill>
            <a:srgbClr val="E6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4683554" name="Oval 10"/>
          <p:cNvSpPr/>
          <p:nvPr/>
        </p:nvSpPr>
        <p:spPr bwMode="auto">
          <a:xfrm>
            <a:off x="640080" y="2322576"/>
            <a:ext cx="457200" cy="457200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  <a:endParaRPr/>
          </a:p>
        </p:txBody>
      </p:sp>
      <p:sp>
        <p:nvSpPr>
          <p:cNvPr id="1276627436" name="TextBox 11"/>
          <p:cNvSpPr txBox="1"/>
          <p:nvPr/>
        </p:nvSpPr>
        <p:spPr bwMode="auto">
          <a:xfrm>
            <a:off x="1325880" y="228600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600" b="1" i="0">
                <a:solidFill>
                  <a:srgbClr val="0F172A"/>
                </a:solidFill>
                <a:latin typeface="Calibri"/>
              </a:rPr>
              <a:t>A tour of the platform</a:t>
            </a:r>
            <a:endParaRPr/>
          </a:p>
        </p:txBody>
      </p:sp>
      <p:sp>
        <p:nvSpPr>
          <p:cNvPr id="1254795529" name="TextBox 12"/>
          <p:cNvSpPr txBox="1"/>
          <p:nvPr/>
        </p:nvSpPr>
        <p:spPr bwMode="auto">
          <a:xfrm>
            <a:off x="1325880" y="2578608"/>
            <a:ext cx="74980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b="0" i="0">
                <a:solidFill>
                  <a:srgbClr val="64748B"/>
                </a:solidFill>
                <a:latin typeface="Calibri"/>
              </a:rPr>
              <a:t>What it does today, for the whole team</a:t>
            </a:r>
            <a:endParaRPr/>
          </a:p>
        </p:txBody>
      </p:sp>
      <p:sp>
        <p:nvSpPr>
          <p:cNvPr id="361362197" name="TextBox 13"/>
          <p:cNvSpPr txBox="1"/>
          <p:nvPr/>
        </p:nvSpPr>
        <p:spPr bwMode="auto">
          <a:xfrm>
            <a:off x="10149840" y="2414016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b="1" i="0">
                <a:solidFill>
                  <a:srgbClr val="0D9488"/>
                </a:solidFill>
                <a:latin typeface="Calibri"/>
              </a:rPr>
              <a:t>9 min</a:t>
            </a:r>
            <a:endParaRPr/>
          </a:p>
        </p:txBody>
      </p:sp>
      <p:sp>
        <p:nvSpPr>
          <p:cNvPr id="1309292941" name="Rectangle 14"/>
          <p:cNvSpPr/>
          <p:nvPr/>
        </p:nvSpPr>
        <p:spPr bwMode="auto">
          <a:xfrm>
            <a:off x="548640" y="2871216"/>
            <a:ext cx="1106424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790060" name="Oval 15"/>
          <p:cNvSpPr/>
          <p:nvPr/>
        </p:nvSpPr>
        <p:spPr bwMode="auto">
          <a:xfrm>
            <a:off x="640080" y="2980944"/>
            <a:ext cx="457200" cy="457200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  <a:endParaRPr/>
          </a:p>
        </p:txBody>
      </p:sp>
      <p:sp>
        <p:nvSpPr>
          <p:cNvPr id="1430068389" name="TextBox 16"/>
          <p:cNvSpPr txBox="1"/>
          <p:nvPr/>
        </p:nvSpPr>
        <p:spPr bwMode="auto">
          <a:xfrm>
            <a:off x="1325880" y="2944368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600" b="1" i="0">
                <a:solidFill>
                  <a:srgbClr val="0F172A"/>
                </a:solidFill>
                <a:latin typeface="Calibri"/>
              </a:rPr>
              <a:t>Tech stack at a glance</a:t>
            </a:r>
            <a:endParaRPr/>
          </a:p>
        </p:txBody>
      </p:sp>
      <p:sp>
        <p:nvSpPr>
          <p:cNvPr id="525685897" name="TextBox 17"/>
          <p:cNvSpPr txBox="1"/>
          <p:nvPr/>
        </p:nvSpPr>
        <p:spPr bwMode="auto">
          <a:xfrm>
            <a:off x="1325880" y="3236976"/>
            <a:ext cx="74980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b="0" i="0">
                <a:solidFill>
                  <a:srgbClr val="64748B"/>
                </a:solidFill>
                <a:latin typeface="Calibri"/>
              </a:rPr>
              <a:t>What it's built with, and why</a:t>
            </a:r>
            <a:endParaRPr/>
          </a:p>
        </p:txBody>
      </p:sp>
      <p:sp>
        <p:nvSpPr>
          <p:cNvPr id="448820927" name="TextBox 18"/>
          <p:cNvSpPr txBox="1"/>
          <p:nvPr/>
        </p:nvSpPr>
        <p:spPr bwMode="auto">
          <a:xfrm>
            <a:off x="10149840" y="3072384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b="1" i="0">
                <a:solidFill>
                  <a:srgbClr val="0D9488"/>
                </a:solidFill>
                <a:latin typeface="Calibri"/>
              </a:rPr>
              <a:t>5 min</a:t>
            </a:r>
            <a:endParaRPr/>
          </a:p>
        </p:txBody>
      </p:sp>
      <p:sp>
        <p:nvSpPr>
          <p:cNvPr id="808096524" name="Rectangle 19"/>
          <p:cNvSpPr/>
          <p:nvPr/>
        </p:nvSpPr>
        <p:spPr bwMode="auto">
          <a:xfrm>
            <a:off x="548640" y="3529584"/>
            <a:ext cx="11064240" cy="658368"/>
          </a:xfrm>
          <a:prstGeom prst="rect">
            <a:avLst/>
          </a:prstGeom>
          <a:solidFill>
            <a:srgbClr val="E6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3858696" name="Oval 20"/>
          <p:cNvSpPr/>
          <p:nvPr/>
        </p:nvSpPr>
        <p:spPr bwMode="auto">
          <a:xfrm>
            <a:off x="640080" y="3639312"/>
            <a:ext cx="457200" cy="457200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  <a:endParaRPr/>
          </a:p>
        </p:txBody>
      </p:sp>
      <p:sp>
        <p:nvSpPr>
          <p:cNvPr id="271071447" name="TextBox 21"/>
          <p:cNvSpPr txBox="1"/>
          <p:nvPr/>
        </p:nvSpPr>
        <p:spPr bwMode="auto">
          <a:xfrm>
            <a:off x="1325880" y="3602735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600" b="1" i="0">
                <a:solidFill>
                  <a:srgbClr val="0F172A"/>
                </a:solidFill>
                <a:latin typeface="Calibri"/>
              </a:rPr>
              <a:t>Under the hood</a:t>
            </a:r>
            <a:endParaRPr/>
          </a:p>
        </p:txBody>
      </p:sp>
      <p:sp>
        <p:nvSpPr>
          <p:cNvPr id="514457544" name="TextBox 22"/>
          <p:cNvSpPr txBox="1"/>
          <p:nvPr/>
        </p:nvSpPr>
        <p:spPr bwMode="auto">
          <a:xfrm>
            <a:off x="1325880" y="3895343"/>
            <a:ext cx="74980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b="0" i="0">
                <a:solidFill>
                  <a:srgbClr val="64748B"/>
                </a:solidFill>
                <a:latin typeface="Calibri"/>
              </a:rPr>
              <a:t>Architecture, database, security, GPS, deploy</a:t>
            </a:r>
            <a:endParaRPr/>
          </a:p>
        </p:txBody>
      </p:sp>
      <p:sp>
        <p:nvSpPr>
          <p:cNvPr id="1215193393" name="TextBox 23"/>
          <p:cNvSpPr txBox="1"/>
          <p:nvPr/>
        </p:nvSpPr>
        <p:spPr bwMode="auto">
          <a:xfrm>
            <a:off x="10149840" y="3730752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b="1" i="0">
                <a:solidFill>
                  <a:srgbClr val="0D9488"/>
                </a:solidFill>
                <a:latin typeface="Calibri"/>
              </a:rPr>
              <a:t>18 min</a:t>
            </a:r>
            <a:endParaRPr/>
          </a:p>
        </p:txBody>
      </p:sp>
      <p:sp>
        <p:nvSpPr>
          <p:cNvPr id="1870203177" name="Rectangle 24"/>
          <p:cNvSpPr/>
          <p:nvPr/>
        </p:nvSpPr>
        <p:spPr bwMode="auto">
          <a:xfrm>
            <a:off x="548640" y="4187952"/>
            <a:ext cx="1106424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9190572" name="Oval 25"/>
          <p:cNvSpPr/>
          <p:nvPr/>
        </p:nvSpPr>
        <p:spPr bwMode="auto">
          <a:xfrm>
            <a:off x="640080" y="4297680"/>
            <a:ext cx="457200" cy="457200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  <a:endParaRPr/>
          </a:p>
        </p:txBody>
      </p:sp>
      <p:sp>
        <p:nvSpPr>
          <p:cNvPr id="829271221" name="TextBox 26"/>
          <p:cNvSpPr txBox="1"/>
          <p:nvPr/>
        </p:nvSpPr>
        <p:spPr bwMode="auto">
          <a:xfrm>
            <a:off x="1325880" y="4261104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600" b="1" i="0">
                <a:solidFill>
                  <a:srgbClr val="0F172A"/>
                </a:solidFill>
                <a:latin typeface="Calibri"/>
              </a:rPr>
              <a:t>The road ahead</a:t>
            </a:r>
            <a:endParaRPr/>
          </a:p>
        </p:txBody>
      </p:sp>
      <p:sp>
        <p:nvSpPr>
          <p:cNvPr id="397354634" name="TextBox 27"/>
          <p:cNvSpPr txBox="1"/>
          <p:nvPr/>
        </p:nvSpPr>
        <p:spPr bwMode="auto">
          <a:xfrm>
            <a:off x="1325880" y="4553712"/>
            <a:ext cx="74980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b="0" i="0">
                <a:solidFill>
                  <a:srgbClr val="64748B"/>
                </a:solidFill>
                <a:latin typeface="Calibri"/>
              </a:rPr>
              <a:t>Mobile, self-hosting, and scaling responsibly</a:t>
            </a:r>
            <a:endParaRPr/>
          </a:p>
        </p:txBody>
      </p:sp>
      <p:sp>
        <p:nvSpPr>
          <p:cNvPr id="537096344" name="TextBox 28"/>
          <p:cNvSpPr txBox="1"/>
          <p:nvPr/>
        </p:nvSpPr>
        <p:spPr bwMode="auto">
          <a:xfrm>
            <a:off x="10149840" y="438912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b="1" i="0">
                <a:solidFill>
                  <a:srgbClr val="0D9488"/>
                </a:solidFill>
                <a:latin typeface="Calibri"/>
              </a:rPr>
              <a:t>7 min</a:t>
            </a:r>
            <a:endParaRPr/>
          </a:p>
        </p:txBody>
      </p:sp>
      <p:sp>
        <p:nvSpPr>
          <p:cNvPr id="854567443" name="Rectangle 29"/>
          <p:cNvSpPr/>
          <p:nvPr/>
        </p:nvSpPr>
        <p:spPr bwMode="auto">
          <a:xfrm>
            <a:off x="548640" y="4846320"/>
            <a:ext cx="11064240" cy="658368"/>
          </a:xfrm>
          <a:prstGeom prst="rect">
            <a:avLst/>
          </a:prstGeom>
          <a:solidFill>
            <a:srgbClr val="E6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2094477" name="Oval 30"/>
          <p:cNvSpPr/>
          <p:nvPr/>
        </p:nvSpPr>
        <p:spPr bwMode="auto">
          <a:xfrm>
            <a:off x="640080" y="4956048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  <a:endParaRPr/>
          </a:p>
        </p:txBody>
      </p:sp>
      <p:sp>
        <p:nvSpPr>
          <p:cNvPr id="1935197241" name="TextBox 31"/>
          <p:cNvSpPr txBox="1"/>
          <p:nvPr/>
        </p:nvSpPr>
        <p:spPr bwMode="auto">
          <a:xfrm>
            <a:off x="1325880" y="4919471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600" b="1" i="0">
                <a:solidFill>
                  <a:srgbClr val="0F172A"/>
                </a:solidFill>
                <a:latin typeface="Calibri"/>
              </a:rPr>
              <a:t>Discussion</a:t>
            </a:r>
            <a:endParaRPr/>
          </a:p>
        </p:txBody>
      </p:sp>
      <p:sp>
        <p:nvSpPr>
          <p:cNvPr id="376138266" name="TextBox 32"/>
          <p:cNvSpPr txBox="1"/>
          <p:nvPr/>
        </p:nvSpPr>
        <p:spPr bwMode="auto">
          <a:xfrm>
            <a:off x="1325880" y="5212080"/>
            <a:ext cx="74980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b="0" i="0">
                <a:solidFill>
                  <a:srgbClr val="64748B"/>
                </a:solidFill>
                <a:latin typeface="Calibri"/>
              </a:rPr>
              <a:t>Questions</a:t>
            </a:r>
            <a:endParaRPr/>
          </a:p>
        </p:txBody>
      </p:sp>
      <p:sp>
        <p:nvSpPr>
          <p:cNvPr id="425934858" name="TextBox 33"/>
          <p:cNvSpPr txBox="1"/>
          <p:nvPr/>
        </p:nvSpPr>
        <p:spPr bwMode="auto">
          <a:xfrm>
            <a:off x="10149840" y="5047488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b="1" i="0">
                <a:solidFill>
                  <a:srgbClr val="0D9488"/>
                </a:solidFill>
                <a:latin typeface="Calibri"/>
              </a:rPr>
              <a:t>1 min</a:t>
            </a:r>
            <a:endParaRPr/>
          </a:p>
        </p:txBody>
      </p:sp>
      <p:sp>
        <p:nvSpPr>
          <p:cNvPr id="1765460343" name="Rounded Rectangle 34"/>
          <p:cNvSpPr/>
          <p:nvPr/>
        </p:nvSpPr>
        <p:spPr bwMode="auto">
          <a:xfrm>
            <a:off x="548640" y="5779008"/>
            <a:ext cx="11064240" cy="685800"/>
          </a:xfrm>
          <a:prstGeom prst="roundRect">
            <a:avLst>
              <a:gd name="adj" fmla="val 4500"/>
            </a:avLst>
          </a:prstGeom>
          <a:solidFill>
            <a:srgbClr val="E6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42014904" name="Rectangle 35"/>
          <p:cNvSpPr/>
          <p:nvPr/>
        </p:nvSpPr>
        <p:spPr bwMode="auto">
          <a:xfrm>
            <a:off x="548640" y="5779008"/>
            <a:ext cx="50800" cy="685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5480724" name="TextBox 36"/>
          <p:cNvSpPr txBox="1"/>
          <p:nvPr/>
        </p:nvSpPr>
        <p:spPr bwMode="auto">
          <a:xfrm>
            <a:off x="749808" y="5888736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50" b="1" i="0">
                <a:solidFill>
                  <a:srgbClr val="0D9488"/>
                </a:solidFill>
                <a:latin typeface="Calibri"/>
              </a:rPr>
              <a:t>ONE HONEST NOTE BEFORE WE START</a:t>
            </a:r>
            <a:endParaRPr/>
          </a:p>
        </p:txBody>
      </p:sp>
      <p:sp>
        <p:nvSpPr>
          <p:cNvPr id="769523977" name="TextBox 37"/>
          <p:cNvSpPr txBox="1"/>
          <p:nvPr/>
        </p:nvSpPr>
        <p:spPr bwMode="auto">
          <a:xfrm>
            <a:off x="749808" y="6181344"/>
            <a:ext cx="106801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defRPr/>
            </a:pPr>
            <a:r>
              <a:rPr sz="1300" b="0" i="0">
                <a:solidFill>
                  <a:srgbClr val="0F172A"/>
                </a:solidFill>
                <a:latin typeface="Calibri"/>
              </a:rPr>
              <a:t>This deck is a companion to the full 23-chapter technical manual at Guide/main.pdf — everything here traces back to a chapter there.</a:t>
            </a:r>
            <a:endParaRPr/>
          </a:p>
        </p:txBody>
      </p:sp>
      <p:sp>
        <p:nvSpPr>
          <p:cNvPr id="1571384999" name="TextBox 38"/>
          <p:cNvSpPr txBox="1"/>
          <p:nvPr/>
        </p:nvSpPr>
        <p:spPr bwMode="auto"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OLK — Open Library Kashmir</a:t>
            </a:r>
            <a:endParaRPr/>
          </a:p>
        </p:txBody>
      </p:sp>
      <p:sp>
        <p:nvSpPr>
          <p:cNvPr id="1447292692" name="TextBox 39"/>
          <p:cNvSpPr txBox="1"/>
          <p:nvPr/>
        </p:nvSpPr>
        <p:spPr bwMode="auto">
          <a:xfrm>
            <a:off x="8686800" y="6528816"/>
            <a:ext cx="2926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Agenda   ·   1 / 37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>
            <a:alpha val="99999"/>
          </a:srgb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431498" name="Rectangle 1"/>
          <p:cNvSpPr/>
          <p:nvPr/>
        </p:nvSpPr>
        <p:spPr bwMode="auto">
          <a:xfrm>
            <a:off x="0" y="3931920"/>
            <a:ext cx="12191695" cy="29260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45410325" name="Freeform 2"/>
          <p:cNvSpPr/>
          <p:nvPr/>
        </p:nvSpPr>
        <p:spPr bwMode="auto">
          <a:xfrm>
            <a:off x="0" y="4517136"/>
            <a:ext cx="12191695" cy="2340864"/>
          </a:xfrm>
          <a:custGeom>
            <a:avLst/>
            <a:gdLst/>
            <a:ahLst/>
            <a:cxnLst/>
            <a:rect l="l" t="t" r="r" b="b"/>
            <a:pathLst>
              <a:path w="12191695" h="2340864" fill="norm" stroke="1" extrusionOk="0">
                <a:moveTo>
                  <a:pt x="0" y="2340864"/>
                </a:moveTo>
                <a:lnTo>
                  <a:pt x="0" y="1024128"/>
                </a:lnTo>
                <a:lnTo>
                  <a:pt x="1706837" y="292608"/>
                </a:lnTo>
                <a:lnTo>
                  <a:pt x="3291758" y="877824"/>
                </a:lnTo>
                <a:lnTo>
                  <a:pt x="5120512" y="58522"/>
                </a:lnTo>
                <a:lnTo>
                  <a:pt x="7071183" y="819302"/>
                </a:lnTo>
                <a:lnTo>
                  <a:pt x="9021854" y="0"/>
                </a:lnTo>
                <a:lnTo>
                  <a:pt x="10972526" y="760781"/>
                </a:lnTo>
                <a:lnTo>
                  <a:pt x="12191695" y="234086"/>
                </a:lnTo>
                <a:lnTo>
                  <a:pt x="12191695" y="2340864"/>
                </a:lnTo>
                <a:lnTo>
                  <a:pt x="0" y="2340864"/>
                </a:lnTo>
                <a:close/>
              </a:path>
            </a:pathLst>
          </a:cu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9396529" name="Freeform 3"/>
          <p:cNvSpPr/>
          <p:nvPr/>
        </p:nvSpPr>
        <p:spPr bwMode="auto">
          <a:xfrm>
            <a:off x="0" y="5219395"/>
            <a:ext cx="12191695" cy="1638605"/>
          </a:xfrm>
          <a:custGeom>
            <a:avLst/>
            <a:gdLst/>
            <a:ahLst/>
            <a:cxnLst/>
            <a:rect l="l" t="t" r="r" b="b"/>
            <a:pathLst>
              <a:path w="12191695" h="1638605" fill="norm" stroke="1" extrusionOk="0">
                <a:moveTo>
                  <a:pt x="0" y="1638605"/>
                </a:moveTo>
                <a:lnTo>
                  <a:pt x="0" y="907085"/>
                </a:lnTo>
                <a:lnTo>
                  <a:pt x="1219170" y="234087"/>
                </a:lnTo>
                <a:lnTo>
                  <a:pt x="2682173" y="702259"/>
                </a:lnTo>
                <a:lnTo>
                  <a:pt x="4389010" y="58522"/>
                </a:lnTo>
                <a:lnTo>
                  <a:pt x="6095848" y="760781"/>
                </a:lnTo>
                <a:lnTo>
                  <a:pt x="7802685" y="0"/>
                </a:lnTo>
                <a:lnTo>
                  <a:pt x="9509522" y="760781"/>
                </a:lnTo>
                <a:lnTo>
                  <a:pt x="11216359" y="117043"/>
                </a:lnTo>
                <a:lnTo>
                  <a:pt x="12191695" y="526695"/>
                </a:lnTo>
                <a:lnTo>
                  <a:pt x="12191695" y="1638605"/>
                </a:lnTo>
                <a:lnTo>
                  <a:pt x="0" y="1638605"/>
                </a:lnTo>
                <a:close/>
              </a:path>
            </a:pathLst>
          </a:cu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0065873" name="Oval 4"/>
          <p:cNvSpPr/>
          <p:nvPr/>
        </p:nvSpPr>
        <p:spPr bwMode="auto">
          <a:xfrm>
            <a:off x="1950671" y="4458614"/>
            <a:ext cx="310896" cy="310896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4171557" name="Rectangle 5"/>
          <p:cNvSpPr/>
          <p:nvPr/>
        </p:nvSpPr>
        <p:spPr bwMode="auto">
          <a:xfrm>
            <a:off x="0" y="5160873"/>
            <a:ext cx="12191695" cy="330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3373115" name="TextBox 6"/>
          <p:cNvSpPr txBox="1"/>
          <p:nvPr/>
        </p:nvSpPr>
        <p:spPr bwMode="auto">
          <a:xfrm>
            <a:off x="822960" y="9144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500" b="1" i="0">
                <a:solidFill>
                  <a:srgbClr val="2DD4BF"/>
                </a:solidFill>
                <a:latin typeface="Calibri"/>
              </a:rPr>
              <a:t>PART 1 / 5</a:t>
            </a:r>
            <a:endParaRPr/>
          </a:p>
        </p:txBody>
      </p:sp>
      <p:sp>
        <p:nvSpPr>
          <p:cNvPr id="423960233" name="TextBox 7"/>
          <p:cNvSpPr txBox="1"/>
          <p:nvPr/>
        </p:nvSpPr>
        <p:spPr bwMode="auto">
          <a:xfrm>
            <a:off x="777240" y="137160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4400" b="1" i="0">
                <a:solidFill>
                  <a:srgbClr val="FFFFFF"/>
                </a:solidFill>
                <a:latin typeface="Calibri"/>
              </a:rPr>
              <a:t>Why OLK Exists</a:t>
            </a:r>
            <a:endParaRPr/>
          </a:p>
        </p:txBody>
      </p:sp>
      <p:sp>
        <p:nvSpPr>
          <p:cNvPr id="1326941202" name="TextBox 8"/>
          <p:cNvSpPr txBox="1"/>
          <p:nvPr/>
        </p:nvSpPr>
        <p:spPr bwMode="auto">
          <a:xfrm>
            <a:off x="822960" y="251460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b="0" i="0">
                <a:solidFill>
                  <a:srgbClr val="CBD5E1"/>
                </a:solidFill>
                <a:latin typeface="Calibri"/>
              </a:rPr>
              <a:t>The product decision that explains everything else in this deck.</a:t>
            </a:r>
            <a:endParaRPr/>
          </a:p>
        </p:txBody>
      </p:sp>
      <p:sp>
        <p:nvSpPr>
          <p:cNvPr id="678729364" name="Oval 9"/>
          <p:cNvSpPr/>
          <p:nvPr/>
        </p:nvSpPr>
        <p:spPr bwMode="auto">
          <a:xfrm>
            <a:off x="822960" y="3246120"/>
            <a:ext cx="182880" cy="18288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0007386" name="Oval 10"/>
          <p:cNvSpPr/>
          <p:nvPr/>
        </p:nvSpPr>
        <p:spPr bwMode="auto">
          <a:xfrm>
            <a:off x="1115568" y="3246120"/>
            <a:ext cx="182880" cy="182880"/>
          </a:xfrm>
          <a:prstGeom prst="ellipse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52211535" name="Oval 11"/>
          <p:cNvSpPr/>
          <p:nvPr/>
        </p:nvSpPr>
        <p:spPr bwMode="auto">
          <a:xfrm>
            <a:off x="1408176" y="3246120"/>
            <a:ext cx="182880" cy="182880"/>
          </a:xfrm>
          <a:prstGeom prst="ellipse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9697664" name="Oval 12"/>
          <p:cNvSpPr/>
          <p:nvPr/>
        </p:nvSpPr>
        <p:spPr bwMode="auto">
          <a:xfrm>
            <a:off x="1700784" y="3246120"/>
            <a:ext cx="182880" cy="182880"/>
          </a:xfrm>
          <a:prstGeom prst="ellipse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8507331" name="Oval 13"/>
          <p:cNvSpPr/>
          <p:nvPr/>
        </p:nvSpPr>
        <p:spPr bwMode="auto">
          <a:xfrm>
            <a:off x="1993392" y="3246120"/>
            <a:ext cx="182880" cy="182880"/>
          </a:xfrm>
          <a:prstGeom prst="ellipse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1464605" name="TextBox 1"/>
          <p:cNvSpPr txBox="1"/>
          <p:nvPr/>
        </p:nvSpPr>
        <p:spPr bwMode="auto"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14B8A6"/>
                </a:solidFill>
                <a:latin typeface="Calibri"/>
              </a:rPr>
              <a:t>WHY OLK EXISTS</a:t>
            </a:r>
            <a:endParaRPr/>
          </a:p>
        </p:txBody>
      </p:sp>
      <p:sp>
        <p:nvSpPr>
          <p:cNvPr id="1679942949" name="TextBox 2"/>
          <p:cNvSpPr txBox="1"/>
          <p:nvPr/>
        </p:nvSpPr>
        <p:spPr bwMode="auto"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000" b="1" i="0">
                <a:solidFill>
                  <a:srgbClr val="0F172A"/>
                </a:solidFill>
                <a:latin typeface="Calibri"/>
              </a:rPr>
              <a:t>What is OLK?</a:t>
            </a:r>
            <a:endParaRPr/>
          </a:p>
        </p:txBody>
      </p:sp>
      <p:sp>
        <p:nvSpPr>
          <p:cNvPr id="1503175579" name="Rectangle 3"/>
          <p:cNvSpPr/>
          <p:nvPr/>
        </p:nvSpPr>
        <p:spPr bwMode="auto">
          <a:xfrm>
            <a:off x="548640" y="1207008"/>
            <a:ext cx="914400" cy="40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7938186" name="TextBox 4"/>
          <p:cNvSpPr txBox="1"/>
          <p:nvPr/>
        </p:nvSpPr>
        <p:spPr bwMode="auto">
          <a:xfrm>
            <a:off x="548640" y="141732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700" b="0" i="0">
                <a:solidFill>
                  <a:srgbClr val="0F172A"/>
                </a:solidFill>
                <a:latin typeface="Calibri"/>
              </a:rPr>
              <a:t>Open Library Kashmir is a community book-sharing platform for readers in the Kashmir valley.</a:t>
            </a:r>
            <a:endParaRPr/>
          </a:p>
        </p:txBody>
      </p:sp>
      <p:sp>
        <p:nvSpPr>
          <p:cNvPr id="973920961" name="Rounded Rectangle 5"/>
          <p:cNvSpPr/>
          <p:nvPr/>
        </p:nvSpPr>
        <p:spPr bwMode="auto">
          <a:xfrm>
            <a:off x="822960" y="2286000"/>
            <a:ext cx="2834640" cy="1051560"/>
          </a:xfrm>
          <a:prstGeom prst="roundRect">
            <a:avLst>
              <a:gd name="adj" fmla="val 12000"/>
            </a:avLst>
          </a:prstGeom>
          <a:solidFill>
            <a:srgbClr val="E6FBF8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>
              <a:defRPr/>
            </a:pPr>
            <a:r>
              <a:rPr sz="1400" b="1" i="0">
                <a:solidFill>
                  <a:srgbClr val="0F172A"/>
                </a:solidFill>
                <a:latin typeface="Calibri"/>
              </a:rPr>
              <a:t>List a book</a:t>
            </a:r>
            <a:br>
              <a:rPr sz="1400" b="1" i="0">
                <a:solidFill>
                  <a:srgbClr val="0F172A"/>
                </a:solidFill>
                <a:latin typeface="Calibri"/>
              </a:rPr>
            </a:br>
            <a:r>
              <a:rPr sz="1400" b="1" i="0">
                <a:solidFill>
                  <a:srgbClr val="0F172A"/>
                </a:solidFill>
                <a:latin typeface="Calibri"/>
              </a:rPr>
              <a:t>to lend or donate</a:t>
            </a:r>
            <a:endParaRPr/>
          </a:p>
        </p:txBody>
      </p:sp>
      <p:cxnSp>
        <p:nvCxnSpPr>
          <p:cNvPr id="2146168245" name="Connector 6"/>
          <p:cNvCxnSpPr/>
          <p:nvPr/>
        </p:nvCxnSpPr>
        <p:spPr bwMode="auto">
          <a:xfrm>
            <a:off x="3657600" y="2811780"/>
            <a:ext cx="502920" cy="0"/>
          </a:xfrm>
          <a:prstGeom prst="line">
            <a:avLst/>
          </a:prstGeom>
          <a:ln w="22225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8611539" name="Rounded Rectangle 7"/>
          <p:cNvSpPr/>
          <p:nvPr/>
        </p:nvSpPr>
        <p:spPr bwMode="auto">
          <a:xfrm>
            <a:off x="4160519" y="2286000"/>
            <a:ext cx="2834640" cy="1051560"/>
          </a:xfrm>
          <a:prstGeom prst="roundRect">
            <a:avLst>
              <a:gd name="adj" fmla="val 12000"/>
            </a:avLst>
          </a:prstGeom>
          <a:solidFill>
            <a:srgbClr val="E6FBF8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>
              <a:defRPr/>
            </a:pPr>
            <a:r>
              <a:rPr sz="1400" b="1" i="0">
                <a:solidFill>
                  <a:srgbClr val="0F172A"/>
                </a:solidFill>
                <a:latin typeface="Calibri"/>
              </a:rPr>
              <a:t>A neighbour</a:t>
            </a:r>
            <a:br>
              <a:rPr sz="1400" b="1" i="0">
                <a:solidFill>
                  <a:srgbClr val="0F172A"/>
                </a:solidFill>
                <a:latin typeface="Calibri"/>
              </a:rPr>
            </a:br>
            <a:r>
              <a:rPr sz="1400" b="1" i="0">
                <a:solidFill>
                  <a:srgbClr val="0F172A"/>
                </a:solidFill>
                <a:latin typeface="Calibri"/>
              </a:rPr>
              <a:t>finds it nearby</a:t>
            </a:r>
            <a:endParaRPr/>
          </a:p>
        </p:txBody>
      </p:sp>
      <p:cxnSp>
        <p:nvCxnSpPr>
          <p:cNvPr id="600341919" name="Connector 8"/>
          <p:cNvCxnSpPr/>
          <p:nvPr/>
        </p:nvCxnSpPr>
        <p:spPr bwMode="auto">
          <a:xfrm>
            <a:off x="6995160" y="2811780"/>
            <a:ext cx="502920" cy="0"/>
          </a:xfrm>
          <a:prstGeom prst="line">
            <a:avLst/>
          </a:prstGeom>
          <a:ln w="22225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8047264" name="Rounded Rectangle 9"/>
          <p:cNvSpPr/>
          <p:nvPr/>
        </p:nvSpPr>
        <p:spPr bwMode="auto">
          <a:xfrm>
            <a:off x="7498080" y="2286000"/>
            <a:ext cx="2834640" cy="1051560"/>
          </a:xfrm>
          <a:prstGeom prst="roundRect">
            <a:avLst>
              <a:gd name="adj" fmla="val 12000"/>
            </a:avLst>
          </a:prstGeom>
          <a:solidFill>
            <a:srgbClr val="E6FBF8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>
              <a:defRPr/>
            </a:pPr>
            <a:r>
              <a:rPr sz="1400" b="1" i="0">
                <a:solidFill>
                  <a:srgbClr val="0F172A"/>
                </a:solidFill>
                <a:latin typeface="Calibri"/>
              </a:rPr>
              <a:t>They arrange</a:t>
            </a:r>
            <a:br>
              <a:rPr sz="1400" b="1" i="0">
                <a:solidFill>
                  <a:srgbClr val="0F172A"/>
                </a:solidFill>
                <a:latin typeface="Calibri"/>
              </a:rPr>
            </a:br>
            <a:r>
              <a:rPr sz="1400" b="1" i="0">
                <a:solidFill>
                  <a:srgbClr val="0F172A"/>
                </a:solidFill>
                <a:latin typeface="Calibri"/>
              </a:rPr>
              <a:t>an in-person handover</a:t>
            </a:r>
            <a:endParaRPr/>
          </a:p>
        </p:txBody>
      </p:sp>
      <p:sp>
        <p:nvSpPr>
          <p:cNvPr id="1778651123" name="Rounded Rectangle 10"/>
          <p:cNvSpPr/>
          <p:nvPr/>
        </p:nvSpPr>
        <p:spPr bwMode="auto">
          <a:xfrm>
            <a:off x="822960" y="3794760"/>
            <a:ext cx="10241280" cy="91440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5164882" name="Rectangle 11"/>
          <p:cNvSpPr/>
          <p:nvPr/>
        </p:nvSpPr>
        <p:spPr bwMode="auto">
          <a:xfrm>
            <a:off x="822960" y="3794760"/>
            <a:ext cx="50800" cy="9144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11792848" name="TextBox 12"/>
          <p:cNvSpPr txBox="1"/>
          <p:nvPr/>
        </p:nvSpPr>
        <p:spPr bwMode="auto">
          <a:xfrm>
            <a:off x="1024128" y="3904488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50" b="1" i="0">
                <a:solidFill>
                  <a:srgbClr val="FFFFFF"/>
                </a:solidFill>
                <a:latin typeface="Calibri"/>
              </a:rPr>
              <a:t>NO SHIPPING. NO WAREHOUSES. NO PAYMENTS.</a:t>
            </a:r>
            <a:endParaRPr/>
          </a:p>
        </p:txBody>
      </p:sp>
      <p:sp>
        <p:nvSpPr>
          <p:cNvPr id="1868236483" name="TextBox 13"/>
          <p:cNvSpPr txBox="1"/>
          <p:nvPr/>
        </p:nvSpPr>
        <p:spPr bwMode="auto">
          <a:xfrm>
            <a:off x="1024128" y="4197096"/>
            <a:ext cx="985723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defRPr/>
            </a:pPr>
            <a:r>
              <a:rPr sz="1500" b="0" i="0">
                <a:solidFill>
                  <a:srgbClr val="FFFFFF"/>
                </a:solidFill>
                <a:latin typeface="Calibri"/>
              </a:rPr>
              <a:t>The entire transaction is a conversation between two neighbours and a walk to a bus stop.</a:t>
            </a:r>
            <a:endParaRPr/>
          </a:p>
        </p:txBody>
      </p:sp>
      <p:sp>
        <p:nvSpPr>
          <p:cNvPr id="1683382631" name="TextBox 14"/>
          <p:cNvSpPr txBox="1"/>
          <p:nvPr/>
        </p:nvSpPr>
        <p:spPr bwMode="auto">
          <a:xfrm>
            <a:off x="822960" y="4892039"/>
            <a:ext cx="102412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4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Lend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 — the owner gets the book back when the reader is done.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4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Donate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 — ownership transfers permanently, and it can never quietly become a private copy again.</a:t>
            </a:r>
            <a:endParaRPr/>
          </a:p>
        </p:txBody>
      </p:sp>
      <p:sp>
        <p:nvSpPr>
          <p:cNvPr id="2023227377" name="TextBox 15"/>
          <p:cNvSpPr txBox="1"/>
          <p:nvPr/>
        </p:nvSpPr>
        <p:spPr bwMode="auto"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OLK — Open Library Kashmir</a:t>
            </a:r>
            <a:endParaRPr/>
          </a:p>
        </p:txBody>
      </p:sp>
      <p:sp>
        <p:nvSpPr>
          <p:cNvPr id="473149185" name="TextBox 16"/>
          <p:cNvSpPr txBox="1"/>
          <p:nvPr/>
        </p:nvSpPr>
        <p:spPr bwMode="auto">
          <a:xfrm>
            <a:off x="8686800" y="6528816"/>
            <a:ext cx="2926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Why OLK Exists   ·   2 / 37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2593315" name="TextBox 1"/>
          <p:cNvSpPr txBox="1"/>
          <p:nvPr/>
        </p:nvSpPr>
        <p:spPr bwMode="auto"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14B8A6"/>
                </a:solidFill>
                <a:latin typeface="Calibri"/>
              </a:rPr>
              <a:t>WHY OLK EXISTS</a:t>
            </a:r>
            <a:endParaRPr/>
          </a:p>
        </p:txBody>
      </p:sp>
      <p:sp>
        <p:nvSpPr>
          <p:cNvPr id="1206224561" name="TextBox 2"/>
          <p:cNvSpPr txBox="1"/>
          <p:nvPr/>
        </p:nvSpPr>
        <p:spPr bwMode="auto"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000" b="1" i="0">
                <a:solidFill>
                  <a:srgbClr val="0F172A"/>
                </a:solidFill>
                <a:latin typeface="Calibri"/>
              </a:rPr>
              <a:t>The one design decision that explains everything else</a:t>
            </a:r>
            <a:endParaRPr/>
          </a:p>
        </p:txBody>
      </p:sp>
      <p:sp>
        <p:nvSpPr>
          <p:cNvPr id="1398199162" name="Rectangle 3"/>
          <p:cNvSpPr/>
          <p:nvPr/>
        </p:nvSpPr>
        <p:spPr bwMode="auto">
          <a:xfrm>
            <a:off x="548640" y="1207008"/>
            <a:ext cx="914400" cy="40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43242434" name="Rounded Rectangle 4"/>
          <p:cNvSpPr/>
          <p:nvPr/>
        </p:nvSpPr>
        <p:spPr bwMode="auto">
          <a:xfrm>
            <a:off x="548640" y="1417320"/>
            <a:ext cx="11064240" cy="86868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9074616" name="Rectangle 5"/>
          <p:cNvSpPr/>
          <p:nvPr/>
        </p:nvSpPr>
        <p:spPr bwMode="auto">
          <a:xfrm>
            <a:off x="548640" y="1417320"/>
            <a:ext cx="50800" cy="8686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1940979" name="TextBox 6"/>
          <p:cNvSpPr txBox="1"/>
          <p:nvPr/>
        </p:nvSpPr>
        <p:spPr bwMode="auto">
          <a:xfrm>
            <a:off x="749808" y="1527048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50" b="1" i="0">
                <a:solidFill>
                  <a:srgbClr val="FFFFFF"/>
                </a:solidFill>
                <a:latin typeface="Calibri"/>
              </a:rPr>
              <a:t>EVERYTHING HAPPENS IN PERSON, WITHIN WALKING OR SHORT-COMMUTE DISTANCE.</a:t>
            </a:r>
            <a:endParaRPr/>
          </a:p>
        </p:txBody>
      </p:sp>
      <p:sp>
        <p:nvSpPr>
          <p:cNvPr id="911612235" name="TextBox 7"/>
          <p:cNvSpPr txBox="1"/>
          <p:nvPr/>
        </p:nvSpPr>
        <p:spPr bwMode="auto">
          <a:xfrm>
            <a:off x="749808" y="1819656"/>
            <a:ext cx="106801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defRPr/>
            </a:pPr>
            <a:r>
              <a:rPr sz="1500" b="0" i="0">
                <a:solidFill>
                  <a:srgbClr val="FFFFFF"/>
                </a:solidFill>
                <a:latin typeface="Calibri"/>
              </a:rPr>
              <a:t>That is not a missing feature — it is the product decision.</a:t>
            </a:r>
            <a:endParaRPr/>
          </a:p>
        </p:txBody>
      </p:sp>
      <p:sp>
        <p:nvSpPr>
          <p:cNvPr id="1945771588" name="Rounded Rectangle 8"/>
          <p:cNvSpPr/>
          <p:nvPr/>
        </p:nvSpPr>
        <p:spPr bwMode="auto">
          <a:xfrm>
            <a:off x="548640" y="2606040"/>
            <a:ext cx="5349240" cy="1600200"/>
          </a:xfrm>
          <a:prstGeom prst="roundRect">
            <a:avLst>
              <a:gd name="adj" fmla="val 6000"/>
            </a:avLst>
          </a:prstGeom>
          <a:solidFill>
            <a:srgbClr val="E6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5105467" name="Rectangle 9"/>
          <p:cNvSpPr/>
          <p:nvPr/>
        </p:nvSpPr>
        <p:spPr bwMode="auto">
          <a:xfrm>
            <a:off x="548640" y="2606040"/>
            <a:ext cx="73152" cy="1600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3557802" name="Oval 10"/>
          <p:cNvSpPr/>
          <p:nvPr/>
        </p:nvSpPr>
        <p:spPr bwMode="auto">
          <a:xfrm>
            <a:off x="777240" y="283464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869835898" name="TextBox 11"/>
          <p:cNvSpPr txBox="1"/>
          <p:nvPr/>
        </p:nvSpPr>
        <p:spPr bwMode="auto">
          <a:xfrm>
            <a:off x="1463040" y="2807208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500" b="1" i="0">
                <a:solidFill>
                  <a:srgbClr val="0F172A"/>
                </a:solidFill>
                <a:latin typeface="Calibri"/>
              </a:rPr>
              <a:t>Location on every listing</a:t>
            </a:r>
            <a:endParaRPr/>
          </a:p>
        </p:txBody>
      </p:sp>
      <p:sp>
        <p:nvSpPr>
          <p:cNvPr id="393480206" name="TextBox 12"/>
          <p:cNvSpPr txBox="1"/>
          <p:nvPr/>
        </p:nvSpPr>
        <p:spPr bwMode="auto">
          <a:xfrm>
            <a:off x="1463040" y="3200400"/>
            <a:ext cx="42519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1250" b="0" i="0">
                <a:solidFill>
                  <a:srgbClr val="1E293B"/>
                </a:solidFill>
                <a:latin typeface="Calibri"/>
              </a:rPr>
              <a:t>Every book and every club carries a latitude/longitude and a plain-language area name.</a:t>
            </a:r>
            <a:endParaRPr/>
          </a:p>
        </p:txBody>
      </p:sp>
      <p:sp>
        <p:nvSpPr>
          <p:cNvPr id="2013490211" name="Rounded Rectangle 13"/>
          <p:cNvSpPr/>
          <p:nvPr/>
        </p:nvSpPr>
        <p:spPr bwMode="auto">
          <a:xfrm>
            <a:off x="6263640" y="2606040"/>
            <a:ext cx="5349240" cy="1600200"/>
          </a:xfrm>
          <a:prstGeom prst="roundRect">
            <a:avLst>
              <a:gd name="adj" fmla="val 6000"/>
            </a:avLst>
          </a:prstGeom>
          <a:solidFill>
            <a:srgbClr val="E6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2554954" name="Rectangle 14"/>
          <p:cNvSpPr/>
          <p:nvPr/>
        </p:nvSpPr>
        <p:spPr bwMode="auto">
          <a:xfrm>
            <a:off x="6263640" y="2606040"/>
            <a:ext cx="73152" cy="1600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8675574" name="Oval 15"/>
          <p:cNvSpPr/>
          <p:nvPr/>
        </p:nvSpPr>
        <p:spPr bwMode="auto">
          <a:xfrm>
            <a:off x="6492240" y="283464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  <a:endParaRPr/>
          </a:p>
        </p:txBody>
      </p:sp>
      <p:sp>
        <p:nvSpPr>
          <p:cNvPr id="1117713486" name="TextBox 16"/>
          <p:cNvSpPr txBox="1"/>
          <p:nvPr/>
        </p:nvSpPr>
        <p:spPr bwMode="auto">
          <a:xfrm>
            <a:off x="7178039" y="2807208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500" b="1" i="0">
                <a:solidFill>
                  <a:srgbClr val="0F172A"/>
                </a:solidFill>
                <a:latin typeface="Calibri"/>
              </a:rPr>
              <a:t>Distance, not addresses</a:t>
            </a:r>
            <a:endParaRPr/>
          </a:p>
        </p:txBody>
      </p:sp>
      <p:sp>
        <p:nvSpPr>
          <p:cNvPr id="330839633" name="TextBox 17"/>
          <p:cNvSpPr txBox="1"/>
          <p:nvPr/>
        </p:nvSpPr>
        <p:spPr bwMode="auto">
          <a:xfrm>
            <a:off x="7178039" y="3200400"/>
            <a:ext cx="42519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1250" b="0" i="0">
                <a:solidFill>
                  <a:srgbClr val="1E293B"/>
                </a:solidFill>
                <a:latin typeface="Calibri"/>
              </a:rPr>
              <a:t>The database has a haversine distance function instead of a shipping-address field.</a:t>
            </a:r>
            <a:endParaRPr/>
          </a:p>
        </p:txBody>
      </p:sp>
      <p:sp>
        <p:nvSpPr>
          <p:cNvPr id="922530737" name="Rounded Rectangle 18"/>
          <p:cNvSpPr/>
          <p:nvPr/>
        </p:nvSpPr>
        <p:spPr bwMode="auto">
          <a:xfrm>
            <a:off x="548640" y="4526280"/>
            <a:ext cx="5349240" cy="1600200"/>
          </a:xfrm>
          <a:prstGeom prst="roundRect">
            <a:avLst>
              <a:gd name="adj" fmla="val 6000"/>
            </a:avLst>
          </a:prstGeom>
          <a:solidFill>
            <a:srgbClr val="E6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1723378" name="Rectangle 19"/>
          <p:cNvSpPr/>
          <p:nvPr/>
        </p:nvSpPr>
        <p:spPr bwMode="auto">
          <a:xfrm>
            <a:off x="548640" y="4526280"/>
            <a:ext cx="73152" cy="1600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1842236" name="Oval 20"/>
          <p:cNvSpPr/>
          <p:nvPr/>
        </p:nvSpPr>
        <p:spPr bwMode="auto">
          <a:xfrm>
            <a:off x="777240" y="475488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  <a:endParaRPr/>
          </a:p>
        </p:txBody>
      </p:sp>
      <p:sp>
        <p:nvSpPr>
          <p:cNvPr id="765853763" name="TextBox 21"/>
          <p:cNvSpPr txBox="1"/>
          <p:nvPr/>
        </p:nvSpPr>
        <p:spPr bwMode="auto">
          <a:xfrm>
            <a:off x="1463040" y="4727448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500" b="1" i="0">
                <a:solidFill>
                  <a:srgbClr val="0F172A"/>
                </a:solidFill>
                <a:latin typeface="Calibri"/>
              </a:rPr>
              <a:t>No payment table, anywhere</a:t>
            </a:r>
            <a:endParaRPr/>
          </a:p>
        </p:txBody>
      </p:sp>
      <p:sp>
        <p:nvSpPr>
          <p:cNvPr id="342016848" name="TextBox 22"/>
          <p:cNvSpPr txBox="1"/>
          <p:nvPr/>
        </p:nvSpPr>
        <p:spPr bwMode="auto">
          <a:xfrm>
            <a:off x="1463040" y="5120640"/>
            <a:ext cx="42519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1250" b="0" i="0">
                <a:solidFill>
                  <a:srgbClr val="1E293B"/>
                </a:solidFill>
                <a:latin typeface="Calibri"/>
              </a:rPr>
              <a:t>There is nothing to bill, refund, or reconcile in the schema.</a:t>
            </a:r>
            <a:endParaRPr/>
          </a:p>
        </p:txBody>
      </p:sp>
      <p:sp>
        <p:nvSpPr>
          <p:cNvPr id="1411586364" name="Rounded Rectangle 23"/>
          <p:cNvSpPr/>
          <p:nvPr/>
        </p:nvSpPr>
        <p:spPr bwMode="auto">
          <a:xfrm>
            <a:off x="6263640" y="4526280"/>
            <a:ext cx="5349240" cy="1600200"/>
          </a:xfrm>
          <a:prstGeom prst="roundRect">
            <a:avLst>
              <a:gd name="adj" fmla="val 6000"/>
            </a:avLst>
          </a:prstGeom>
          <a:solidFill>
            <a:srgbClr val="E6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2439149" name="Rectangle 24"/>
          <p:cNvSpPr/>
          <p:nvPr/>
        </p:nvSpPr>
        <p:spPr bwMode="auto">
          <a:xfrm>
            <a:off x="6263640" y="4526280"/>
            <a:ext cx="73152" cy="1600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9732524" name="Oval 25"/>
          <p:cNvSpPr/>
          <p:nvPr/>
        </p:nvSpPr>
        <p:spPr bwMode="auto">
          <a:xfrm>
            <a:off x="6492240" y="475488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  <a:endParaRPr/>
          </a:p>
        </p:txBody>
      </p:sp>
      <p:sp>
        <p:nvSpPr>
          <p:cNvPr id="432310542" name="TextBox 26"/>
          <p:cNvSpPr txBox="1"/>
          <p:nvPr/>
        </p:nvSpPr>
        <p:spPr bwMode="auto">
          <a:xfrm>
            <a:off x="7178039" y="4727448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500" b="1" i="0">
                <a:solidFill>
                  <a:srgbClr val="0F172A"/>
                </a:solidFill>
                <a:latin typeface="Calibri"/>
              </a:rPr>
              <a:t>Trust matters as much as inventory</a:t>
            </a:r>
            <a:endParaRPr/>
          </a:p>
        </p:txBody>
      </p:sp>
      <p:sp>
        <p:nvSpPr>
          <p:cNvPr id="1624187446" name="TextBox 27"/>
          <p:cNvSpPr txBox="1"/>
          <p:nvPr/>
        </p:nvSpPr>
        <p:spPr bwMode="auto">
          <a:xfrm>
            <a:off x="7178039" y="5120640"/>
            <a:ext cx="42519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1250" b="0" i="0">
                <a:solidFill>
                  <a:srgbClr val="1E293B"/>
                </a:solidFill>
                <a:latin typeface="Calibri"/>
              </a:rPr>
              <a:t>Ratings, warnings, bans, and reports carry real product weight.</a:t>
            </a:r>
            <a:endParaRPr/>
          </a:p>
        </p:txBody>
      </p:sp>
      <p:sp>
        <p:nvSpPr>
          <p:cNvPr id="986162514" name="TextBox 28"/>
          <p:cNvSpPr txBox="1"/>
          <p:nvPr/>
        </p:nvSpPr>
        <p:spPr bwMode="auto"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OLK — Open Library Kashmir</a:t>
            </a:r>
            <a:endParaRPr/>
          </a:p>
        </p:txBody>
      </p:sp>
      <p:sp>
        <p:nvSpPr>
          <p:cNvPr id="1805595506" name="TextBox 29"/>
          <p:cNvSpPr txBox="1"/>
          <p:nvPr/>
        </p:nvSpPr>
        <p:spPr bwMode="auto">
          <a:xfrm>
            <a:off x="8686800" y="6528816"/>
            <a:ext cx="2926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Why OLK Exists   ·   3 / 37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831930" name="TextBox 1"/>
          <p:cNvSpPr txBox="1"/>
          <p:nvPr/>
        </p:nvSpPr>
        <p:spPr bwMode="auto"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14B8A6"/>
                </a:solidFill>
                <a:latin typeface="Calibri"/>
              </a:rPr>
              <a:t>WHY OLK EXISTS</a:t>
            </a:r>
            <a:endParaRPr/>
          </a:p>
        </p:txBody>
      </p:sp>
      <p:sp>
        <p:nvSpPr>
          <p:cNvPr id="258317831" name="TextBox 2"/>
          <p:cNvSpPr txBox="1"/>
          <p:nvPr/>
        </p:nvSpPr>
        <p:spPr bwMode="auto"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000" b="1" i="0">
                <a:solidFill>
                  <a:srgbClr val="0F172A"/>
                </a:solidFill>
                <a:latin typeface="Calibri"/>
              </a:rPr>
              <a:t>Where we are today</a:t>
            </a:r>
            <a:endParaRPr/>
          </a:p>
        </p:txBody>
      </p:sp>
      <p:sp>
        <p:nvSpPr>
          <p:cNvPr id="969376002" name="Rectangle 3"/>
          <p:cNvSpPr/>
          <p:nvPr/>
        </p:nvSpPr>
        <p:spPr bwMode="auto">
          <a:xfrm>
            <a:off x="548640" y="1207008"/>
            <a:ext cx="914400" cy="40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2360265" name="TextBox 4"/>
          <p:cNvSpPr txBox="1"/>
          <p:nvPr/>
        </p:nvSpPr>
        <p:spPr bwMode="auto">
          <a:xfrm>
            <a:off x="548640" y="13716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0D9488"/>
                </a:solidFill>
                <a:latin typeface="Calibri"/>
              </a:rPr>
              <a:t>PRODUCT</a:t>
            </a:r>
            <a:endParaRPr/>
          </a:p>
        </p:txBody>
      </p:sp>
      <p:sp>
        <p:nvSpPr>
          <p:cNvPr id="532698480" name="TextBox 5"/>
          <p:cNvSpPr txBox="1"/>
          <p:nvPr/>
        </p:nvSpPr>
        <p:spPr bwMode="auto">
          <a:xfrm>
            <a:off x="548640" y="1783080"/>
            <a:ext cx="530352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Full exchange lifecycle, live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Wishlists, clubs, ratings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Admin &amp; moderation subsystem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0F172A"/>
                </a:solidFill>
                <a:latin typeface="Calibri"/>
              </a:rPr>
              <a:t>Regionally real —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29 seeded Kashmir areas across 10 districts, 19 genres</a:t>
            </a:r>
            <a:endParaRPr/>
          </a:p>
        </p:txBody>
      </p:sp>
      <p:sp>
        <p:nvSpPr>
          <p:cNvPr id="895550227" name="TextBox 6"/>
          <p:cNvSpPr txBox="1"/>
          <p:nvPr/>
        </p:nvSpPr>
        <p:spPr bwMode="auto">
          <a:xfrm>
            <a:off x="6172200" y="137160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0D9488"/>
                </a:solidFill>
                <a:latin typeface="Calibri"/>
              </a:rPr>
              <a:t>ENGINEERING</a:t>
            </a:r>
            <a:endParaRPr/>
          </a:p>
        </p:txBody>
      </p:sp>
      <p:sp>
        <p:nvSpPr>
          <p:cNvPr id="157916089" name="TextBox 7"/>
          <p:cNvSpPr txBox="1"/>
          <p:nvPr/>
        </p:nvSpPr>
        <p:spPr bwMode="auto">
          <a:xfrm>
            <a:off x="6172200" y="1783080"/>
            <a:ext cx="530352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24 database tables, all RLS-protected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26 migrations, applied in order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Local Docker stack mirrors production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A 23-chapter internal technical manual</a:t>
            </a:r>
            <a:endParaRPr/>
          </a:p>
        </p:txBody>
      </p:sp>
      <p:sp>
        <p:nvSpPr>
          <p:cNvPr id="708956016" name="Rounded Rectangle 8"/>
          <p:cNvSpPr/>
          <p:nvPr/>
        </p:nvSpPr>
        <p:spPr bwMode="auto">
          <a:xfrm>
            <a:off x="548640" y="4526280"/>
            <a:ext cx="11064240" cy="118872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9786443" name="Rectangle 9"/>
          <p:cNvSpPr/>
          <p:nvPr/>
        </p:nvSpPr>
        <p:spPr bwMode="auto">
          <a:xfrm>
            <a:off x="548640" y="4526280"/>
            <a:ext cx="50800" cy="11887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8036121" name="TextBox 10"/>
          <p:cNvSpPr txBox="1"/>
          <p:nvPr/>
        </p:nvSpPr>
        <p:spPr bwMode="auto">
          <a:xfrm>
            <a:off x="749808" y="4636008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50" b="1" i="0">
                <a:solidFill>
                  <a:srgbClr val="FFFFFF"/>
                </a:solidFill>
                <a:latin typeface="Calibri"/>
              </a:rPr>
              <a:t>OLK'S TWO GOALS, IN ORDER</a:t>
            </a:r>
            <a:endParaRPr/>
          </a:p>
        </p:txBody>
      </p:sp>
      <p:sp>
        <p:nvSpPr>
          <p:cNvPr id="1033796" name="TextBox 11"/>
          <p:cNvSpPr txBox="1"/>
          <p:nvPr/>
        </p:nvSpPr>
        <p:spPr bwMode="auto">
          <a:xfrm>
            <a:off x="749808" y="4928616"/>
            <a:ext cx="1068019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defRPr/>
            </a:pPr>
            <a:r>
              <a:rPr sz="1400" b="0" i="0">
                <a:solidFill>
                  <a:srgbClr val="FFFFFF"/>
                </a:solidFill>
                <a:latin typeface="Calibri"/>
              </a:rPr>
              <a:t>First: serve real readers in Kashmir, live, on the web. Second: eventually run the platform's own infrastructure — including the database — on a physical server in Kashmir, not on rented foreign infrastructure.</a:t>
            </a:r>
            <a:endParaRPr/>
          </a:p>
        </p:txBody>
      </p:sp>
      <p:sp>
        <p:nvSpPr>
          <p:cNvPr id="1218578392" name="TextBox 12"/>
          <p:cNvSpPr txBox="1"/>
          <p:nvPr/>
        </p:nvSpPr>
        <p:spPr bwMode="auto"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OLK — Open Library Kashmir</a:t>
            </a:r>
            <a:endParaRPr/>
          </a:p>
        </p:txBody>
      </p:sp>
      <p:sp>
        <p:nvSpPr>
          <p:cNvPr id="867613046" name="TextBox 13"/>
          <p:cNvSpPr txBox="1"/>
          <p:nvPr/>
        </p:nvSpPr>
        <p:spPr bwMode="auto">
          <a:xfrm>
            <a:off x="8686800" y="6528816"/>
            <a:ext cx="2926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Why OLK Exists   ·   4 / 37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557054" name="Rectangle 1"/>
          <p:cNvSpPr/>
          <p:nvPr/>
        </p:nvSpPr>
        <p:spPr bwMode="auto">
          <a:xfrm>
            <a:off x="0" y="3931920"/>
            <a:ext cx="12191695" cy="29260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8823516" name="Freeform 2"/>
          <p:cNvSpPr/>
          <p:nvPr/>
        </p:nvSpPr>
        <p:spPr bwMode="auto">
          <a:xfrm>
            <a:off x="0" y="4517136"/>
            <a:ext cx="12191695" cy="2340864"/>
          </a:xfrm>
          <a:custGeom>
            <a:avLst/>
            <a:gdLst/>
            <a:ahLst/>
            <a:cxnLst/>
            <a:rect l="l" t="t" r="r" b="b"/>
            <a:pathLst>
              <a:path w="12191695" h="2340864" fill="norm" stroke="1" extrusionOk="0">
                <a:moveTo>
                  <a:pt x="0" y="2340864"/>
                </a:moveTo>
                <a:lnTo>
                  <a:pt x="0" y="1024128"/>
                </a:lnTo>
                <a:lnTo>
                  <a:pt x="1706837" y="292608"/>
                </a:lnTo>
                <a:lnTo>
                  <a:pt x="3291758" y="877824"/>
                </a:lnTo>
                <a:lnTo>
                  <a:pt x="5120512" y="58522"/>
                </a:lnTo>
                <a:lnTo>
                  <a:pt x="7071183" y="819302"/>
                </a:lnTo>
                <a:lnTo>
                  <a:pt x="9021854" y="0"/>
                </a:lnTo>
                <a:lnTo>
                  <a:pt x="10972526" y="760781"/>
                </a:lnTo>
                <a:lnTo>
                  <a:pt x="12191695" y="234086"/>
                </a:lnTo>
                <a:lnTo>
                  <a:pt x="12191695" y="2340864"/>
                </a:lnTo>
                <a:lnTo>
                  <a:pt x="0" y="2340864"/>
                </a:lnTo>
                <a:close/>
              </a:path>
            </a:pathLst>
          </a:cu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4036452" name="Freeform 3"/>
          <p:cNvSpPr/>
          <p:nvPr/>
        </p:nvSpPr>
        <p:spPr bwMode="auto">
          <a:xfrm>
            <a:off x="0" y="5219395"/>
            <a:ext cx="12191695" cy="1638605"/>
          </a:xfrm>
          <a:custGeom>
            <a:avLst/>
            <a:gdLst/>
            <a:ahLst/>
            <a:cxnLst/>
            <a:rect l="l" t="t" r="r" b="b"/>
            <a:pathLst>
              <a:path w="12191695" h="1638605" fill="norm" stroke="1" extrusionOk="0">
                <a:moveTo>
                  <a:pt x="0" y="1638605"/>
                </a:moveTo>
                <a:lnTo>
                  <a:pt x="0" y="907085"/>
                </a:lnTo>
                <a:lnTo>
                  <a:pt x="1219170" y="234087"/>
                </a:lnTo>
                <a:lnTo>
                  <a:pt x="2682173" y="702259"/>
                </a:lnTo>
                <a:lnTo>
                  <a:pt x="4389010" y="58522"/>
                </a:lnTo>
                <a:lnTo>
                  <a:pt x="6095848" y="760781"/>
                </a:lnTo>
                <a:lnTo>
                  <a:pt x="7802685" y="0"/>
                </a:lnTo>
                <a:lnTo>
                  <a:pt x="9509522" y="760781"/>
                </a:lnTo>
                <a:lnTo>
                  <a:pt x="11216359" y="117043"/>
                </a:lnTo>
                <a:lnTo>
                  <a:pt x="12191695" y="526695"/>
                </a:lnTo>
                <a:lnTo>
                  <a:pt x="12191695" y="1638605"/>
                </a:lnTo>
                <a:lnTo>
                  <a:pt x="0" y="1638605"/>
                </a:lnTo>
                <a:close/>
              </a:path>
            </a:pathLst>
          </a:cu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1379379" name="Oval 4"/>
          <p:cNvSpPr/>
          <p:nvPr/>
        </p:nvSpPr>
        <p:spPr bwMode="auto">
          <a:xfrm>
            <a:off x="1950671" y="4458614"/>
            <a:ext cx="310896" cy="310896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308109" name="Rectangle 5"/>
          <p:cNvSpPr/>
          <p:nvPr/>
        </p:nvSpPr>
        <p:spPr bwMode="auto">
          <a:xfrm>
            <a:off x="0" y="5160873"/>
            <a:ext cx="12191695" cy="330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3170455" name="TextBox 6"/>
          <p:cNvSpPr txBox="1"/>
          <p:nvPr/>
        </p:nvSpPr>
        <p:spPr bwMode="auto">
          <a:xfrm>
            <a:off x="822960" y="9144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500" b="1" i="0">
                <a:solidFill>
                  <a:srgbClr val="2DD4BF"/>
                </a:solidFill>
                <a:latin typeface="Calibri"/>
              </a:rPr>
              <a:t>PART 2 / 5</a:t>
            </a:r>
            <a:endParaRPr/>
          </a:p>
        </p:txBody>
      </p:sp>
      <p:sp>
        <p:nvSpPr>
          <p:cNvPr id="1149193469" name="TextBox 7"/>
          <p:cNvSpPr txBox="1"/>
          <p:nvPr/>
        </p:nvSpPr>
        <p:spPr bwMode="auto">
          <a:xfrm>
            <a:off x="777240" y="137160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4400" b="1" i="0">
                <a:solidFill>
                  <a:srgbClr val="FFFFFF"/>
                </a:solidFill>
                <a:latin typeface="Calibri"/>
              </a:rPr>
              <a:t>A Tour of the Platform</a:t>
            </a:r>
            <a:endParaRPr/>
          </a:p>
        </p:txBody>
      </p:sp>
      <p:sp>
        <p:nvSpPr>
          <p:cNvPr id="1090235463" name="TextBox 8"/>
          <p:cNvSpPr txBox="1"/>
          <p:nvPr/>
        </p:nvSpPr>
        <p:spPr bwMode="auto">
          <a:xfrm>
            <a:off x="822960" y="251460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b="0" i="0">
                <a:solidFill>
                  <a:srgbClr val="CBD5E1"/>
                </a:solidFill>
                <a:latin typeface="Calibri"/>
              </a:rPr>
              <a:t>What it does today, walked end to end, for the whole team.</a:t>
            </a:r>
            <a:endParaRPr/>
          </a:p>
        </p:txBody>
      </p:sp>
      <p:sp>
        <p:nvSpPr>
          <p:cNvPr id="1232340737" name="Oval 9"/>
          <p:cNvSpPr/>
          <p:nvPr/>
        </p:nvSpPr>
        <p:spPr bwMode="auto">
          <a:xfrm>
            <a:off x="822960" y="3246120"/>
            <a:ext cx="182880" cy="18288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7956851" name="Oval 10"/>
          <p:cNvSpPr/>
          <p:nvPr/>
        </p:nvSpPr>
        <p:spPr bwMode="auto">
          <a:xfrm>
            <a:off x="1115568" y="3246120"/>
            <a:ext cx="182880" cy="18288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90398054" name="Oval 11"/>
          <p:cNvSpPr/>
          <p:nvPr/>
        </p:nvSpPr>
        <p:spPr bwMode="auto">
          <a:xfrm>
            <a:off x="1408176" y="3246120"/>
            <a:ext cx="182880" cy="182880"/>
          </a:xfrm>
          <a:prstGeom prst="ellipse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7747054" name="Oval 12"/>
          <p:cNvSpPr/>
          <p:nvPr/>
        </p:nvSpPr>
        <p:spPr bwMode="auto">
          <a:xfrm>
            <a:off x="1700784" y="3246120"/>
            <a:ext cx="182880" cy="182880"/>
          </a:xfrm>
          <a:prstGeom prst="ellipse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28734920" name="Oval 13"/>
          <p:cNvSpPr/>
          <p:nvPr/>
        </p:nvSpPr>
        <p:spPr bwMode="auto">
          <a:xfrm>
            <a:off x="1993392" y="3246120"/>
            <a:ext cx="182880" cy="182880"/>
          </a:xfrm>
          <a:prstGeom prst="ellipse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9820725" name="TextBox 1"/>
          <p:cNvSpPr txBox="1"/>
          <p:nvPr/>
        </p:nvSpPr>
        <p:spPr bwMode="auto"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14B8A6"/>
                </a:solidFill>
                <a:latin typeface="Calibri"/>
              </a:rPr>
              <a:t>A TOUR OF THE PLATFORM</a:t>
            </a:r>
            <a:endParaRPr/>
          </a:p>
        </p:txBody>
      </p:sp>
      <p:sp>
        <p:nvSpPr>
          <p:cNvPr id="105257883" name="TextBox 2"/>
          <p:cNvSpPr txBox="1"/>
          <p:nvPr/>
        </p:nvSpPr>
        <p:spPr bwMode="auto"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000" b="1" i="0">
                <a:solidFill>
                  <a:srgbClr val="0F172A"/>
                </a:solidFill>
                <a:latin typeface="Calibri"/>
              </a:rPr>
              <a:t>Discover &amp; share a book</a:t>
            </a:r>
            <a:endParaRPr/>
          </a:p>
        </p:txBody>
      </p:sp>
      <p:sp>
        <p:nvSpPr>
          <p:cNvPr id="1703158195" name="Rectangle 3"/>
          <p:cNvSpPr/>
          <p:nvPr/>
        </p:nvSpPr>
        <p:spPr bwMode="auto">
          <a:xfrm>
            <a:off x="548640" y="1207008"/>
            <a:ext cx="914400" cy="40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0796573" name="TextBox 4"/>
          <p:cNvSpPr txBox="1"/>
          <p:nvPr/>
        </p:nvSpPr>
        <p:spPr bwMode="auto">
          <a:xfrm>
            <a:off x="548640" y="1463040"/>
            <a:ext cx="566928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6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F172A"/>
                </a:solidFill>
                <a:latin typeface="Calibri"/>
              </a:rPr>
              <a:t>Browse</a:t>
            </a:r>
            <a:r>
              <a:rPr sz="1600" b="0" i="0">
                <a:solidFill>
                  <a:srgbClr val="1E293B"/>
                </a:solidFill>
                <a:latin typeface="Calibri"/>
              </a:rPr>
              <a:t> shows nearby books first — sorted by real distance, not just recency.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6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Filter by genre, condition, listing type, and area.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6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F172A"/>
                </a:solidFill>
                <a:latin typeface="Calibri"/>
              </a:rPr>
              <a:t>List a book</a:t>
            </a:r>
            <a:r>
              <a:rPr sz="1600" b="0" i="0">
                <a:solidFill>
                  <a:srgbClr val="1E293B"/>
                </a:solidFill>
                <a:latin typeface="Calibri"/>
              </a:rPr>
              <a:t> in seconds: point your phone camera at the barcode.</a:t>
            </a:r>
            <a:endParaRPr/>
          </a:p>
        </p:txBody>
      </p:sp>
      <p:sp>
        <p:nvSpPr>
          <p:cNvPr id="497150814" name="Rounded Rectangle 5"/>
          <p:cNvSpPr/>
          <p:nvPr/>
        </p:nvSpPr>
        <p:spPr bwMode="auto">
          <a:xfrm>
            <a:off x="6492240" y="1463040"/>
            <a:ext cx="5120640" cy="2743200"/>
          </a:xfrm>
          <a:prstGeom prst="roundRect">
            <a:avLst>
              <a:gd name="adj" fmla="val 5000"/>
            </a:avLst>
          </a:prstGeom>
          <a:solidFill>
            <a:srgbClr val="E6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7774644" name="Oval 6"/>
          <p:cNvSpPr/>
          <p:nvPr/>
        </p:nvSpPr>
        <p:spPr bwMode="auto">
          <a:xfrm>
            <a:off x="6766560" y="173736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sz="1300" b="1" i="0">
                <a:solidFill>
                  <a:srgbClr val="FFFFFF"/>
                </a:solidFill>
                <a:latin typeface="Calibri"/>
              </a:rPr>
              <a:t>▤</a:t>
            </a:r>
            <a:endParaRPr/>
          </a:p>
        </p:txBody>
      </p:sp>
      <p:sp>
        <p:nvSpPr>
          <p:cNvPr id="539703164" name="TextBox 7"/>
          <p:cNvSpPr txBox="1"/>
          <p:nvPr/>
        </p:nvSpPr>
        <p:spPr bwMode="auto">
          <a:xfrm>
            <a:off x="7498079" y="178308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0D9488"/>
                </a:solidFill>
                <a:latin typeface="Calibri"/>
              </a:rPr>
              <a:t>THE ISBN SCANNER</a:t>
            </a:r>
            <a:endParaRPr/>
          </a:p>
        </p:txBody>
      </p:sp>
      <p:sp>
        <p:nvSpPr>
          <p:cNvPr id="1336493018" name="TextBox 8"/>
          <p:cNvSpPr txBox="1"/>
          <p:nvPr/>
        </p:nvSpPr>
        <p:spPr bwMode="auto">
          <a:xfrm>
            <a:off x="6766560" y="2331720"/>
            <a:ext cx="44805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350" b="0" i="0">
                <a:solidFill>
                  <a:srgbClr val="1E293B"/>
                </a:solidFill>
                <a:latin typeface="Calibri"/>
              </a:rPr>
              <a:t>Scans the barcode, looks it up on the free, open Open Library catalogue, and auto-fills title, author, cover image, and even guesses a genre — conservatively: if it isn't confident, it leaves the field blank rather than guessing wrong.</a:t>
            </a:r>
            <a:endParaRPr/>
          </a:p>
        </p:txBody>
      </p:sp>
      <p:sp>
        <p:nvSpPr>
          <p:cNvPr id="1352244907" name="TextBox 9"/>
          <p:cNvSpPr txBox="1"/>
          <p:nvPr/>
        </p:nvSpPr>
        <p:spPr bwMode="auto"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OLK — Open Library Kashmir</a:t>
            </a:r>
            <a:endParaRPr/>
          </a:p>
        </p:txBody>
      </p:sp>
      <p:sp>
        <p:nvSpPr>
          <p:cNvPr id="1148054271" name="TextBox 10"/>
          <p:cNvSpPr txBox="1"/>
          <p:nvPr/>
        </p:nvSpPr>
        <p:spPr bwMode="auto">
          <a:xfrm>
            <a:off x="8686800" y="6528816"/>
            <a:ext cx="2926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A Tour of the Platform   ·   5 / 37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5984496" name="TextBox 1"/>
          <p:cNvSpPr txBox="1"/>
          <p:nvPr/>
        </p:nvSpPr>
        <p:spPr bwMode="auto"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14B8A6"/>
                </a:solidFill>
                <a:latin typeface="Calibri"/>
              </a:rPr>
              <a:t>A TOUR OF THE PLATFORM</a:t>
            </a:r>
            <a:endParaRPr/>
          </a:p>
        </p:txBody>
      </p:sp>
      <p:sp>
        <p:nvSpPr>
          <p:cNvPr id="1422723700" name="TextBox 2"/>
          <p:cNvSpPr txBox="1"/>
          <p:nvPr/>
        </p:nvSpPr>
        <p:spPr bwMode="auto"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000" b="1" i="0">
                <a:solidFill>
                  <a:srgbClr val="0F172A"/>
                </a:solidFill>
                <a:latin typeface="Calibri"/>
              </a:rPr>
              <a:t>From request to handover</a:t>
            </a:r>
            <a:endParaRPr/>
          </a:p>
        </p:txBody>
      </p:sp>
      <p:sp>
        <p:nvSpPr>
          <p:cNvPr id="2054910885" name="Rectangle 3"/>
          <p:cNvSpPr/>
          <p:nvPr/>
        </p:nvSpPr>
        <p:spPr bwMode="auto">
          <a:xfrm>
            <a:off x="548640" y="1207008"/>
            <a:ext cx="914400" cy="40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7500474" name="Rounded Rectangle 4"/>
          <p:cNvSpPr/>
          <p:nvPr/>
        </p:nvSpPr>
        <p:spPr bwMode="auto">
          <a:xfrm>
            <a:off x="1005840" y="1554480"/>
            <a:ext cx="2468880" cy="777240"/>
          </a:xfrm>
          <a:prstGeom prst="roundRect">
            <a:avLst>
              <a:gd name="adj" fmla="val 12000"/>
            </a:avLst>
          </a:prstGeom>
          <a:solidFill>
            <a:srgbClr val="E6FBF8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>
              <a:defRPr/>
            </a:pPr>
            <a:r>
              <a:rPr sz="1500" b="1" i="0">
                <a:solidFill>
                  <a:srgbClr val="0F172A"/>
                </a:solidFill>
                <a:latin typeface="Calibri"/>
              </a:rPr>
              <a:t>Requested</a:t>
            </a:r>
            <a:endParaRPr/>
          </a:p>
        </p:txBody>
      </p:sp>
      <p:cxnSp>
        <p:nvCxnSpPr>
          <p:cNvPr id="378511735" name="Connector 5"/>
          <p:cNvCxnSpPr/>
          <p:nvPr/>
        </p:nvCxnSpPr>
        <p:spPr bwMode="auto">
          <a:xfrm>
            <a:off x="3474720" y="1943100"/>
            <a:ext cx="502920" cy="0"/>
          </a:xfrm>
          <a:prstGeom prst="line">
            <a:avLst/>
          </a:prstGeom>
          <a:ln w="22225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931922" name="Rounded Rectangle 6"/>
          <p:cNvSpPr/>
          <p:nvPr/>
        </p:nvSpPr>
        <p:spPr bwMode="auto">
          <a:xfrm>
            <a:off x="3977640" y="1554480"/>
            <a:ext cx="2468880" cy="777240"/>
          </a:xfrm>
          <a:prstGeom prst="roundRect">
            <a:avLst>
              <a:gd name="adj" fmla="val 12000"/>
            </a:avLst>
          </a:prstGeom>
          <a:solidFill>
            <a:srgbClr val="E6FBF8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>
              <a:defRPr/>
            </a:pPr>
            <a:r>
              <a:rPr sz="1500" b="1" i="0">
                <a:solidFill>
                  <a:srgbClr val="0F172A"/>
                </a:solidFill>
                <a:latin typeface="Calibri"/>
              </a:rPr>
              <a:t>Accepted</a:t>
            </a:r>
            <a:endParaRPr/>
          </a:p>
        </p:txBody>
      </p:sp>
      <p:cxnSp>
        <p:nvCxnSpPr>
          <p:cNvPr id="929971027" name="Connector 7"/>
          <p:cNvCxnSpPr/>
          <p:nvPr/>
        </p:nvCxnSpPr>
        <p:spPr bwMode="auto">
          <a:xfrm>
            <a:off x="6446520" y="1943100"/>
            <a:ext cx="502920" cy="0"/>
          </a:xfrm>
          <a:prstGeom prst="line">
            <a:avLst/>
          </a:prstGeom>
          <a:ln w="22225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3357686" name="Rounded Rectangle 8"/>
          <p:cNvSpPr/>
          <p:nvPr/>
        </p:nvSpPr>
        <p:spPr bwMode="auto">
          <a:xfrm>
            <a:off x="6949440" y="1554480"/>
            <a:ext cx="2468880" cy="777240"/>
          </a:xfrm>
          <a:prstGeom prst="roundRect">
            <a:avLst>
              <a:gd name="adj" fmla="val 12000"/>
            </a:avLst>
          </a:prstGeom>
          <a:solidFill>
            <a:srgbClr val="E6FBF8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>
              <a:defRPr/>
            </a:pPr>
            <a:r>
              <a:rPr sz="1500" b="1" i="0">
                <a:solidFill>
                  <a:srgbClr val="0F172A"/>
                </a:solidFill>
                <a:latin typeface="Calibri"/>
              </a:rPr>
              <a:t>Handed Over</a:t>
            </a:r>
            <a:endParaRPr/>
          </a:p>
        </p:txBody>
      </p:sp>
      <p:cxnSp>
        <p:nvCxnSpPr>
          <p:cNvPr id="1583024994" name="Connector 9"/>
          <p:cNvCxnSpPr/>
          <p:nvPr/>
        </p:nvCxnSpPr>
        <p:spPr bwMode="auto">
          <a:xfrm>
            <a:off x="7452360" y="2331720"/>
            <a:ext cx="0" cy="777240"/>
          </a:xfrm>
          <a:prstGeom prst="line">
            <a:avLst/>
          </a:prstGeom>
          <a:ln w="22225">
            <a:solidFill>
              <a:srgbClr val="0D94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410543" name="Rounded Rectangle 10"/>
          <p:cNvSpPr/>
          <p:nvPr/>
        </p:nvSpPr>
        <p:spPr bwMode="auto">
          <a:xfrm>
            <a:off x="6537960" y="3246120"/>
            <a:ext cx="1828800" cy="777240"/>
          </a:xfrm>
          <a:prstGeom prst="roundRect">
            <a:avLst>
              <a:gd name="adj" fmla="val 12000"/>
            </a:avLst>
          </a:prstGeom>
          <a:solidFill>
            <a:srgbClr val="DDE7F0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5317752" name="TextBox 11"/>
          <p:cNvSpPr txBox="1"/>
          <p:nvPr/>
        </p:nvSpPr>
        <p:spPr bwMode="auto">
          <a:xfrm>
            <a:off x="6537960" y="3246120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500" b="1" i="0">
                <a:solidFill>
                  <a:srgbClr val="0F172A"/>
                </a:solidFill>
                <a:latin typeface="Calibri"/>
              </a:rPr>
              <a:t>Returned</a:t>
            </a:r>
            <a:endParaRPr/>
          </a:p>
        </p:txBody>
      </p:sp>
      <p:sp>
        <p:nvSpPr>
          <p:cNvPr id="1791791210" name="TextBox 12"/>
          <p:cNvSpPr txBox="1"/>
          <p:nvPr/>
        </p:nvSpPr>
        <p:spPr bwMode="auto">
          <a:xfrm>
            <a:off x="7635240" y="2450592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00" b="0" i="1">
                <a:solidFill>
                  <a:srgbClr val="64748B"/>
                </a:solidFill>
                <a:latin typeface="Calibri"/>
              </a:rPr>
              <a:t>lend books</a:t>
            </a:r>
            <a:endParaRPr/>
          </a:p>
          <a:p>
            <a:pPr algn="l">
              <a:lnSpc>
                <a:spcPct val="100000"/>
              </a:lnSpc>
              <a:defRPr/>
            </a:pPr>
            <a:r>
              <a:rPr sz="1100" b="0" i="1">
                <a:solidFill>
                  <a:srgbClr val="64748B"/>
                </a:solidFill>
                <a:latin typeface="Calibri"/>
              </a:rPr>
              <a:t>come back</a:t>
            </a:r>
            <a:endParaRPr/>
          </a:p>
        </p:txBody>
      </p:sp>
      <p:sp>
        <p:nvSpPr>
          <p:cNvPr id="1627798695" name="TextBox 13"/>
          <p:cNvSpPr txBox="1"/>
          <p:nvPr/>
        </p:nvSpPr>
        <p:spPr bwMode="auto">
          <a:xfrm>
            <a:off x="822960" y="4480560"/>
            <a:ext cx="102412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A reader requests; the owner accepts or declines.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0F172A"/>
                </a:solidFill>
                <a:latin typeface="Calibri"/>
              </a:rPr>
              <a:t>Owner marks it handed over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when the two of you actually meet.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Reading progress (0–100%) is visible to the whole community while it's out.</a:t>
            </a:r>
            <a:endParaRPr/>
          </a:p>
        </p:txBody>
      </p:sp>
      <p:sp>
        <p:nvSpPr>
          <p:cNvPr id="508696299" name="TextBox 14"/>
          <p:cNvSpPr txBox="1"/>
          <p:nvPr/>
        </p:nvSpPr>
        <p:spPr bwMode="auto"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OLK — Open Library Kashmir</a:t>
            </a:r>
            <a:endParaRPr/>
          </a:p>
        </p:txBody>
      </p:sp>
      <p:sp>
        <p:nvSpPr>
          <p:cNvPr id="559539426" name="TextBox 15"/>
          <p:cNvSpPr txBox="1"/>
          <p:nvPr/>
        </p:nvSpPr>
        <p:spPr bwMode="auto">
          <a:xfrm>
            <a:off x="8686800" y="6528816"/>
            <a:ext cx="2926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A Tour of the Platform   ·   6 / 37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8029697" name="TextBox 1"/>
          <p:cNvSpPr txBox="1"/>
          <p:nvPr/>
        </p:nvSpPr>
        <p:spPr bwMode="auto"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14B8A6"/>
                </a:solidFill>
                <a:latin typeface="Calibri"/>
              </a:rPr>
              <a:t>A TOUR OF THE PLATFORM</a:t>
            </a:r>
            <a:endParaRPr/>
          </a:p>
        </p:txBody>
      </p:sp>
      <p:sp>
        <p:nvSpPr>
          <p:cNvPr id="1823989959" name="TextBox 2"/>
          <p:cNvSpPr txBox="1"/>
          <p:nvPr/>
        </p:nvSpPr>
        <p:spPr bwMode="auto"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000" b="1" i="0">
                <a:solidFill>
                  <a:srgbClr val="0F172A"/>
                </a:solidFill>
                <a:latin typeface="Calibri"/>
              </a:rPr>
              <a:t>Two ways a book's story ends</a:t>
            </a:r>
            <a:endParaRPr/>
          </a:p>
        </p:txBody>
      </p:sp>
      <p:sp>
        <p:nvSpPr>
          <p:cNvPr id="1757783905" name="Rectangle 3"/>
          <p:cNvSpPr/>
          <p:nvPr/>
        </p:nvSpPr>
        <p:spPr bwMode="auto">
          <a:xfrm>
            <a:off x="548640" y="1207008"/>
            <a:ext cx="914400" cy="40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5338332" name="Rounded Rectangle 4"/>
          <p:cNvSpPr/>
          <p:nvPr/>
        </p:nvSpPr>
        <p:spPr bwMode="auto">
          <a:xfrm>
            <a:off x="548640" y="1463040"/>
            <a:ext cx="5349240" cy="2331720"/>
          </a:xfrm>
          <a:prstGeom prst="roundRect">
            <a:avLst>
              <a:gd name="adj" fmla="val 5000"/>
            </a:avLst>
          </a:prstGeom>
          <a:solidFill>
            <a:srgbClr val="E6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0693241" name="TextBox 5"/>
          <p:cNvSpPr txBox="1"/>
          <p:nvPr/>
        </p:nvSpPr>
        <p:spPr bwMode="auto">
          <a:xfrm>
            <a:off x="822960" y="16459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i="0">
                <a:solidFill>
                  <a:srgbClr val="0D9488"/>
                </a:solidFill>
                <a:latin typeface="Calibri"/>
              </a:rPr>
              <a:t>LENDING</a:t>
            </a:r>
            <a:endParaRPr/>
          </a:p>
        </p:txBody>
      </p:sp>
      <p:sp>
        <p:nvSpPr>
          <p:cNvPr id="317459851" name="TextBox 6"/>
          <p:cNvSpPr txBox="1"/>
          <p:nvPr/>
        </p:nvSpPr>
        <p:spPr bwMode="auto">
          <a:xfrm>
            <a:off x="822960" y="2103120"/>
            <a:ext cx="47548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45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0F172A"/>
                </a:solidFill>
                <a:latin typeface="Calibri"/>
              </a:rPr>
              <a:t>Book comes back — marked Returned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45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0F172A"/>
                </a:solidFill>
                <a:latin typeface="Calibri"/>
              </a:rPr>
              <a:t>Owner keeps it, can lend again</a:t>
            </a:r>
            <a:endParaRPr/>
          </a:p>
        </p:txBody>
      </p:sp>
      <p:sp>
        <p:nvSpPr>
          <p:cNvPr id="1914556658" name="Rounded Rectangle 7"/>
          <p:cNvSpPr/>
          <p:nvPr/>
        </p:nvSpPr>
        <p:spPr bwMode="auto">
          <a:xfrm>
            <a:off x="6263640" y="1463040"/>
            <a:ext cx="5349240" cy="233172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00684349" name="TextBox 8"/>
          <p:cNvSpPr txBox="1"/>
          <p:nvPr/>
        </p:nvSpPr>
        <p:spPr bwMode="auto">
          <a:xfrm>
            <a:off x="6537960" y="16459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i="0">
                <a:solidFill>
                  <a:srgbClr val="B45309"/>
                </a:solidFill>
                <a:latin typeface="Calibri"/>
              </a:rPr>
              <a:t>DONATING</a:t>
            </a:r>
            <a:endParaRPr/>
          </a:p>
        </p:txBody>
      </p:sp>
      <p:sp>
        <p:nvSpPr>
          <p:cNvPr id="422945578" name="TextBox 9"/>
          <p:cNvSpPr txBox="1"/>
          <p:nvPr/>
        </p:nvSpPr>
        <p:spPr bwMode="auto">
          <a:xfrm>
            <a:off x="6537960" y="2103120"/>
            <a:ext cx="47548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350" b="1" i="0">
                <a:solidFill>
                  <a:srgbClr val="B45309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0F172A"/>
                </a:solidFill>
                <a:latin typeface="Calibri"/>
              </a:rPr>
              <a:t>“Pass It On” when the reader is done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350" b="1" i="0">
                <a:solidFill>
                  <a:srgbClr val="B45309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0F172A"/>
                </a:solidFill>
                <a:latin typeface="Calibri"/>
              </a:rPr>
              <a:t>Ownership transfers — permanently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350" b="1" i="0">
                <a:solidFill>
                  <a:srgbClr val="B45309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0F172A"/>
                </a:solidFill>
                <a:latin typeface="Calibri"/>
              </a:rPr>
              <a:t>The new owner can re-list it; it can never quietly become a private copy again</a:t>
            </a:r>
            <a:endParaRPr/>
          </a:p>
        </p:txBody>
      </p:sp>
      <p:sp>
        <p:nvSpPr>
          <p:cNvPr id="1076989566" name="Rounded Rectangle 10"/>
          <p:cNvSpPr/>
          <p:nvPr/>
        </p:nvSpPr>
        <p:spPr bwMode="auto">
          <a:xfrm>
            <a:off x="548640" y="4114800"/>
            <a:ext cx="11064240" cy="1188720"/>
          </a:xfrm>
          <a:prstGeom prst="roundRect">
            <a:avLst>
              <a:gd name="adj" fmla="val 4500"/>
            </a:avLst>
          </a:prstGeom>
          <a:solidFill>
            <a:srgbClr val="E6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6617932" name="Rectangle 11"/>
          <p:cNvSpPr/>
          <p:nvPr/>
        </p:nvSpPr>
        <p:spPr bwMode="auto">
          <a:xfrm>
            <a:off x="548640" y="4114800"/>
            <a:ext cx="50800" cy="1188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2265296" name="TextBox 12"/>
          <p:cNvSpPr txBox="1"/>
          <p:nvPr/>
        </p:nvSpPr>
        <p:spPr bwMode="auto">
          <a:xfrm>
            <a:off x="749808" y="4224528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50" b="1" i="0">
                <a:solidFill>
                  <a:srgbClr val="0D9488"/>
                </a:solidFill>
                <a:latin typeface="Calibri"/>
              </a:rPr>
              <a:t>ONE SHARED COUNTER</a:t>
            </a:r>
            <a:endParaRPr/>
          </a:p>
        </p:txBody>
      </p:sp>
      <p:sp>
        <p:nvSpPr>
          <p:cNvPr id="232526684" name="TextBox 13"/>
          <p:cNvSpPr txBox="1"/>
          <p:nvPr/>
        </p:nvSpPr>
        <p:spPr bwMode="auto">
          <a:xfrm>
            <a:off x="749808" y="4517136"/>
            <a:ext cx="1068019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defRPr/>
            </a:pPr>
            <a:r>
              <a:rPr sz="1400" b="0" i="0">
                <a:solidFill>
                  <a:srgbClr val="0F172A"/>
                </a:solidFill>
                <a:latin typeface="Calibri"/>
              </a:rPr>
              <a:t>Every book carries a read_count — incremented on both paths, so a donated book that's changed hands five times and a book that's been lent out five times both show up equally as “reached five readers.”</a:t>
            </a:r>
            <a:endParaRPr/>
          </a:p>
        </p:txBody>
      </p:sp>
      <p:sp>
        <p:nvSpPr>
          <p:cNvPr id="1860931211" name="TextBox 14"/>
          <p:cNvSpPr txBox="1"/>
          <p:nvPr/>
        </p:nvSpPr>
        <p:spPr bwMode="auto"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OLK — Open Library Kashmir</a:t>
            </a:r>
            <a:endParaRPr/>
          </a:p>
        </p:txBody>
      </p:sp>
      <p:sp>
        <p:nvSpPr>
          <p:cNvPr id="1020224423" name="TextBox 15"/>
          <p:cNvSpPr txBox="1"/>
          <p:nvPr/>
        </p:nvSpPr>
        <p:spPr bwMode="auto">
          <a:xfrm>
            <a:off x="8686800" y="6528816"/>
            <a:ext cx="2926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A Tour of the Platform   ·   7 / 37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696144" name="TextBox 1"/>
          <p:cNvSpPr txBox="1"/>
          <p:nvPr/>
        </p:nvSpPr>
        <p:spPr bwMode="auto"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14B8A6"/>
                </a:solidFill>
                <a:latin typeface="Calibri"/>
              </a:rPr>
              <a:t>A TOUR OF THE PLATFORM</a:t>
            </a:r>
            <a:endParaRPr/>
          </a:p>
        </p:txBody>
      </p:sp>
      <p:sp>
        <p:nvSpPr>
          <p:cNvPr id="687059496" name="TextBox 2"/>
          <p:cNvSpPr txBox="1"/>
          <p:nvPr/>
        </p:nvSpPr>
        <p:spPr bwMode="auto"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000" b="1" i="0">
                <a:solidFill>
                  <a:srgbClr val="0F172A"/>
                </a:solidFill>
                <a:latin typeface="Calibri"/>
              </a:rPr>
              <a:t>Chat, rate, build trust</a:t>
            </a:r>
            <a:endParaRPr/>
          </a:p>
        </p:txBody>
      </p:sp>
      <p:sp>
        <p:nvSpPr>
          <p:cNvPr id="1993372920" name="Rectangle 3"/>
          <p:cNvSpPr/>
          <p:nvPr/>
        </p:nvSpPr>
        <p:spPr bwMode="auto">
          <a:xfrm>
            <a:off x="548640" y="1207008"/>
            <a:ext cx="914400" cy="40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3381743" name="TextBox 4"/>
          <p:cNvSpPr txBox="1"/>
          <p:nvPr/>
        </p:nvSpPr>
        <p:spPr bwMode="auto">
          <a:xfrm>
            <a:off x="548640" y="1463040"/>
            <a:ext cx="106070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7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0F172A"/>
                </a:solidFill>
                <a:latin typeface="Calibri"/>
              </a:rPr>
              <a:t>Realtime 1:1 chat</a:t>
            </a:r>
            <a:r>
              <a:rPr sz="1700" b="0" i="0">
                <a:solidFill>
                  <a:srgbClr val="1E293B"/>
                </a:solidFill>
                <a:latin typeface="Calibri"/>
              </a:rPr>
              <a:t> on every request — conversations are organised by exchange, not by contact list.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7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0F172A"/>
                </a:solidFill>
                <a:latin typeface="Calibri"/>
              </a:rPr>
              <a:t>1–5 star rating</a:t>
            </a:r>
            <a:r>
              <a:rPr sz="1700" b="0" i="0">
                <a:solidFill>
                  <a:srgbClr val="1E293B"/>
                </a:solidFill>
                <a:latin typeface="Calibri"/>
              </a:rPr>
              <a:t> left by both sides after a handover.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7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0F172A"/>
                </a:solidFill>
                <a:latin typeface="Calibri"/>
              </a:rPr>
              <a:t>“Trusted Sharer” badge</a:t>
            </a:r>
            <a:r>
              <a:rPr sz="1700" b="0" i="0">
                <a:solidFill>
                  <a:srgbClr val="1E293B"/>
                </a:solidFill>
                <a:latin typeface="Calibri"/>
              </a:rPr>
              <a:t> earned publicly on your profile once you've built up enough good ratings.</a:t>
            </a:r>
            <a:endParaRPr/>
          </a:p>
        </p:txBody>
      </p:sp>
      <p:sp>
        <p:nvSpPr>
          <p:cNvPr id="2059378162" name="Rounded Rectangle 5"/>
          <p:cNvSpPr/>
          <p:nvPr/>
        </p:nvSpPr>
        <p:spPr bwMode="auto">
          <a:xfrm>
            <a:off x="548640" y="4206240"/>
            <a:ext cx="11064240" cy="1371600"/>
          </a:xfrm>
          <a:prstGeom prst="roundRect">
            <a:avLst>
              <a:gd name="adj" fmla="val 45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8279193" name="Rectangle 6"/>
          <p:cNvSpPr/>
          <p:nvPr/>
        </p:nvSpPr>
        <p:spPr bwMode="auto">
          <a:xfrm>
            <a:off x="548640" y="4206240"/>
            <a:ext cx="50800" cy="13716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9167889" name="TextBox 7"/>
          <p:cNvSpPr txBox="1"/>
          <p:nvPr/>
        </p:nvSpPr>
        <p:spPr bwMode="auto">
          <a:xfrm>
            <a:off x="749808" y="4315968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50" b="1" i="0">
                <a:solidFill>
                  <a:srgbClr val="B45309"/>
                </a:solidFill>
                <a:latin typeface="Calibri"/>
              </a:rPr>
              <a:t>WHY THIS MATTERS AS MUCH AS THE BOOKS THEMSELVES</a:t>
            </a:r>
            <a:endParaRPr/>
          </a:p>
        </p:txBody>
      </p:sp>
      <p:sp>
        <p:nvSpPr>
          <p:cNvPr id="1474009576" name="TextBox 8"/>
          <p:cNvSpPr txBox="1"/>
          <p:nvPr/>
        </p:nvSpPr>
        <p:spPr bwMode="auto">
          <a:xfrm>
            <a:off x="749808" y="4608576"/>
            <a:ext cx="1068019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defRPr/>
            </a:pPr>
            <a:r>
              <a:rPr sz="1500" b="0" i="0">
                <a:solidFill>
                  <a:srgbClr val="0F172A"/>
                </a:solidFill>
                <a:latin typeface="Calibri"/>
              </a:rPr>
              <a:t>There's no escrow, no payment, no shipping carrier to blame if something goes wrong — reputation is the safety net.</a:t>
            </a:r>
            <a:endParaRPr/>
          </a:p>
        </p:txBody>
      </p:sp>
      <p:sp>
        <p:nvSpPr>
          <p:cNvPr id="349610954" name="TextBox 9"/>
          <p:cNvSpPr txBox="1"/>
          <p:nvPr/>
        </p:nvSpPr>
        <p:spPr bwMode="auto"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OLK — Open Library Kashmir</a:t>
            </a:r>
            <a:endParaRPr/>
          </a:p>
        </p:txBody>
      </p:sp>
      <p:sp>
        <p:nvSpPr>
          <p:cNvPr id="1498992771" name="TextBox 10"/>
          <p:cNvSpPr txBox="1"/>
          <p:nvPr/>
        </p:nvSpPr>
        <p:spPr bwMode="auto">
          <a:xfrm>
            <a:off x="8686800" y="6528816"/>
            <a:ext cx="2926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A Tour of the Platform   ·   8 / 37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988556" name="TextBox 1"/>
          <p:cNvSpPr txBox="1"/>
          <p:nvPr/>
        </p:nvSpPr>
        <p:spPr bwMode="auto"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14B8A6"/>
                </a:solidFill>
                <a:latin typeface="Calibri"/>
              </a:rPr>
              <a:t>A TOUR OF THE PLATFORM</a:t>
            </a:r>
            <a:endParaRPr/>
          </a:p>
        </p:txBody>
      </p:sp>
      <p:sp>
        <p:nvSpPr>
          <p:cNvPr id="3141480" name="TextBox 2"/>
          <p:cNvSpPr txBox="1"/>
          <p:nvPr/>
        </p:nvSpPr>
        <p:spPr bwMode="auto"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000" b="1" i="0">
                <a:solidFill>
                  <a:srgbClr val="0F172A"/>
                </a:solidFill>
                <a:latin typeface="Calibri"/>
              </a:rPr>
              <a:t>Can't find a book? Wishlist it.</a:t>
            </a:r>
            <a:endParaRPr/>
          </a:p>
        </p:txBody>
      </p:sp>
      <p:sp>
        <p:nvSpPr>
          <p:cNvPr id="884597393" name="Rectangle 3"/>
          <p:cNvSpPr/>
          <p:nvPr/>
        </p:nvSpPr>
        <p:spPr bwMode="auto">
          <a:xfrm>
            <a:off x="548640" y="1207008"/>
            <a:ext cx="914400" cy="40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7831838" name="Rounded Rectangle 4"/>
          <p:cNvSpPr/>
          <p:nvPr/>
        </p:nvSpPr>
        <p:spPr bwMode="auto">
          <a:xfrm>
            <a:off x="640080" y="1554480"/>
            <a:ext cx="3429000" cy="1097280"/>
          </a:xfrm>
          <a:prstGeom prst="roundRect">
            <a:avLst>
              <a:gd name="adj" fmla="val 12000"/>
            </a:avLst>
          </a:prstGeom>
          <a:solidFill>
            <a:srgbClr val="E6FBF8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>
              <a:defRPr/>
            </a:pPr>
            <a:r>
              <a:rPr sz="1350" b="1" i="0">
                <a:solidFill>
                  <a:srgbClr val="0F172A"/>
                </a:solidFill>
                <a:latin typeface="Calibri"/>
              </a:rPr>
              <a:t>You add a title</a:t>
            </a:r>
            <a:br>
              <a:rPr sz="1350" b="1" i="0">
                <a:solidFill>
                  <a:srgbClr val="0F172A"/>
                </a:solidFill>
                <a:latin typeface="Calibri"/>
              </a:rPr>
            </a:br>
            <a:r>
              <a:rPr sz="1350" b="1" i="0">
                <a:solidFill>
                  <a:srgbClr val="0F172A"/>
                </a:solidFill>
                <a:latin typeface="Calibri"/>
              </a:rPr>
              <a:t>to your wishlist</a:t>
            </a:r>
            <a:endParaRPr/>
          </a:p>
        </p:txBody>
      </p:sp>
      <p:cxnSp>
        <p:nvCxnSpPr>
          <p:cNvPr id="526878617" name="Connector 5"/>
          <p:cNvCxnSpPr/>
          <p:nvPr/>
        </p:nvCxnSpPr>
        <p:spPr bwMode="auto">
          <a:xfrm>
            <a:off x="4069080" y="2103120"/>
            <a:ext cx="411480" cy="0"/>
          </a:xfrm>
          <a:prstGeom prst="line">
            <a:avLst/>
          </a:prstGeom>
          <a:ln w="22225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1696062" name="Rounded Rectangle 6"/>
          <p:cNvSpPr/>
          <p:nvPr/>
        </p:nvSpPr>
        <p:spPr bwMode="auto">
          <a:xfrm>
            <a:off x="4480560" y="1554480"/>
            <a:ext cx="3429000" cy="1097280"/>
          </a:xfrm>
          <a:prstGeom prst="roundRect">
            <a:avLst>
              <a:gd name="adj" fmla="val 12000"/>
            </a:avLst>
          </a:prstGeom>
          <a:solidFill>
            <a:srgbClr val="E6FBF8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>
              <a:defRPr/>
            </a:pPr>
            <a:r>
              <a:rPr sz="1350" b="1" i="0">
                <a:solidFill>
                  <a:srgbClr val="0F172A"/>
                </a:solidFill>
                <a:latin typeface="Calibri"/>
              </a:rPr>
              <a:t>A stranger lists a copy,</a:t>
            </a:r>
            <a:br>
              <a:rPr sz="1350" b="1" i="0">
                <a:solidFill>
                  <a:srgbClr val="0F172A"/>
                </a:solidFill>
                <a:latin typeface="Calibri"/>
              </a:rPr>
            </a:br>
            <a:r>
              <a:rPr sz="1350" b="1" i="0">
                <a:solidFill>
                  <a:srgbClr val="0F172A"/>
                </a:solidFill>
                <a:latin typeface="Calibri"/>
              </a:rPr>
              <a:t>typed slightly differently</a:t>
            </a:r>
            <a:endParaRPr/>
          </a:p>
        </p:txBody>
      </p:sp>
      <p:cxnSp>
        <p:nvCxnSpPr>
          <p:cNvPr id="1364376543" name="Connector 7"/>
          <p:cNvCxnSpPr/>
          <p:nvPr/>
        </p:nvCxnSpPr>
        <p:spPr bwMode="auto">
          <a:xfrm>
            <a:off x="7909560" y="2103120"/>
            <a:ext cx="411480" cy="0"/>
          </a:xfrm>
          <a:prstGeom prst="line">
            <a:avLst/>
          </a:prstGeom>
          <a:ln w="22225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043321" name="Rounded Rectangle 8"/>
          <p:cNvSpPr/>
          <p:nvPr/>
        </p:nvSpPr>
        <p:spPr bwMode="auto">
          <a:xfrm>
            <a:off x="8321039" y="1554480"/>
            <a:ext cx="3429000" cy="1097280"/>
          </a:xfrm>
          <a:prstGeom prst="roundRect">
            <a:avLst>
              <a:gd name="adj" fmla="val 12000"/>
            </a:avLst>
          </a:prstGeom>
          <a:solidFill>
            <a:srgbClr val="E6FBF8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>
              <a:defRPr/>
            </a:pPr>
            <a:r>
              <a:rPr sz="1350" b="1" i="0">
                <a:solidFill>
                  <a:srgbClr val="0F172A"/>
                </a:solidFill>
                <a:latin typeface="Calibri"/>
              </a:rPr>
              <a:t>The platform matches</a:t>
            </a:r>
            <a:br>
              <a:rPr sz="1350" b="1" i="0">
                <a:solidFill>
                  <a:srgbClr val="0F172A"/>
                </a:solidFill>
                <a:latin typeface="Calibri"/>
              </a:rPr>
            </a:br>
            <a:r>
              <a:rPr sz="1350" b="1" i="0">
                <a:solidFill>
                  <a:srgbClr val="0F172A"/>
                </a:solidFill>
                <a:latin typeface="Calibri"/>
              </a:rPr>
              <a:t>&amp; notifies you automatically</a:t>
            </a:r>
            <a:endParaRPr/>
          </a:p>
        </p:txBody>
      </p:sp>
      <p:sp>
        <p:nvSpPr>
          <p:cNvPr id="858682438" name="Rounded Rectangle 9"/>
          <p:cNvSpPr/>
          <p:nvPr/>
        </p:nvSpPr>
        <p:spPr bwMode="auto">
          <a:xfrm>
            <a:off x="548640" y="3063240"/>
            <a:ext cx="11064240" cy="1417320"/>
          </a:xfrm>
          <a:prstGeom prst="roundRect">
            <a:avLst>
              <a:gd name="adj" fmla="val 4500"/>
            </a:avLst>
          </a:prstGeom>
          <a:solidFill>
            <a:srgbClr val="E6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6438843" name="Rectangle 10"/>
          <p:cNvSpPr/>
          <p:nvPr/>
        </p:nvSpPr>
        <p:spPr bwMode="auto">
          <a:xfrm>
            <a:off x="548640" y="3063240"/>
            <a:ext cx="50800" cy="14173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6428407" name="TextBox 11"/>
          <p:cNvSpPr txBox="1"/>
          <p:nvPr/>
        </p:nvSpPr>
        <p:spPr bwMode="auto">
          <a:xfrm>
            <a:off x="749808" y="3172968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50" b="1" i="0">
                <a:solidFill>
                  <a:srgbClr val="0D9488"/>
                </a:solidFill>
                <a:latin typeface="Calibri"/>
              </a:rPr>
              <a:t>“SMART” MATCHING, HONESTLY EXPLAINED</a:t>
            </a:r>
            <a:endParaRPr/>
          </a:p>
        </p:txBody>
      </p:sp>
      <p:sp>
        <p:nvSpPr>
          <p:cNvPr id="236052110" name="TextBox 12"/>
          <p:cNvSpPr txBox="1"/>
          <p:nvPr/>
        </p:nvSpPr>
        <p:spPr bwMode="auto">
          <a:xfrm>
            <a:off x="749808" y="3465576"/>
            <a:ext cx="1068019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defRPr/>
            </a:pPr>
            <a:r>
              <a:rPr sz="1500" b="0" i="0">
                <a:solidFill>
                  <a:srgbClr val="0F172A"/>
                </a:solidFill>
                <a:latin typeface="Calibri"/>
              </a:rPr>
              <a:t>It's a fuzzy text-similarity search across every user's wishlist, not just yours — something that needs a deliberate, careful piece of backend engineering to do safely (SECURITY DEFINER, covered later this talk).</a:t>
            </a:r>
            <a:endParaRPr/>
          </a:p>
        </p:txBody>
      </p:sp>
      <p:sp>
        <p:nvSpPr>
          <p:cNvPr id="1506009667" name="TextBox 13"/>
          <p:cNvSpPr txBox="1"/>
          <p:nvPr/>
        </p:nvSpPr>
        <p:spPr bwMode="auto"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OLK — Open Library Kashmir</a:t>
            </a:r>
            <a:endParaRPr/>
          </a:p>
        </p:txBody>
      </p:sp>
      <p:sp>
        <p:nvSpPr>
          <p:cNvPr id="396984621" name="TextBox 14"/>
          <p:cNvSpPr txBox="1"/>
          <p:nvPr/>
        </p:nvSpPr>
        <p:spPr bwMode="auto">
          <a:xfrm>
            <a:off x="8686800" y="6528816"/>
            <a:ext cx="2926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A Tour of the Platform   ·   9 / 37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609149" name="TextBox 1"/>
          <p:cNvSpPr txBox="1"/>
          <p:nvPr/>
        </p:nvSpPr>
        <p:spPr bwMode="auto"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14B8A6"/>
                </a:solidFill>
                <a:latin typeface="Calibri"/>
              </a:rPr>
              <a:t>A TOUR OF THE PLATFORM</a:t>
            </a:r>
            <a:endParaRPr/>
          </a:p>
        </p:txBody>
      </p:sp>
      <p:sp>
        <p:nvSpPr>
          <p:cNvPr id="661899527" name="TextBox 2"/>
          <p:cNvSpPr txBox="1"/>
          <p:nvPr/>
        </p:nvSpPr>
        <p:spPr bwMode="auto"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000" b="1" i="0">
                <a:solidFill>
                  <a:srgbClr val="0F172A"/>
                </a:solidFill>
                <a:latin typeface="Calibri"/>
              </a:rPr>
              <a:t>Reading clubs</a:t>
            </a:r>
            <a:endParaRPr/>
          </a:p>
        </p:txBody>
      </p:sp>
      <p:sp>
        <p:nvSpPr>
          <p:cNvPr id="706684859" name="Rectangle 3"/>
          <p:cNvSpPr/>
          <p:nvPr/>
        </p:nvSpPr>
        <p:spPr bwMode="auto">
          <a:xfrm>
            <a:off x="548640" y="1207008"/>
            <a:ext cx="914400" cy="40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1329466" name="TextBox 4"/>
          <p:cNvSpPr txBox="1"/>
          <p:nvPr/>
        </p:nvSpPr>
        <p:spPr bwMode="auto">
          <a:xfrm>
            <a:off x="548640" y="1508759"/>
            <a:ext cx="1060704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7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0F172A"/>
                </a:solidFill>
                <a:latin typeface="Calibri"/>
              </a:rPr>
              <a:t>Local, interest-based groups — each with its own location, so “nearby” applies to clubs too.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7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0F172A"/>
                </a:solidFill>
                <a:latin typeface="Calibri"/>
              </a:rPr>
              <a:t>Members post and discuss; membership and post counts stay accurate automatically.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7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0F172A"/>
                </a:solidFill>
                <a:latin typeface="Calibri"/>
              </a:rPr>
              <a:t>Gated on trust</a:t>
            </a:r>
            <a:r>
              <a:rPr sz="1700" b="0" i="0">
                <a:solidFill>
                  <a:srgbClr val="1E293B"/>
                </a:solidFill>
                <a:latin typeface="Calibri"/>
              </a:rPr>
              <a:t> — 5+ completed exchanges and a clean record before you can start one.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7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0F172A"/>
                </a:solidFill>
                <a:latin typeface="Calibri"/>
              </a:rPr>
              <a:t>Deleting a club is always a soft deactivation — never irreversible, even for the creator.</a:t>
            </a:r>
            <a:endParaRPr/>
          </a:p>
        </p:txBody>
      </p:sp>
      <p:sp>
        <p:nvSpPr>
          <p:cNvPr id="695093163" name="TextBox 5"/>
          <p:cNvSpPr txBox="1"/>
          <p:nvPr/>
        </p:nvSpPr>
        <p:spPr bwMode="auto"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OLK — Open Library Kashmir</a:t>
            </a:r>
            <a:endParaRPr/>
          </a:p>
        </p:txBody>
      </p:sp>
      <p:sp>
        <p:nvSpPr>
          <p:cNvPr id="139642830" name="TextBox 6"/>
          <p:cNvSpPr txBox="1"/>
          <p:nvPr/>
        </p:nvSpPr>
        <p:spPr bwMode="auto">
          <a:xfrm>
            <a:off x="8686800" y="6528816"/>
            <a:ext cx="2926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A Tour of the Platform   ·   10 / 37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7734344" name="TextBox 1"/>
          <p:cNvSpPr txBox="1"/>
          <p:nvPr/>
        </p:nvSpPr>
        <p:spPr bwMode="auto"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14B8A6"/>
                </a:solidFill>
                <a:latin typeface="Calibri"/>
              </a:rPr>
              <a:t>A TOUR OF THE PLATFORM</a:t>
            </a:r>
            <a:endParaRPr/>
          </a:p>
        </p:txBody>
      </p:sp>
      <p:sp>
        <p:nvSpPr>
          <p:cNvPr id="1731459814" name="TextBox 2"/>
          <p:cNvSpPr txBox="1"/>
          <p:nvPr/>
        </p:nvSpPr>
        <p:spPr bwMode="auto"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000" b="1" i="0">
                <a:solidFill>
                  <a:srgbClr val="0F172A"/>
                </a:solidFill>
                <a:latin typeface="Calibri"/>
              </a:rPr>
              <a:t>Staying informed</a:t>
            </a:r>
            <a:endParaRPr/>
          </a:p>
        </p:txBody>
      </p:sp>
      <p:sp>
        <p:nvSpPr>
          <p:cNvPr id="351761812" name="Rectangle 3"/>
          <p:cNvSpPr/>
          <p:nvPr/>
        </p:nvSpPr>
        <p:spPr bwMode="auto">
          <a:xfrm>
            <a:off x="548640" y="1207008"/>
            <a:ext cx="914400" cy="40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9156355" name="TextBox 4"/>
          <p:cNvSpPr txBox="1"/>
          <p:nvPr/>
        </p:nvSpPr>
        <p:spPr bwMode="auto">
          <a:xfrm>
            <a:off x="548640" y="1463040"/>
            <a:ext cx="106070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7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0F172A"/>
                </a:solidFill>
                <a:latin typeface="Calibri"/>
              </a:rPr>
              <a:t>Live notification bell</a:t>
            </a:r>
            <a:r>
              <a:rPr sz="1700" b="0" i="0">
                <a:solidFill>
                  <a:srgbClr val="1E293B"/>
                </a:solidFill>
                <a:latin typeface="Calibri"/>
              </a:rPr>
              <a:t> — requests, messages, ratings, club posts, admin notices.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7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0F172A"/>
                </a:solidFill>
                <a:latin typeface="Calibri"/>
              </a:rPr>
              <a:t>Opt-out weekly email digest</a:t>
            </a:r>
            <a:r>
              <a:rPr sz="1700" b="0" i="0">
                <a:solidFill>
                  <a:srgbClr val="1E293B"/>
                </a:solidFill>
                <a:latin typeface="Calibri"/>
              </a:rPr>
              <a:t> of new nearby books.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7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0F172A"/>
                </a:solidFill>
                <a:latin typeface="Calibri"/>
              </a:rPr>
              <a:t>Site-wide announcements banner and a curated Book of the Month.</a:t>
            </a:r>
            <a:endParaRPr/>
          </a:p>
        </p:txBody>
      </p:sp>
      <p:sp>
        <p:nvSpPr>
          <p:cNvPr id="620900033" name="Rounded Rectangle 5"/>
          <p:cNvSpPr/>
          <p:nvPr/>
        </p:nvSpPr>
        <p:spPr bwMode="auto">
          <a:xfrm>
            <a:off x="548640" y="4114800"/>
            <a:ext cx="11064240" cy="1371600"/>
          </a:xfrm>
          <a:prstGeom prst="roundRect">
            <a:avLst>
              <a:gd name="adj" fmla="val 4500"/>
            </a:avLst>
          </a:prstGeom>
          <a:solidFill>
            <a:srgbClr val="E6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0549757" name="Rectangle 6"/>
          <p:cNvSpPr/>
          <p:nvPr/>
        </p:nvSpPr>
        <p:spPr bwMode="auto">
          <a:xfrm>
            <a:off x="548640" y="4114800"/>
            <a:ext cx="50800" cy="13716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547640" name="TextBox 7"/>
          <p:cNvSpPr txBox="1"/>
          <p:nvPr/>
        </p:nvSpPr>
        <p:spPr bwMode="auto">
          <a:xfrm>
            <a:off x="749808" y="4224528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50" b="1" i="0">
                <a:solidFill>
                  <a:srgbClr val="0D9488"/>
                </a:solidFill>
                <a:latin typeface="Calibri"/>
              </a:rPr>
              <a:t>ONE SWITCH, WHOLE PLATFORM</a:t>
            </a:r>
            <a:endParaRPr/>
          </a:p>
        </p:txBody>
      </p:sp>
      <p:sp>
        <p:nvSpPr>
          <p:cNvPr id="554474811" name="TextBox 8"/>
          <p:cNvSpPr txBox="1"/>
          <p:nvPr/>
        </p:nvSpPr>
        <p:spPr bwMode="auto">
          <a:xfrm>
            <a:off x="749808" y="4517136"/>
            <a:ext cx="1068019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defRPr/>
            </a:pPr>
            <a:r>
              <a:rPr sz="1500" b="0" i="0">
                <a:solidFill>
                  <a:srgbClr val="0F172A"/>
                </a:solidFill>
                <a:latin typeface="Calibri"/>
              </a:rPr>
              <a:t>Admins can turn Clubs, Wishlists, Messages, or Ratings on or off for everyone, instantly — and put the entire site into maintenance mode — with no redeploy, no code change.</a:t>
            </a:r>
            <a:endParaRPr/>
          </a:p>
        </p:txBody>
      </p:sp>
      <p:sp>
        <p:nvSpPr>
          <p:cNvPr id="1484752546" name="TextBox 9"/>
          <p:cNvSpPr txBox="1"/>
          <p:nvPr/>
        </p:nvSpPr>
        <p:spPr bwMode="auto"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OLK — Open Library Kashmir</a:t>
            </a:r>
            <a:endParaRPr/>
          </a:p>
        </p:txBody>
      </p:sp>
      <p:sp>
        <p:nvSpPr>
          <p:cNvPr id="1317251687" name="TextBox 10"/>
          <p:cNvSpPr txBox="1"/>
          <p:nvPr/>
        </p:nvSpPr>
        <p:spPr bwMode="auto">
          <a:xfrm>
            <a:off x="8686800" y="6528816"/>
            <a:ext cx="2926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A Tour of the Platform   ·   11 / 37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4981354" name="TextBox 1"/>
          <p:cNvSpPr txBox="1"/>
          <p:nvPr/>
        </p:nvSpPr>
        <p:spPr bwMode="auto"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14B8A6"/>
                </a:solidFill>
                <a:latin typeface="Calibri"/>
              </a:rPr>
              <a:t>A TOUR OF THE PLATFORM</a:t>
            </a:r>
            <a:endParaRPr/>
          </a:p>
        </p:txBody>
      </p:sp>
      <p:sp>
        <p:nvSpPr>
          <p:cNvPr id="1664297300" name="TextBox 2"/>
          <p:cNvSpPr txBox="1"/>
          <p:nvPr/>
        </p:nvSpPr>
        <p:spPr bwMode="auto"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000" b="1" i="0">
                <a:solidFill>
                  <a:srgbClr val="0F172A"/>
                </a:solidFill>
                <a:latin typeface="Calibri"/>
              </a:rPr>
              <a:t>Keeping the community safe</a:t>
            </a:r>
            <a:endParaRPr/>
          </a:p>
        </p:txBody>
      </p:sp>
      <p:sp>
        <p:nvSpPr>
          <p:cNvPr id="381971868" name="Rectangle 3"/>
          <p:cNvSpPr/>
          <p:nvPr/>
        </p:nvSpPr>
        <p:spPr bwMode="auto">
          <a:xfrm>
            <a:off x="548640" y="1207008"/>
            <a:ext cx="914400" cy="40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1752024" name="TextBox 4"/>
          <p:cNvSpPr txBox="1"/>
          <p:nvPr/>
        </p:nvSpPr>
        <p:spPr bwMode="auto">
          <a:xfrm>
            <a:off x="548640" y="1508759"/>
            <a:ext cx="106070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65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0F172A"/>
                </a:solidFill>
                <a:latin typeface="Calibri"/>
              </a:rPr>
              <a:t>Anyone can report a user or a book, any time.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65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0F172A"/>
                </a:solidFill>
                <a:latin typeface="Calibri"/>
              </a:rPr>
              <a:t>Moderators triage: categorise, assign, resolve, or act in one click — ban, warn, hide.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65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650" b="1" i="0">
                <a:solidFill>
                  <a:srgbClr val="0F172A"/>
                </a:solidFill>
                <a:latin typeface="Calibri"/>
              </a:rPr>
              <a:t>Every moderation action</a:t>
            </a:r>
            <a:r>
              <a:rPr sz="1650" b="0" i="0">
                <a:solidFill>
                  <a:srgbClr val="1E293B"/>
                </a:solidFill>
                <a:latin typeface="Calibri"/>
              </a:rPr>
              <a:t> — who, what, why, when — is written to a permanent, tamper-evident audit log that not even a super-admin can edit or delete.</a:t>
            </a:r>
            <a:endParaRPr/>
          </a:p>
        </p:txBody>
      </p:sp>
      <p:sp>
        <p:nvSpPr>
          <p:cNvPr id="181787290" name="TextBox 5"/>
          <p:cNvSpPr txBox="1"/>
          <p:nvPr/>
        </p:nvSpPr>
        <p:spPr bwMode="auto"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OLK — Open Library Kashmir</a:t>
            </a:r>
            <a:endParaRPr/>
          </a:p>
        </p:txBody>
      </p:sp>
      <p:sp>
        <p:nvSpPr>
          <p:cNvPr id="2100518660" name="TextBox 6"/>
          <p:cNvSpPr txBox="1"/>
          <p:nvPr/>
        </p:nvSpPr>
        <p:spPr bwMode="auto">
          <a:xfrm>
            <a:off x="8686800" y="6528816"/>
            <a:ext cx="2926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A Tour of the Platform   ·   12 / 37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2330899" name="Rectangle 1"/>
          <p:cNvSpPr/>
          <p:nvPr/>
        </p:nvSpPr>
        <p:spPr bwMode="auto">
          <a:xfrm>
            <a:off x="0" y="3931920"/>
            <a:ext cx="12191695" cy="29260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7038754" name="Freeform 2"/>
          <p:cNvSpPr/>
          <p:nvPr/>
        </p:nvSpPr>
        <p:spPr bwMode="auto">
          <a:xfrm>
            <a:off x="0" y="4517136"/>
            <a:ext cx="12191695" cy="2340864"/>
          </a:xfrm>
          <a:custGeom>
            <a:avLst/>
            <a:gdLst/>
            <a:ahLst/>
            <a:cxnLst/>
            <a:rect l="l" t="t" r="r" b="b"/>
            <a:pathLst>
              <a:path w="12191695" h="2340864" fill="norm" stroke="1" extrusionOk="0">
                <a:moveTo>
                  <a:pt x="0" y="2340864"/>
                </a:moveTo>
                <a:lnTo>
                  <a:pt x="0" y="1024128"/>
                </a:lnTo>
                <a:lnTo>
                  <a:pt x="1706837" y="292608"/>
                </a:lnTo>
                <a:lnTo>
                  <a:pt x="3291758" y="877824"/>
                </a:lnTo>
                <a:lnTo>
                  <a:pt x="5120512" y="58522"/>
                </a:lnTo>
                <a:lnTo>
                  <a:pt x="7071183" y="819302"/>
                </a:lnTo>
                <a:lnTo>
                  <a:pt x="9021854" y="0"/>
                </a:lnTo>
                <a:lnTo>
                  <a:pt x="10972526" y="760781"/>
                </a:lnTo>
                <a:lnTo>
                  <a:pt x="12191695" y="234086"/>
                </a:lnTo>
                <a:lnTo>
                  <a:pt x="12191695" y="2340864"/>
                </a:lnTo>
                <a:lnTo>
                  <a:pt x="0" y="2340864"/>
                </a:lnTo>
                <a:close/>
              </a:path>
            </a:pathLst>
          </a:cu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8516304" name="Freeform 3"/>
          <p:cNvSpPr/>
          <p:nvPr/>
        </p:nvSpPr>
        <p:spPr bwMode="auto">
          <a:xfrm>
            <a:off x="0" y="5219395"/>
            <a:ext cx="12191695" cy="1638605"/>
          </a:xfrm>
          <a:custGeom>
            <a:avLst/>
            <a:gdLst/>
            <a:ahLst/>
            <a:cxnLst/>
            <a:rect l="l" t="t" r="r" b="b"/>
            <a:pathLst>
              <a:path w="12191695" h="1638605" fill="norm" stroke="1" extrusionOk="0">
                <a:moveTo>
                  <a:pt x="0" y="1638605"/>
                </a:moveTo>
                <a:lnTo>
                  <a:pt x="0" y="907085"/>
                </a:lnTo>
                <a:lnTo>
                  <a:pt x="1219170" y="234087"/>
                </a:lnTo>
                <a:lnTo>
                  <a:pt x="2682173" y="702259"/>
                </a:lnTo>
                <a:lnTo>
                  <a:pt x="4389010" y="58522"/>
                </a:lnTo>
                <a:lnTo>
                  <a:pt x="6095848" y="760781"/>
                </a:lnTo>
                <a:lnTo>
                  <a:pt x="7802685" y="0"/>
                </a:lnTo>
                <a:lnTo>
                  <a:pt x="9509522" y="760781"/>
                </a:lnTo>
                <a:lnTo>
                  <a:pt x="11216359" y="117043"/>
                </a:lnTo>
                <a:lnTo>
                  <a:pt x="12191695" y="526695"/>
                </a:lnTo>
                <a:lnTo>
                  <a:pt x="12191695" y="1638605"/>
                </a:lnTo>
                <a:lnTo>
                  <a:pt x="0" y="1638605"/>
                </a:lnTo>
                <a:close/>
              </a:path>
            </a:pathLst>
          </a:cu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1221230" name="Oval 4"/>
          <p:cNvSpPr/>
          <p:nvPr/>
        </p:nvSpPr>
        <p:spPr bwMode="auto">
          <a:xfrm>
            <a:off x="1950671" y="4458614"/>
            <a:ext cx="310896" cy="310896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5984269" name="Rectangle 5"/>
          <p:cNvSpPr/>
          <p:nvPr/>
        </p:nvSpPr>
        <p:spPr bwMode="auto">
          <a:xfrm>
            <a:off x="0" y="5160873"/>
            <a:ext cx="12191695" cy="330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4540956" name="TextBox 6"/>
          <p:cNvSpPr txBox="1"/>
          <p:nvPr/>
        </p:nvSpPr>
        <p:spPr bwMode="auto">
          <a:xfrm>
            <a:off x="822960" y="9144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500" b="1" i="0">
                <a:solidFill>
                  <a:srgbClr val="2DD4BF"/>
                </a:solidFill>
                <a:latin typeface="Calibri"/>
              </a:rPr>
              <a:t>PART 3 / 5</a:t>
            </a:r>
            <a:endParaRPr/>
          </a:p>
        </p:txBody>
      </p:sp>
      <p:sp>
        <p:nvSpPr>
          <p:cNvPr id="1925604238" name="TextBox 7"/>
          <p:cNvSpPr txBox="1"/>
          <p:nvPr/>
        </p:nvSpPr>
        <p:spPr bwMode="auto">
          <a:xfrm>
            <a:off x="777240" y="137160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4400" b="1" i="0">
                <a:solidFill>
                  <a:srgbClr val="FFFFFF"/>
                </a:solidFill>
                <a:latin typeface="Calibri"/>
              </a:rPr>
              <a:t>Tech Stack at a Glance</a:t>
            </a:r>
            <a:endParaRPr/>
          </a:p>
        </p:txBody>
      </p:sp>
      <p:sp>
        <p:nvSpPr>
          <p:cNvPr id="106797105" name="TextBox 8"/>
          <p:cNvSpPr txBox="1"/>
          <p:nvPr/>
        </p:nvSpPr>
        <p:spPr bwMode="auto">
          <a:xfrm>
            <a:off x="822960" y="251460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b="0" i="0">
                <a:solidFill>
                  <a:srgbClr val="CBD5E1"/>
                </a:solidFill>
                <a:latin typeface="Calibri"/>
              </a:rPr>
              <a:t>What it's built with, and why — deliberately small, deliberately open.</a:t>
            </a:r>
            <a:endParaRPr/>
          </a:p>
        </p:txBody>
      </p:sp>
      <p:sp>
        <p:nvSpPr>
          <p:cNvPr id="1942672050" name="Oval 9"/>
          <p:cNvSpPr/>
          <p:nvPr/>
        </p:nvSpPr>
        <p:spPr bwMode="auto">
          <a:xfrm>
            <a:off x="822960" y="3246120"/>
            <a:ext cx="182880" cy="18288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3151273" name="Oval 10"/>
          <p:cNvSpPr/>
          <p:nvPr/>
        </p:nvSpPr>
        <p:spPr bwMode="auto">
          <a:xfrm>
            <a:off x="1115568" y="3246120"/>
            <a:ext cx="182880" cy="18288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53394338" name="Oval 11"/>
          <p:cNvSpPr/>
          <p:nvPr/>
        </p:nvSpPr>
        <p:spPr bwMode="auto">
          <a:xfrm>
            <a:off x="1408176" y="3246120"/>
            <a:ext cx="182880" cy="18288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5000480" name="Oval 12"/>
          <p:cNvSpPr/>
          <p:nvPr/>
        </p:nvSpPr>
        <p:spPr bwMode="auto">
          <a:xfrm>
            <a:off x="1700784" y="3246120"/>
            <a:ext cx="182880" cy="182880"/>
          </a:xfrm>
          <a:prstGeom prst="ellipse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1874576" name="Oval 13"/>
          <p:cNvSpPr/>
          <p:nvPr/>
        </p:nvSpPr>
        <p:spPr bwMode="auto">
          <a:xfrm>
            <a:off x="1993392" y="3246120"/>
            <a:ext cx="182880" cy="182880"/>
          </a:xfrm>
          <a:prstGeom prst="ellipse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558250" name="TextBox 1"/>
          <p:cNvSpPr txBox="1"/>
          <p:nvPr/>
        </p:nvSpPr>
        <p:spPr bwMode="auto"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14B8A6"/>
                </a:solidFill>
                <a:latin typeface="Calibri"/>
              </a:rPr>
              <a:t>TECH STACK AT A GLANCE</a:t>
            </a:r>
            <a:endParaRPr/>
          </a:p>
        </p:txBody>
      </p:sp>
      <p:sp>
        <p:nvSpPr>
          <p:cNvPr id="1968937512" name="TextBox 2"/>
          <p:cNvSpPr txBox="1"/>
          <p:nvPr/>
        </p:nvSpPr>
        <p:spPr bwMode="auto"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000" b="1" i="0">
                <a:solidFill>
                  <a:srgbClr val="0F172A"/>
                </a:solidFill>
                <a:latin typeface="Calibri"/>
              </a:rPr>
              <a:t>The stack, top to bottom</a:t>
            </a:r>
            <a:endParaRPr/>
          </a:p>
        </p:txBody>
      </p:sp>
      <p:sp>
        <p:nvSpPr>
          <p:cNvPr id="1860926530" name="Rectangle 3"/>
          <p:cNvSpPr/>
          <p:nvPr/>
        </p:nvSpPr>
        <p:spPr bwMode="auto">
          <a:xfrm>
            <a:off x="548640" y="1207008"/>
            <a:ext cx="914400" cy="40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8824557" name="Rectangle 4"/>
          <p:cNvSpPr/>
          <p:nvPr/>
        </p:nvSpPr>
        <p:spPr bwMode="auto">
          <a:xfrm>
            <a:off x="548640" y="1508759"/>
            <a:ext cx="11064240" cy="4572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7220355" name="TextBox 5"/>
          <p:cNvSpPr txBox="1"/>
          <p:nvPr/>
        </p:nvSpPr>
        <p:spPr bwMode="auto">
          <a:xfrm>
            <a:off x="777240" y="1591056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FFFFFF"/>
                </a:solidFill>
                <a:latin typeface="Calibri"/>
              </a:rPr>
              <a:t>LAYER</a:t>
            </a:r>
            <a:endParaRPr/>
          </a:p>
        </p:txBody>
      </p:sp>
      <p:sp>
        <p:nvSpPr>
          <p:cNvPr id="520154308" name="TextBox 6"/>
          <p:cNvSpPr txBox="1"/>
          <p:nvPr/>
        </p:nvSpPr>
        <p:spPr bwMode="auto">
          <a:xfrm>
            <a:off x="3108960" y="1591056"/>
            <a:ext cx="30175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FFFFFF"/>
                </a:solidFill>
                <a:latin typeface="Calibri"/>
              </a:rPr>
              <a:t>TECHNOLOGY</a:t>
            </a:r>
            <a:endParaRPr/>
          </a:p>
        </p:txBody>
      </p:sp>
      <p:sp>
        <p:nvSpPr>
          <p:cNvPr id="1872197898" name="TextBox 7"/>
          <p:cNvSpPr txBox="1"/>
          <p:nvPr/>
        </p:nvSpPr>
        <p:spPr bwMode="auto">
          <a:xfrm>
            <a:off x="6309360" y="1591056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FFFFFF"/>
                </a:solidFill>
                <a:latin typeface="Calibri"/>
              </a:rPr>
              <a:t>ROLE</a:t>
            </a:r>
            <a:endParaRPr/>
          </a:p>
        </p:txBody>
      </p:sp>
      <p:sp>
        <p:nvSpPr>
          <p:cNvPr id="773952312" name="Rectangle 8"/>
          <p:cNvSpPr/>
          <p:nvPr/>
        </p:nvSpPr>
        <p:spPr bwMode="auto">
          <a:xfrm>
            <a:off x="548640" y="1965960"/>
            <a:ext cx="110642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06621254" name="TextBox 9"/>
          <p:cNvSpPr txBox="1"/>
          <p:nvPr/>
        </p:nvSpPr>
        <p:spPr bwMode="auto">
          <a:xfrm>
            <a:off x="777240" y="2066544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0F172A"/>
                </a:solidFill>
                <a:latin typeface="Calibri"/>
              </a:rPr>
              <a:t>Hosting</a:t>
            </a:r>
            <a:endParaRPr/>
          </a:p>
        </p:txBody>
      </p:sp>
      <p:sp>
        <p:nvSpPr>
          <p:cNvPr id="146529492" name="TextBox 10"/>
          <p:cNvSpPr txBox="1"/>
          <p:nvPr/>
        </p:nvSpPr>
        <p:spPr bwMode="auto">
          <a:xfrm>
            <a:off x="3108960" y="2066544"/>
            <a:ext cx="30175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50" b="1" i="0">
                <a:solidFill>
                  <a:srgbClr val="0D9488"/>
                </a:solidFill>
                <a:latin typeface="Calibri"/>
              </a:rPr>
              <a:t>Vercel</a:t>
            </a:r>
            <a:endParaRPr/>
          </a:p>
        </p:txBody>
      </p:sp>
      <p:sp>
        <p:nvSpPr>
          <p:cNvPr id="2098303126" name="TextBox 11"/>
          <p:cNvSpPr txBox="1"/>
          <p:nvPr/>
        </p:nvSpPr>
        <p:spPr bwMode="auto">
          <a:xfrm>
            <a:off x="6309360" y="2066544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b="0" i="0">
                <a:solidFill>
                  <a:srgbClr val="1E293B"/>
                </a:solidFill>
                <a:latin typeface="Calibri"/>
              </a:rPr>
              <a:t>Builds &amp; serves the app; runs the weekly digest cron</a:t>
            </a:r>
            <a:endParaRPr/>
          </a:p>
        </p:txBody>
      </p:sp>
      <p:sp>
        <p:nvSpPr>
          <p:cNvPr id="181744616" name="Rectangle 12"/>
          <p:cNvSpPr/>
          <p:nvPr/>
        </p:nvSpPr>
        <p:spPr bwMode="auto">
          <a:xfrm>
            <a:off x="548640" y="2468880"/>
            <a:ext cx="11064240" cy="502920"/>
          </a:xfrm>
          <a:prstGeom prst="rect">
            <a:avLst/>
          </a:prstGeom>
          <a:solidFill>
            <a:srgbClr val="E6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1144888" name="TextBox 13"/>
          <p:cNvSpPr txBox="1"/>
          <p:nvPr/>
        </p:nvSpPr>
        <p:spPr bwMode="auto">
          <a:xfrm>
            <a:off x="777240" y="2569464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0F172A"/>
                </a:solidFill>
                <a:latin typeface="Calibri"/>
              </a:rPr>
              <a:t>Framework</a:t>
            </a:r>
            <a:endParaRPr/>
          </a:p>
        </p:txBody>
      </p:sp>
      <p:sp>
        <p:nvSpPr>
          <p:cNvPr id="1077998094" name="TextBox 14"/>
          <p:cNvSpPr txBox="1"/>
          <p:nvPr/>
        </p:nvSpPr>
        <p:spPr bwMode="auto">
          <a:xfrm>
            <a:off x="3108960" y="2569464"/>
            <a:ext cx="30175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50" b="1" i="0">
                <a:solidFill>
                  <a:srgbClr val="0D9488"/>
                </a:solidFill>
                <a:latin typeface="Calibri"/>
              </a:rPr>
              <a:t>Next.js 16 (App Router)</a:t>
            </a:r>
            <a:endParaRPr/>
          </a:p>
        </p:txBody>
      </p:sp>
      <p:sp>
        <p:nvSpPr>
          <p:cNvPr id="2082364697" name="TextBox 15"/>
          <p:cNvSpPr txBox="1"/>
          <p:nvPr/>
        </p:nvSpPr>
        <p:spPr bwMode="auto">
          <a:xfrm>
            <a:off x="6309360" y="2569464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b="0" i="0">
                <a:solidFill>
                  <a:srgbClr val="1E293B"/>
                </a:solidFill>
                <a:latin typeface="Calibri"/>
              </a:rPr>
              <a:t>Routing, Server Components, Server Actions</a:t>
            </a:r>
            <a:endParaRPr/>
          </a:p>
        </p:txBody>
      </p:sp>
      <p:sp>
        <p:nvSpPr>
          <p:cNvPr id="1294389961" name="Rectangle 16"/>
          <p:cNvSpPr/>
          <p:nvPr/>
        </p:nvSpPr>
        <p:spPr bwMode="auto">
          <a:xfrm>
            <a:off x="548640" y="2971800"/>
            <a:ext cx="110642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8036677" name="TextBox 17"/>
          <p:cNvSpPr txBox="1"/>
          <p:nvPr/>
        </p:nvSpPr>
        <p:spPr bwMode="auto">
          <a:xfrm>
            <a:off x="777240" y="3072384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0F172A"/>
                </a:solidFill>
                <a:latin typeface="Calibri"/>
              </a:rPr>
              <a:t>UI runtime</a:t>
            </a:r>
            <a:endParaRPr/>
          </a:p>
        </p:txBody>
      </p:sp>
      <p:sp>
        <p:nvSpPr>
          <p:cNvPr id="925381276" name="TextBox 18"/>
          <p:cNvSpPr txBox="1"/>
          <p:nvPr/>
        </p:nvSpPr>
        <p:spPr bwMode="auto">
          <a:xfrm>
            <a:off x="3108960" y="3072384"/>
            <a:ext cx="30175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50" b="1" i="0">
                <a:solidFill>
                  <a:srgbClr val="0D9488"/>
                </a:solidFill>
                <a:latin typeface="Calibri"/>
              </a:rPr>
              <a:t>React 19</a:t>
            </a:r>
            <a:endParaRPr/>
          </a:p>
        </p:txBody>
      </p:sp>
      <p:sp>
        <p:nvSpPr>
          <p:cNvPr id="356491147" name="TextBox 19"/>
          <p:cNvSpPr txBox="1"/>
          <p:nvPr/>
        </p:nvSpPr>
        <p:spPr bwMode="auto">
          <a:xfrm>
            <a:off x="6309360" y="3072384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b="0" i="0">
                <a:solidFill>
                  <a:srgbClr val="1E293B"/>
                </a:solidFill>
                <a:latin typeface="Calibri"/>
              </a:rPr>
              <a:t>Server/Client component model</a:t>
            </a:r>
            <a:endParaRPr/>
          </a:p>
        </p:txBody>
      </p:sp>
      <p:sp>
        <p:nvSpPr>
          <p:cNvPr id="1104913212" name="Rectangle 20"/>
          <p:cNvSpPr/>
          <p:nvPr/>
        </p:nvSpPr>
        <p:spPr bwMode="auto">
          <a:xfrm>
            <a:off x="548640" y="3474720"/>
            <a:ext cx="11064240" cy="502920"/>
          </a:xfrm>
          <a:prstGeom prst="rect">
            <a:avLst/>
          </a:prstGeom>
          <a:solidFill>
            <a:srgbClr val="E6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38796652" name="TextBox 21"/>
          <p:cNvSpPr txBox="1"/>
          <p:nvPr/>
        </p:nvSpPr>
        <p:spPr bwMode="auto">
          <a:xfrm>
            <a:off x="777240" y="3575303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0F172A"/>
                </a:solidFill>
                <a:latin typeface="Calibri"/>
              </a:rPr>
              <a:t>Language</a:t>
            </a:r>
            <a:endParaRPr/>
          </a:p>
        </p:txBody>
      </p:sp>
      <p:sp>
        <p:nvSpPr>
          <p:cNvPr id="888218319" name="TextBox 22"/>
          <p:cNvSpPr txBox="1"/>
          <p:nvPr/>
        </p:nvSpPr>
        <p:spPr bwMode="auto">
          <a:xfrm>
            <a:off x="3108960" y="3575303"/>
            <a:ext cx="30175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50" b="1" i="0">
                <a:solidFill>
                  <a:srgbClr val="0D9488"/>
                </a:solidFill>
                <a:latin typeface="Calibri"/>
              </a:rPr>
              <a:t>TypeScript (strict)</a:t>
            </a:r>
            <a:endParaRPr/>
          </a:p>
        </p:txBody>
      </p:sp>
      <p:sp>
        <p:nvSpPr>
          <p:cNvPr id="2077939475" name="TextBox 23"/>
          <p:cNvSpPr txBox="1"/>
          <p:nvPr/>
        </p:nvSpPr>
        <p:spPr bwMode="auto">
          <a:xfrm>
            <a:off x="6309360" y="3575303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b="0" i="0">
                <a:solidFill>
                  <a:srgbClr val="1E293B"/>
                </a:solidFill>
                <a:latin typeface="Calibri"/>
              </a:rPr>
              <a:t>All application code</a:t>
            </a:r>
            <a:endParaRPr/>
          </a:p>
        </p:txBody>
      </p:sp>
      <p:sp>
        <p:nvSpPr>
          <p:cNvPr id="75339792" name="Rectangle 24"/>
          <p:cNvSpPr/>
          <p:nvPr/>
        </p:nvSpPr>
        <p:spPr bwMode="auto">
          <a:xfrm>
            <a:off x="548640" y="3977640"/>
            <a:ext cx="110642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2055029" name="TextBox 25"/>
          <p:cNvSpPr txBox="1"/>
          <p:nvPr/>
        </p:nvSpPr>
        <p:spPr bwMode="auto">
          <a:xfrm>
            <a:off x="777240" y="4078224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0F172A"/>
                </a:solidFill>
                <a:latin typeface="Calibri"/>
              </a:rPr>
              <a:t>Styling</a:t>
            </a:r>
            <a:endParaRPr/>
          </a:p>
        </p:txBody>
      </p:sp>
      <p:sp>
        <p:nvSpPr>
          <p:cNvPr id="1900367682" name="TextBox 26"/>
          <p:cNvSpPr txBox="1"/>
          <p:nvPr/>
        </p:nvSpPr>
        <p:spPr bwMode="auto">
          <a:xfrm>
            <a:off x="3108960" y="4078224"/>
            <a:ext cx="30175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50" b="1" i="0">
                <a:solidFill>
                  <a:srgbClr val="0D9488"/>
                </a:solidFill>
                <a:latin typeface="Calibri"/>
              </a:rPr>
              <a:t>Tailwind CSS v4</a:t>
            </a:r>
            <a:endParaRPr/>
          </a:p>
        </p:txBody>
      </p:sp>
      <p:sp>
        <p:nvSpPr>
          <p:cNvPr id="1858858780" name="TextBox 27"/>
          <p:cNvSpPr txBox="1"/>
          <p:nvPr/>
        </p:nvSpPr>
        <p:spPr bwMode="auto">
          <a:xfrm>
            <a:off x="6309360" y="4078224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b="0" i="0">
                <a:solidFill>
                  <a:srgbClr val="1E293B"/>
                </a:solidFill>
                <a:latin typeface="Calibri"/>
              </a:rPr>
              <a:t>Utility classes, no component library</a:t>
            </a:r>
            <a:endParaRPr/>
          </a:p>
        </p:txBody>
      </p:sp>
      <p:sp>
        <p:nvSpPr>
          <p:cNvPr id="547579415" name="Rectangle 28"/>
          <p:cNvSpPr/>
          <p:nvPr/>
        </p:nvSpPr>
        <p:spPr bwMode="auto">
          <a:xfrm>
            <a:off x="548640" y="4480560"/>
            <a:ext cx="11064240" cy="502920"/>
          </a:xfrm>
          <a:prstGeom prst="rect">
            <a:avLst/>
          </a:prstGeom>
          <a:solidFill>
            <a:srgbClr val="E6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3345114" name="TextBox 29"/>
          <p:cNvSpPr txBox="1"/>
          <p:nvPr/>
        </p:nvSpPr>
        <p:spPr bwMode="auto">
          <a:xfrm>
            <a:off x="777240" y="4581144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0F172A"/>
                </a:solidFill>
                <a:latin typeface="Calibri"/>
              </a:rPr>
              <a:t>Backend</a:t>
            </a:r>
            <a:endParaRPr/>
          </a:p>
        </p:txBody>
      </p:sp>
      <p:sp>
        <p:nvSpPr>
          <p:cNvPr id="1571453697" name="TextBox 30"/>
          <p:cNvSpPr txBox="1"/>
          <p:nvPr/>
        </p:nvSpPr>
        <p:spPr bwMode="auto">
          <a:xfrm>
            <a:off x="3108960" y="4581144"/>
            <a:ext cx="30175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50" b="1" i="0">
                <a:solidFill>
                  <a:srgbClr val="0D9488"/>
                </a:solidFill>
                <a:latin typeface="Calibri"/>
              </a:rPr>
              <a:t>Supabase</a:t>
            </a:r>
            <a:endParaRPr/>
          </a:p>
        </p:txBody>
      </p:sp>
      <p:sp>
        <p:nvSpPr>
          <p:cNvPr id="843715492" name="TextBox 31"/>
          <p:cNvSpPr txBox="1"/>
          <p:nvPr/>
        </p:nvSpPr>
        <p:spPr bwMode="auto">
          <a:xfrm>
            <a:off x="6309360" y="4581144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b="0" i="0">
                <a:solidFill>
                  <a:srgbClr val="1E293B"/>
                </a:solidFill>
                <a:latin typeface="Calibri"/>
              </a:rPr>
              <a:t>Postgres, Auth, REST API, Realtime, Storage</a:t>
            </a:r>
            <a:endParaRPr/>
          </a:p>
        </p:txBody>
      </p:sp>
      <p:sp>
        <p:nvSpPr>
          <p:cNvPr id="1642198574" name="Rectangle 32"/>
          <p:cNvSpPr/>
          <p:nvPr/>
        </p:nvSpPr>
        <p:spPr bwMode="auto">
          <a:xfrm>
            <a:off x="548640" y="4983480"/>
            <a:ext cx="110642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59834572" name="TextBox 33"/>
          <p:cNvSpPr txBox="1"/>
          <p:nvPr/>
        </p:nvSpPr>
        <p:spPr bwMode="auto">
          <a:xfrm>
            <a:off x="777240" y="5084064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0F172A"/>
                </a:solidFill>
                <a:latin typeface="Calibri"/>
              </a:rPr>
              <a:t>Local dev</a:t>
            </a:r>
            <a:endParaRPr/>
          </a:p>
        </p:txBody>
      </p:sp>
      <p:sp>
        <p:nvSpPr>
          <p:cNvPr id="1909500910" name="TextBox 34"/>
          <p:cNvSpPr txBox="1"/>
          <p:nvPr/>
        </p:nvSpPr>
        <p:spPr bwMode="auto">
          <a:xfrm>
            <a:off x="3108960" y="5084064"/>
            <a:ext cx="30175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50" b="1" i="0">
                <a:solidFill>
                  <a:srgbClr val="0D9488"/>
                </a:solidFill>
                <a:latin typeface="Calibri"/>
              </a:rPr>
              <a:t>Docker (Supabase CLI)</a:t>
            </a:r>
            <a:endParaRPr/>
          </a:p>
        </p:txBody>
      </p:sp>
      <p:sp>
        <p:nvSpPr>
          <p:cNvPr id="1190326611" name="TextBox 35"/>
          <p:cNvSpPr txBox="1"/>
          <p:nvPr/>
        </p:nvSpPr>
        <p:spPr bwMode="auto">
          <a:xfrm>
            <a:off x="6309360" y="5084064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b="0" i="0">
                <a:solidFill>
                  <a:srgbClr val="1E293B"/>
                </a:solidFill>
                <a:latin typeface="Calibri"/>
              </a:rPr>
              <a:t>The same images that could run self-hosted</a:t>
            </a:r>
            <a:endParaRPr/>
          </a:p>
        </p:txBody>
      </p:sp>
      <p:sp>
        <p:nvSpPr>
          <p:cNvPr id="128842517" name="Rectangle 36"/>
          <p:cNvSpPr/>
          <p:nvPr/>
        </p:nvSpPr>
        <p:spPr bwMode="auto">
          <a:xfrm>
            <a:off x="548640" y="5486400"/>
            <a:ext cx="11064240" cy="502920"/>
          </a:xfrm>
          <a:prstGeom prst="rect">
            <a:avLst/>
          </a:prstGeom>
          <a:solidFill>
            <a:srgbClr val="E6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3733831" name="TextBox 37"/>
          <p:cNvSpPr txBox="1"/>
          <p:nvPr/>
        </p:nvSpPr>
        <p:spPr bwMode="auto">
          <a:xfrm>
            <a:off x="777240" y="5586984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0F172A"/>
                </a:solidFill>
                <a:latin typeface="Calibri"/>
              </a:rPr>
              <a:t>Email</a:t>
            </a:r>
            <a:endParaRPr/>
          </a:p>
        </p:txBody>
      </p:sp>
      <p:sp>
        <p:nvSpPr>
          <p:cNvPr id="1024519849" name="TextBox 38"/>
          <p:cNvSpPr txBox="1"/>
          <p:nvPr/>
        </p:nvSpPr>
        <p:spPr bwMode="auto">
          <a:xfrm>
            <a:off x="3108960" y="5586984"/>
            <a:ext cx="30175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50" b="1" i="0">
                <a:solidFill>
                  <a:srgbClr val="0D9488"/>
                </a:solidFill>
                <a:latin typeface="Calibri"/>
              </a:rPr>
              <a:t>Resend</a:t>
            </a:r>
            <a:endParaRPr/>
          </a:p>
        </p:txBody>
      </p:sp>
      <p:sp>
        <p:nvSpPr>
          <p:cNvPr id="1638482286" name="TextBox 39"/>
          <p:cNvSpPr txBox="1"/>
          <p:nvPr/>
        </p:nvSpPr>
        <p:spPr bwMode="auto">
          <a:xfrm>
            <a:off x="6309360" y="5586984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b="0" i="0">
                <a:solidFill>
                  <a:srgbClr val="1E293B"/>
                </a:solidFill>
                <a:latin typeface="Calibri"/>
              </a:rPr>
              <a:t>Transactional email &amp; weekly digest</a:t>
            </a:r>
            <a:endParaRPr/>
          </a:p>
        </p:txBody>
      </p:sp>
      <p:sp>
        <p:nvSpPr>
          <p:cNvPr id="1511029081" name="TextBox 40"/>
          <p:cNvSpPr txBox="1"/>
          <p:nvPr/>
        </p:nvSpPr>
        <p:spPr bwMode="auto"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OLK — Open Library Kashmir</a:t>
            </a:r>
            <a:endParaRPr/>
          </a:p>
        </p:txBody>
      </p:sp>
      <p:sp>
        <p:nvSpPr>
          <p:cNvPr id="526208240" name="TextBox 41"/>
          <p:cNvSpPr txBox="1"/>
          <p:nvPr/>
        </p:nvSpPr>
        <p:spPr bwMode="auto">
          <a:xfrm>
            <a:off x="8686800" y="6528816"/>
            <a:ext cx="2926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Tech Stack at a Glance   ·   13 / 37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602815" name="TextBox 1"/>
          <p:cNvSpPr txBox="1"/>
          <p:nvPr/>
        </p:nvSpPr>
        <p:spPr bwMode="auto"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14B8A6"/>
                </a:solidFill>
                <a:latin typeface="Calibri"/>
              </a:rPr>
              <a:t>TECH STACK AT A GLANCE</a:t>
            </a:r>
            <a:endParaRPr/>
          </a:p>
        </p:txBody>
      </p:sp>
      <p:sp>
        <p:nvSpPr>
          <p:cNvPr id="1660895362" name="TextBox 2"/>
          <p:cNvSpPr txBox="1"/>
          <p:nvPr/>
        </p:nvSpPr>
        <p:spPr bwMode="auto"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000" b="1" i="0">
                <a:solidFill>
                  <a:srgbClr val="0F172A"/>
                </a:solidFill>
                <a:latin typeface="Calibri"/>
              </a:rPr>
              <a:t>Deliberately small, on purpose</a:t>
            </a:r>
            <a:endParaRPr/>
          </a:p>
        </p:txBody>
      </p:sp>
      <p:sp>
        <p:nvSpPr>
          <p:cNvPr id="922829988" name="Rectangle 3"/>
          <p:cNvSpPr/>
          <p:nvPr/>
        </p:nvSpPr>
        <p:spPr bwMode="auto">
          <a:xfrm>
            <a:off x="548640" y="1207008"/>
            <a:ext cx="914400" cy="40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3173814" name="Rounded Rectangle 4"/>
          <p:cNvSpPr/>
          <p:nvPr/>
        </p:nvSpPr>
        <p:spPr bwMode="auto">
          <a:xfrm>
            <a:off x="548640" y="1508759"/>
            <a:ext cx="3538728" cy="1737360"/>
          </a:xfrm>
          <a:prstGeom prst="roundRect">
            <a:avLst>
              <a:gd name="adj" fmla="val 7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1483578" name="Oval 5"/>
          <p:cNvSpPr/>
          <p:nvPr/>
        </p:nvSpPr>
        <p:spPr bwMode="auto">
          <a:xfrm>
            <a:off x="731520" y="1691640"/>
            <a:ext cx="457200" cy="457200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✕</a:t>
            </a:r>
            <a:endParaRPr/>
          </a:p>
        </p:txBody>
      </p:sp>
      <p:sp>
        <p:nvSpPr>
          <p:cNvPr id="1308680334" name="TextBox 6"/>
          <p:cNvSpPr txBox="1"/>
          <p:nvPr/>
        </p:nvSpPr>
        <p:spPr bwMode="auto">
          <a:xfrm>
            <a:off x="731520" y="2286000"/>
            <a:ext cx="31729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50" b="1" i="0">
                <a:solidFill>
                  <a:srgbClr val="FFFFFF"/>
                </a:solidFill>
                <a:latin typeface="Calibri"/>
              </a:rPr>
              <a:t>No ORM</a:t>
            </a:r>
            <a:endParaRPr/>
          </a:p>
        </p:txBody>
      </p:sp>
      <p:sp>
        <p:nvSpPr>
          <p:cNvPr id="1464619429" name="TextBox 7"/>
          <p:cNvSpPr txBox="1"/>
          <p:nvPr/>
        </p:nvSpPr>
        <p:spPr bwMode="auto">
          <a:xfrm>
            <a:off x="731520" y="2651760"/>
            <a:ext cx="31729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1150" b="0" i="0">
                <a:solidFill>
                  <a:srgbClr val="CBD5E1"/>
                </a:solidFill>
                <a:latin typeface="Calibri"/>
              </a:rPr>
              <a:t>No Prisma, no Drizzle. Every query goes through Supabase's query builder or a raw Postgres function call.</a:t>
            </a:r>
            <a:endParaRPr/>
          </a:p>
        </p:txBody>
      </p:sp>
      <p:sp>
        <p:nvSpPr>
          <p:cNvPr id="526418431" name="Rounded Rectangle 8"/>
          <p:cNvSpPr/>
          <p:nvPr/>
        </p:nvSpPr>
        <p:spPr bwMode="auto">
          <a:xfrm>
            <a:off x="4306824" y="1508759"/>
            <a:ext cx="3538728" cy="1737360"/>
          </a:xfrm>
          <a:prstGeom prst="roundRect">
            <a:avLst>
              <a:gd name="adj" fmla="val 7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6371246" name="Oval 9"/>
          <p:cNvSpPr/>
          <p:nvPr/>
        </p:nvSpPr>
        <p:spPr bwMode="auto">
          <a:xfrm>
            <a:off x="4489704" y="1691640"/>
            <a:ext cx="457200" cy="457200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✕</a:t>
            </a:r>
            <a:endParaRPr/>
          </a:p>
        </p:txBody>
      </p:sp>
      <p:sp>
        <p:nvSpPr>
          <p:cNvPr id="882770738" name="TextBox 10"/>
          <p:cNvSpPr txBox="1"/>
          <p:nvPr/>
        </p:nvSpPr>
        <p:spPr bwMode="auto">
          <a:xfrm>
            <a:off x="4489704" y="2286000"/>
            <a:ext cx="31729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50" b="1" i="0">
                <a:solidFill>
                  <a:srgbClr val="FFFFFF"/>
                </a:solidFill>
                <a:latin typeface="Calibri"/>
              </a:rPr>
              <a:t>No component library</a:t>
            </a:r>
            <a:endParaRPr/>
          </a:p>
        </p:txBody>
      </p:sp>
      <p:sp>
        <p:nvSpPr>
          <p:cNvPr id="1106284772" name="TextBox 11"/>
          <p:cNvSpPr txBox="1"/>
          <p:nvPr/>
        </p:nvSpPr>
        <p:spPr bwMode="auto">
          <a:xfrm>
            <a:off x="4489704" y="2651760"/>
            <a:ext cx="31729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1150" b="0" i="0">
                <a:solidFill>
                  <a:srgbClr val="CBD5E1"/>
                </a:solidFill>
                <a:latin typeface="Calibri"/>
              </a:rPr>
              <a:t>No MUI, Chakra, shadcn. Every button, card, and modal is hand-built.</a:t>
            </a:r>
            <a:endParaRPr/>
          </a:p>
        </p:txBody>
      </p:sp>
      <p:sp>
        <p:nvSpPr>
          <p:cNvPr id="945625801" name="Rounded Rectangle 12"/>
          <p:cNvSpPr/>
          <p:nvPr/>
        </p:nvSpPr>
        <p:spPr bwMode="auto">
          <a:xfrm>
            <a:off x="8065008" y="1508759"/>
            <a:ext cx="3538728" cy="1737360"/>
          </a:xfrm>
          <a:prstGeom prst="roundRect">
            <a:avLst>
              <a:gd name="adj" fmla="val 7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3499223" name="Oval 13"/>
          <p:cNvSpPr/>
          <p:nvPr/>
        </p:nvSpPr>
        <p:spPr bwMode="auto">
          <a:xfrm>
            <a:off x="8247888" y="1691640"/>
            <a:ext cx="457200" cy="457200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✕</a:t>
            </a:r>
            <a:endParaRPr/>
          </a:p>
        </p:txBody>
      </p:sp>
      <p:sp>
        <p:nvSpPr>
          <p:cNvPr id="1163961143" name="TextBox 14"/>
          <p:cNvSpPr txBox="1"/>
          <p:nvPr/>
        </p:nvSpPr>
        <p:spPr bwMode="auto">
          <a:xfrm>
            <a:off x="8247888" y="2286000"/>
            <a:ext cx="31729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50" b="1" i="0">
                <a:solidFill>
                  <a:srgbClr val="FFFFFF"/>
                </a:solidFill>
                <a:latin typeface="Calibri"/>
              </a:rPr>
              <a:t>No state-management library</a:t>
            </a:r>
            <a:endParaRPr/>
          </a:p>
        </p:txBody>
      </p:sp>
      <p:sp>
        <p:nvSpPr>
          <p:cNvPr id="213188710" name="TextBox 15"/>
          <p:cNvSpPr txBox="1"/>
          <p:nvPr/>
        </p:nvSpPr>
        <p:spPr bwMode="auto">
          <a:xfrm>
            <a:off x="8247888" y="2651760"/>
            <a:ext cx="31729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1150" b="0" i="0">
                <a:solidFill>
                  <a:srgbClr val="CBD5E1"/>
                </a:solidFill>
                <a:latin typeface="Calibri"/>
              </a:rPr>
              <a:t>No Redux, no React Query/SWR.</a:t>
            </a:r>
            <a:endParaRPr/>
          </a:p>
        </p:txBody>
      </p:sp>
      <p:sp>
        <p:nvSpPr>
          <p:cNvPr id="656420158" name="Rounded Rectangle 16"/>
          <p:cNvSpPr/>
          <p:nvPr/>
        </p:nvSpPr>
        <p:spPr bwMode="auto">
          <a:xfrm>
            <a:off x="548640" y="3520440"/>
            <a:ext cx="11064240" cy="1188720"/>
          </a:xfrm>
          <a:prstGeom prst="roundRect">
            <a:avLst>
              <a:gd name="adj" fmla="val 4500"/>
            </a:avLst>
          </a:prstGeom>
          <a:solidFill>
            <a:srgbClr val="E6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1137894" name="Rectangle 17"/>
          <p:cNvSpPr/>
          <p:nvPr/>
        </p:nvSpPr>
        <p:spPr bwMode="auto">
          <a:xfrm>
            <a:off x="548640" y="3520440"/>
            <a:ext cx="50800" cy="1188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0171680" name="TextBox 18"/>
          <p:cNvSpPr txBox="1"/>
          <p:nvPr/>
        </p:nvSpPr>
        <p:spPr bwMode="auto">
          <a:xfrm>
            <a:off x="749808" y="3630168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50" b="1" i="0">
                <a:solidFill>
                  <a:srgbClr val="0D9488"/>
                </a:solidFill>
                <a:latin typeface="Calibri"/>
              </a:rPr>
              <a:t>WHY</a:t>
            </a:r>
            <a:endParaRPr/>
          </a:p>
        </p:txBody>
      </p:sp>
      <p:sp>
        <p:nvSpPr>
          <p:cNvPr id="2008750416" name="TextBox 19"/>
          <p:cNvSpPr txBox="1"/>
          <p:nvPr/>
        </p:nvSpPr>
        <p:spPr bwMode="auto">
          <a:xfrm>
            <a:off x="749808" y="3922776"/>
            <a:ext cx="1068019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defRPr/>
            </a:pPr>
            <a:r>
              <a:rPr sz="1600" b="0" i="0">
                <a:solidFill>
                  <a:srgbClr val="0F172A"/>
                </a:solidFill>
                <a:latin typeface="Calibri"/>
              </a:rPr>
              <a:t>This is a scope choice, not an oversight: keeping the dependency surface small enough that a couple of interns can hold the entire system in their heads.</a:t>
            </a:r>
            <a:endParaRPr/>
          </a:p>
        </p:txBody>
      </p:sp>
      <p:sp>
        <p:nvSpPr>
          <p:cNvPr id="829580876" name="TextBox 20"/>
          <p:cNvSpPr txBox="1"/>
          <p:nvPr/>
        </p:nvSpPr>
        <p:spPr bwMode="auto"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OLK — Open Library Kashmir</a:t>
            </a:r>
            <a:endParaRPr/>
          </a:p>
        </p:txBody>
      </p:sp>
      <p:sp>
        <p:nvSpPr>
          <p:cNvPr id="1886020112" name="TextBox 21"/>
          <p:cNvSpPr txBox="1"/>
          <p:nvPr/>
        </p:nvSpPr>
        <p:spPr bwMode="auto">
          <a:xfrm>
            <a:off x="8686800" y="6528816"/>
            <a:ext cx="2926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Tech Stack at a Glance   ·   14 / 37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4550486" name="TextBox 1"/>
          <p:cNvSpPr txBox="1"/>
          <p:nvPr/>
        </p:nvSpPr>
        <p:spPr bwMode="auto"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14B8A6"/>
                </a:solidFill>
                <a:latin typeface="Calibri"/>
              </a:rPr>
              <a:t>TECH STACK AT A GLANCE</a:t>
            </a:r>
            <a:endParaRPr/>
          </a:p>
        </p:txBody>
      </p:sp>
      <p:sp>
        <p:nvSpPr>
          <p:cNvPr id="1449105038" name="TextBox 2"/>
          <p:cNvSpPr txBox="1"/>
          <p:nvPr/>
        </p:nvSpPr>
        <p:spPr bwMode="auto"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000" b="1" i="0">
                <a:solidFill>
                  <a:srgbClr val="0F172A"/>
                </a:solidFill>
                <a:latin typeface="Calibri"/>
              </a:rPr>
              <a:t>Open source, top to bottom</a:t>
            </a:r>
            <a:endParaRPr/>
          </a:p>
        </p:txBody>
      </p:sp>
      <p:sp>
        <p:nvSpPr>
          <p:cNvPr id="1759584539" name="Rectangle 3"/>
          <p:cNvSpPr/>
          <p:nvPr/>
        </p:nvSpPr>
        <p:spPr bwMode="auto">
          <a:xfrm>
            <a:off x="548640" y="1207008"/>
            <a:ext cx="914400" cy="40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7838234" name="Rounded Rectangle 4"/>
          <p:cNvSpPr/>
          <p:nvPr/>
        </p:nvSpPr>
        <p:spPr bwMode="auto">
          <a:xfrm>
            <a:off x="548640" y="1554480"/>
            <a:ext cx="1481328" cy="594360"/>
          </a:xfrm>
          <a:prstGeom prst="roundRect">
            <a:avLst>
              <a:gd name="adj" fmla="val 15000"/>
            </a:avLst>
          </a:prstGeom>
          <a:solidFill>
            <a:srgbClr val="E6FBF8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8142996" name="TextBox 5"/>
          <p:cNvSpPr txBox="1"/>
          <p:nvPr/>
        </p:nvSpPr>
        <p:spPr bwMode="auto">
          <a:xfrm>
            <a:off x="548640" y="1554480"/>
            <a:ext cx="148132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150" b="1" i="0">
                <a:solidFill>
                  <a:srgbClr val="0D9488"/>
                </a:solidFill>
                <a:latin typeface="Calibri"/>
              </a:rPr>
              <a:t>Next.js</a:t>
            </a:r>
            <a:endParaRPr/>
          </a:p>
        </p:txBody>
      </p:sp>
      <p:sp>
        <p:nvSpPr>
          <p:cNvPr id="1149559322" name="Rounded Rectangle 6"/>
          <p:cNvSpPr/>
          <p:nvPr/>
        </p:nvSpPr>
        <p:spPr bwMode="auto">
          <a:xfrm>
            <a:off x="2157984" y="1554480"/>
            <a:ext cx="1481328" cy="594360"/>
          </a:xfrm>
          <a:prstGeom prst="roundRect">
            <a:avLst>
              <a:gd name="adj" fmla="val 15000"/>
            </a:avLst>
          </a:prstGeom>
          <a:solidFill>
            <a:srgbClr val="E6FBF8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43805340" name="TextBox 7"/>
          <p:cNvSpPr txBox="1"/>
          <p:nvPr/>
        </p:nvSpPr>
        <p:spPr bwMode="auto">
          <a:xfrm>
            <a:off x="2157984" y="1554480"/>
            <a:ext cx="148132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150" b="1" i="0">
                <a:solidFill>
                  <a:srgbClr val="0D9488"/>
                </a:solidFill>
                <a:latin typeface="Calibri"/>
              </a:rPr>
              <a:t>React</a:t>
            </a:r>
            <a:endParaRPr/>
          </a:p>
        </p:txBody>
      </p:sp>
      <p:sp>
        <p:nvSpPr>
          <p:cNvPr id="432358389" name="Rounded Rectangle 8"/>
          <p:cNvSpPr/>
          <p:nvPr/>
        </p:nvSpPr>
        <p:spPr bwMode="auto">
          <a:xfrm>
            <a:off x="3767328" y="1554480"/>
            <a:ext cx="1481328" cy="594360"/>
          </a:xfrm>
          <a:prstGeom prst="roundRect">
            <a:avLst>
              <a:gd name="adj" fmla="val 15000"/>
            </a:avLst>
          </a:prstGeom>
          <a:solidFill>
            <a:srgbClr val="E6FBF8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8127050" name="TextBox 9"/>
          <p:cNvSpPr txBox="1"/>
          <p:nvPr/>
        </p:nvSpPr>
        <p:spPr bwMode="auto">
          <a:xfrm>
            <a:off x="3767328" y="1554480"/>
            <a:ext cx="148132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150" b="1" i="0">
                <a:solidFill>
                  <a:srgbClr val="0D9488"/>
                </a:solidFill>
                <a:latin typeface="Calibri"/>
              </a:rPr>
              <a:t>Postgres</a:t>
            </a:r>
            <a:endParaRPr/>
          </a:p>
        </p:txBody>
      </p:sp>
      <p:sp>
        <p:nvSpPr>
          <p:cNvPr id="726941934" name="Rounded Rectangle 10"/>
          <p:cNvSpPr/>
          <p:nvPr/>
        </p:nvSpPr>
        <p:spPr bwMode="auto">
          <a:xfrm>
            <a:off x="5376672" y="1554480"/>
            <a:ext cx="1481328" cy="594360"/>
          </a:xfrm>
          <a:prstGeom prst="roundRect">
            <a:avLst>
              <a:gd name="adj" fmla="val 15000"/>
            </a:avLst>
          </a:prstGeom>
          <a:solidFill>
            <a:srgbClr val="E6FBF8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12521012" name="TextBox 11"/>
          <p:cNvSpPr txBox="1"/>
          <p:nvPr/>
        </p:nvSpPr>
        <p:spPr bwMode="auto">
          <a:xfrm>
            <a:off x="5376672" y="1554480"/>
            <a:ext cx="148132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150" b="1" i="0">
                <a:solidFill>
                  <a:srgbClr val="0D9488"/>
                </a:solidFill>
                <a:latin typeface="Calibri"/>
              </a:rPr>
              <a:t>PostgREST</a:t>
            </a:r>
            <a:endParaRPr/>
          </a:p>
        </p:txBody>
      </p:sp>
      <p:sp>
        <p:nvSpPr>
          <p:cNvPr id="358123096" name="Rounded Rectangle 12"/>
          <p:cNvSpPr/>
          <p:nvPr/>
        </p:nvSpPr>
        <p:spPr bwMode="auto">
          <a:xfrm>
            <a:off x="6986016" y="1554480"/>
            <a:ext cx="1481328" cy="594360"/>
          </a:xfrm>
          <a:prstGeom prst="roundRect">
            <a:avLst>
              <a:gd name="adj" fmla="val 15000"/>
            </a:avLst>
          </a:prstGeom>
          <a:solidFill>
            <a:srgbClr val="E6FBF8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7460598" name="TextBox 13"/>
          <p:cNvSpPr txBox="1"/>
          <p:nvPr/>
        </p:nvSpPr>
        <p:spPr bwMode="auto">
          <a:xfrm>
            <a:off x="6986016" y="1554480"/>
            <a:ext cx="148132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150" b="1" i="0">
                <a:solidFill>
                  <a:srgbClr val="0D9488"/>
                </a:solidFill>
                <a:latin typeface="Calibri"/>
              </a:rPr>
              <a:t>GoTrue (auth)</a:t>
            </a:r>
            <a:endParaRPr/>
          </a:p>
        </p:txBody>
      </p:sp>
      <p:sp>
        <p:nvSpPr>
          <p:cNvPr id="1803598000" name="Rounded Rectangle 14"/>
          <p:cNvSpPr/>
          <p:nvPr/>
        </p:nvSpPr>
        <p:spPr bwMode="auto">
          <a:xfrm>
            <a:off x="548640" y="2331720"/>
            <a:ext cx="1481328" cy="594360"/>
          </a:xfrm>
          <a:prstGeom prst="roundRect">
            <a:avLst>
              <a:gd name="adj" fmla="val 15000"/>
            </a:avLst>
          </a:prstGeom>
          <a:solidFill>
            <a:srgbClr val="E6FBF8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4781639" name="TextBox 15"/>
          <p:cNvSpPr txBox="1"/>
          <p:nvPr/>
        </p:nvSpPr>
        <p:spPr bwMode="auto">
          <a:xfrm>
            <a:off x="548640" y="2331720"/>
            <a:ext cx="148132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150" b="1" i="0">
                <a:solidFill>
                  <a:srgbClr val="0D9488"/>
                </a:solidFill>
                <a:latin typeface="Calibri"/>
              </a:rPr>
              <a:t>Realtime</a:t>
            </a:r>
            <a:endParaRPr/>
          </a:p>
        </p:txBody>
      </p:sp>
      <p:sp>
        <p:nvSpPr>
          <p:cNvPr id="33215583" name="Rounded Rectangle 16"/>
          <p:cNvSpPr/>
          <p:nvPr/>
        </p:nvSpPr>
        <p:spPr bwMode="auto">
          <a:xfrm>
            <a:off x="2157984" y="2331720"/>
            <a:ext cx="1481328" cy="594360"/>
          </a:xfrm>
          <a:prstGeom prst="roundRect">
            <a:avLst>
              <a:gd name="adj" fmla="val 15000"/>
            </a:avLst>
          </a:prstGeom>
          <a:solidFill>
            <a:srgbClr val="E6FBF8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2294305" name="TextBox 17"/>
          <p:cNvSpPr txBox="1"/>
          <p:nvPr/>
        </p:nvSpPr>
        <p:spPr bwMode="auto">
          <a:xfrm>
            <a:off x="2157984" y="2331720"/>
            <a:ext cx="1481328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150" b="1" i="0">
                <a:solidFill>
                  <a:srgbClr val="0D9488"/>
                </a:solidFill>
                <a:latin typeface="Calibri"/>
              </a:rPr>
              <a:t>Storage</a:t>
            </a:r>
            <a:endParaRPr/>
          </a:p>
        </p:txBody>
      </p:sp>
      <p:sp>
        <p:nvSpPr>
          <p:cNvPr id="102032119" name="TextBox 18"/>
          <p:cNvSpPr txBox="1"/>
          <p:nvPr/>
        </p:nvSpPr>
        <p:spPr bwMode="auto">
          <a:xfrm>
            <a:off x="548640" y="2990787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500" b="1" i="0">
                <a:solidFill>
                  <a:srgbClr val="0F172A"/>
                </a:solidFill>
                <a:latin typeface="Calibri"/>
              </a:rPr>
              <a:t>Every one of these is open source and self-hostable.</a:t>
            </a:r>
            <a:endParaRPr/>
          </a:p>
        </p:txBody>
      </p:sp>
      <p:sp>
        <p:nvSpPr>
          <p:cNvPr id="1446951299" name="TextBox 19"/>
          <p:cNvSpPr txBox="1"/>
          <p:nvPr/>
        </p:nvSpPr>
        <p:spPr bwMode="auto">
          <a:xfrm>
            <a:off x="548640" y="333756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4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The only pieces that aren't: Vercel's hosting and Resend's email delivery — both are replaceable, swappable services sitting on top of an otherwise fully open stack.</a:t>
            </a:r>
            <a:endParaRPr/>
          </a:p>
        </p:txBody>
      </p:sp>
      <p:sp>
        <p:nvSpPr>
          <p:cNvPr id="162967248" name="Rounded Rectangle 20"/>
          <p:cNvSpPr/>
          <p:nvPr/>
        </p:nvSpPr>
        <p:spPr bwMode="auto">
          <a:xfrm>
            <a:off x="548640" y="4160519"/>
            <a:ext cx="11064240" cy="137160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57711800" name="Rectangle 21"/>
          <p:cNvSpPr/>
          <p:nvPr/>
        </p:nvSpPr>
        <p:spPr bwMode="auto">
          <a:xfrm>
            <a:off x="548640" y="4160519"/>
            <a:ext cx="50800" cy="13716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5512667" name="TextBox 22"/>
          <p:cNvSpPr txBox="1"/>
          <p:nvPr/>
        </p:nvSpPr>
        <p:spPr bwMode="auto">
          <a:xfrm>
            <a:off x="749808" y="4270248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50" b="1" i="0">
                <a:solidFill>
                  <a:srgbClr val="FFFFFF"/>
                </a:solidFill>
                <a:latin typeface="Calibri"/>
              </a:rPr>
              <a:t>WHY THIS IS THE WHOLE BALLGAME FOR THE ROAD-AHEAD SECTION</a:t>
            </a:r>
            <a:endParaRPr/>
          </a:p>
        </p:txBody>
      </p:sp>
      <p:sp>
        <p:nvSpPr>
          <p:cNvPr id="955744539" name="TextBox 23"/>
          <p:cNvSpPr txBox="1"/>
          <p:nvPr/>
        </p:nvSpPr>
        <p:spPr bwMode="auto">
          <a:xfrm>
            <a:off x="749808" y="4562856"/>
            <a:ext cx="1068019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defRPr/>
            </a:pPr>
            <a:r>
              <a:rPr sz="1450" b="0" i="0">
                <a:solidFill>
                  <a:srgbClr val="FFFFFF"/>
                </a:solidFill>
                <a:latin typeface="Calibri"/>
              </a:rPr>
              <a:t>Because Supabase itself is open source, “run our own server in Kashmir” is a realistic plan, not a fantasy — the exact containers running on a developer's laptop today are what would run on that server.</a:t>
            </a:r>
            <a:endParaRPr/>
          </a:p>
        </p:txBody>
      </p:sp>
      <p:sp>
        <p:nvSpPr>
          <p:cNvPr id="1645290626" name="TextBox 24"/>
          <p:cNvSpPr txBox="1"/>
          <p:nvPr/>
        </p:nvSpPr>
        <p:spPr bwMode="auto"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OLK — Open Library Kashmir</a:t>
            </a:r>
            <a:endParaRPr/>
          </a:p>
        </p:txBody>
      </p:sp>
      <p:sp>
        <p:nvSpPr>
          <p:cNvPr id="778116502" name="TextBox 25"/>
          <p:cNvSpPr txBox="1"/>
          <p:nvPr/>
        </p:nvSpPr>
        <p:spPr bwMode="auto">
          <a:xfrm>
            <a:off x="8686800" y="6528816"/>
            <a:ext cx="2926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Tech Stack at a Glance   ·   15 / 37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1530778" name="TextBox 1"/>
          <p:cNvSpPr txBox="1"/>
          <p:nvPr/>
        </p:nvSpPr>
        <p:spPr bwMode="auto"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14B8A6"/>
                </a:solidFill>
                <a:latin typeface="Calibri"/>
              </a:rPr>
              <a:t>TECH STACK AT A GLANCE</a:t>
            </a:r>
            <a:endParaRPr/>
          </a:p>
        </p:txBody>
      </p:sp>
      <p:sp>
        <p:nvSpPr>
          <p:cNvPr id="939455202" name="TextBox 2"/>
          <p:cNvSpPr txBox="1"/>
          <p:nvPr/>
        </p:nvSpPr>
        <p:spPr bwMode="auto"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000" b="1" i="0">
                <a:solidFill>
                  <a:srgbClr val="0F172A"/>
                </a:solidFill>
                <a:latin typeface="Calibri"/>
              </a:rPr>
              <a:t>A warning for every new contributor</a:t>
            </a:r>
            <a:endParaRPr/>
          </a:p>
        </p:txBody>
      </p:sp>
      <p:sp>
        <p:nvSpPr>
          <p:cNvPr id="1659526217" name="Rectangle 3"/>
          <p:cNvSpPr/>
          <p:nvPr/>
        </p:nvSpPr>
        <p:spPr bwMode="auto">
          <a:xfrm>
            <a:off x="548640" y="1207008"/>
            <a:ext cx="914400" cy="40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2620479" name="Rounded Rectangle 4"/>
          <p:cNvSpPr/>
          <p:nvPr/>
        </p:nvSpPr>
        <p:spPr bwMode="auto">
          <a:xfrm>
            <a:off x="1188720" y="1600200"/>
            <a:ext cx="9784079" cy="11887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02631569" name="TextBox 5"/>
          <p:cNvSpPr txBox="1"/>
          <p:nvPr/>
        </p:nvSpPr>
        <p:spPr bwMode="auto">
          <a:xfrm>
            <a:off x="1188720" y="1600200"/>
            <a:ext cx="9784079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800" b="1" i="0">
                <a:solidFill>
                  <a:srgbClr val="FFFFFF"/>
                </a:solidFill>
                <a:latin typeface="Calibri"/>
              </a:rPr>
              <a:t>“This is NOT the Next.js you know.”</a:t>
            </a:r>
            <a:endParaRPr/>
          </a:p>
        </p:txBody>
      </p:sp>
      <p:sp>
        <p:nvSpPr>
          <p:cNvPr id="3181835" name="TextBox 6"/>
          <p:cNvSpPr txBox="1"/>
          <p:nvPr/>
        </p:nvSpPr>
        <p:spPr bwMode="auto">
          <a:xfrm>
            <a:off x="822960" y="3200400"/>
            <a:ext cx="102412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6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Next.js 16 has real, breaking changes vs. most tutorials and training data.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6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F172A"/>
                </a:solidFill>
                <a:latin typeface="Calibri"/>
              </a:rPr>
              <a:t>Concrete example: </a:t>
            </a:r>
            <a:r>
              <a:rPr sz="1600" b="0" i="0">
                <a:solidFill>
                  <a:srgbClr val="1E293B"/>
                </a:solidFill>
                <a:latin typeface="Calibri"/>
              </a:rPr>
              <a:t>Middleware was renamed to Proxy — this project uses src/proxy.ts, not middleware.ts.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6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F172A"/>
                </a:solidFill>
                <a:latin typeface="Calibri"/>
              </a:rPr>
              <a:t>The project's own AGENTS.md</a:t>
            </a:r>
            <a:r>
              <a:rPr sz="1600" b="0" i="0">
                <a:solidFill>
                  <a:srgbClr val="1E293B"/>
                </a:solidFill>
                <a:latin typeface="Calibri"/>
              </a:rPr>
              <a:t> tells every contributor, human or AI, to check node_modules/next/dist/docs/ before writing framework-adjacent code.</a:t>
            </a:r>
            <a:endParaRPr/>
          </a:p>
        </p:txBody>
      </p:sp>
      <p:sp>
        <p:nvSpPr>
          <p:cNvPr id="2144348940" name="TextBox 7"/>
          <p:cNvSpPr txBox="1"/>
          <p:nvPr/>
        </p:nvSpPr>
        <p:spPr bwMode="auto"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OLK — Open Library Kashmir</a:t>
            </a:r>
            <a:endParaRPr/>
          </a:p>
        </p:txBody>
      </p:sp>
      <p:sp>
        <p:nvSpPr>
          <p:cNvPr id="1451480092" name="TextBox 8"/>
          <p:cNvSpPr txBox="1"/>
          <p:nvPr/>
        </p:nvSpPr>
        <p:spPr bwMode="auto">
          <a:xfrm>
            <a:off x="8686800" y="6528816"/>
            <a:ext cx="2926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Tech Stack at a Glance   ·   16 / 37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1877158" name="Rectangle 1"/>
          <p:cNvSpPr/>
          <p:nvPr/>
        </p:nvSpPr>
        <p:spPr bwMode="auto">
          <a:xfrm>
            <a:off x="0" y="3931920"/>
            <a:ext cx="12191695" cy="29260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8737448" name="Freeform 2"/>
          <p:cNvSpPr/>
          <p:nvPr/>
        </p:nvSpPr>
        <p:spPr bwMode="auto">
          <a:xfrm>
            <a:off x="0" y="4517136"/>
            <a:ext cx="12191695" cy="2340864"/>
          </a:xfrm>
          <a:custGeom>
            <a:avLst/>
            <a:gdLst/>
            <a:ahLst/>
            <a:cxnLst/>
            <a:rect l="l" t="t" r="r" b="b"/>
            <a:pathLst>
              <a:path w="12191695" h="2340864" fill="norm" stroke="1" extrusionOk="0">
                <a:moveTo>
                  <a:pt x="0" y="2340864"/>
                </a:moveTo>
                <a:lnTo>
                  <a:pt x="0" y="1024128"/>
                </a:lnTo>
                <a:lnTo>
                  <a:pt x="1706837" y="292608"/>
                </a:lnTo>
                <a:lnTo>
                  <a:pt x="3291758" y="877824"/>
                </a:lnTo>
                <a:lnTo>
                  <a:pt x="5120512" y="58522"/>
                </a:lnTo>
                <a:lnTo>
                  <a:pt x="7071183" y="819302"/>
                </a:lnTo>
                <a:lnTo>
                  <a:pt x="9021854" y="0"/>
                </a:lnTo>
                <a:lnTo>
                  <a:pt x="10972526" y="760781"/>
                </a:lnTo>
                <a:lnTo>
                  <a:pt x="12191695" y="234086"/>
                </a:lnTo>
                <a:lnTo>
                  <a:pt x="12191695" y="2340864"/>
                </a:lnTo>
                <a:lnTo>
                  <a:pt x="0" y="2340864"/>
                </a:lnTo>
                <a:close/>
              </a:path>
            </a:pathLst>
          </a:cu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91760622" name="Freeform 3"/>
          <p:cNvSpPr/>
          <p:nvPr/>
        </p:nvSpPr>
        <p:spPr bwMode="auto">
          <a:xfrm>
            <a:off x="0" y="5219395"/>
            <a:ext cx="12191695" cy="1638605"/>
          </a:xfrm>
          <a:custGeom>
            <a:avLst/>
            <a:gdLst/>
            <a:ahLst/>
            <a:cxnLst/>
            <a:rect l="l" t="t" r="r" b="b"/>
            <a:pathLst>
              <a:path w="12191695" h="1638605" fill="norm" stroke="1" extrusionOk="0">
                <a:moveTo>
                  <a:pt x="0" y="1638605"/>
                </a:moveTo>
                <a:lnTo>
                  <a:pt x="0" y="907085"/>
                </a:lnTo>
                <a:lnTo>
                  <a:pt x="1219170" y="234087"/>
                </a:lnTo>
                <a:lnTo>
                  <a:pt x="2682173" y="702259"/>
                </a:lnTo>
                <a:lnTo>
                  <a:pt x="4389010" y="58522"/>
                </a:lnTo>
                <a:lnTo>
                  <a:pt x="6095848" y="760781"/>
                </a:lnTo>
                <a:lnTo>
                  <a:pt x="7802685" y="0"/>
                </a:lnTo>
                <a:lnTo>
                  <a:pt x="9509522" y="760781"/>
                </a:lnTo>
                <a:lnTo>
                  <a:pt x="11216359" y="117043"/>
                </a:lnTo>
                <a:lnTo>
                  <a:pt x="12191695" y="526695"/>
                </a:lnTo>
                <a:lnTo>
                  <a:pt x="12191695" y="1638605"/>
                </a:lnTo>
                <a:lnTo>
                  <a:pt x="0" y="1638605"/>
                </a:lnTo>
                <a:close/>
              </a:path>
            </a:pathLst>
          </a:cu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1821601" name="Oval 4"/>
          <p:cNvSpPr/>
          <p:nvPr/>
        </p:nvSpPr>
        <p:spPr bwMode="auto">
          <a:xfrm>
            <a:off x="1950671" y="4458614"/>
            <a:ext cx="310896" cy="310896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2731149" name="Rectangle 5"/>
          <p:cNvSpPr/>
          <p:nvPr/>
        </p:nvSpPr>
        <p:spPr bwMode="auto">
          <a:xfrm>
            <a:off x="0" y="5160873"/>
            <a:ext cx="12191695" cy="330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07705248" name="TextBox 6"/>
          <p:cNvSpPr txBox="1"/>
          <p:nvPr/>
        </p:nvSpPr>
        <p:spPr bwMode="auto">
          <a:xfrm>
            <a:off x="822960" y="9144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500" b="1" i="0">
                <a:solidFill>
                  <a:srgbClr val="2DD4BF"/>
                </a:solidFill>
                <a:latin typeface="Calibri"/>
              </a:rPr>
              <a:t>PART 4 / 5</a:t>
            </a:r>
            <a:endParaRPr/>
          </a:p>
        </p:txBody>
      </p:sp>
      <p:sp>
        <p:nvSpPr>
          <p:cNvPr id="1939515215" name="TextBox 7"/>
          <p:cNvSpPr txBox="1"/>
          <p:nvPr/>
        </p:nvSpPr>
        <p:spPr bwMode="auto">
          <a:xfrm>
            <a:off x="777240" y="137160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4400" b="1" i="0">
                <a:solidFill>
                  <a:srgbClr val="FFFFFF"/>
                </a:solidFill>
                <a:latin typeface="Calibri"/>
              </a:rPr>
              <a:t>Under the Hood</a:t>
            </a:r>
            <a:endParaRPr/>
          </a:p>
        </p:txBody>
      </p:sp>
      <p:sp>
        <p:nvSpPr>
          <p:cNvPr id="1751499530" name="TextBox 8"/>
          <p:cNvSpPr txBox="1"/>
          <p:nvPr/>
        </p:nvSpPr>
        <p:spPr bwMode="auto">
          <a:xfrm>
            <a:off x="822960" y="251460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b="0" i="0">
                <a:solidFill>
                  <a:srgbClr val="CBD5E1"/>
                </a:solidFill>
                <a:latin typeface="Calibri"/>
              </a:rPr>
              <a:t>Architecture, database, security, GPS, deploy — the 18-minute deep dive.</a:t>
            </a:r>
            <a:endParaRPr/>
          </a:p>
        </p:txBody>
      </p:sp>
      <p:sp>
        <p:nvSpPr>
          <p:cNvPr id="1046032257" name="Oval 9"/>
          <p:cNvSpPr/>
          <p:nvPr/>
        </p:nvSpPr>
        <p:spPr bwMode="auto">
          <a:xfrm>
            <a:off x="822960" y="3246120"/>
            <a:ext cx="182880" cy="18288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2382325" name="Oval 10"/>
          <p:cNvSpPr/>
          <p:nvPr/>
        </p:nvSpPr>
        <p:spPr bwMode="auto">
          <a:xfrm>
            <a:off x="1115568" y="3246120"/>
            <a:ext cx="182880" cy="18288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5582682" name="Oval 11"/>
          <p:cNvSpPr/>
          <p:nvPr/>
        </p:nvSpPr>
        <p:spPr bwMode="auto">
          <a:xfrm>
            <a:off x="1408176" y="3246120"/>
            <a:ext cx="182880" cy="18288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5498314" name="Oval 12"/>
          <p:cNvSpPr/>
          <p:nvPr/>
        </p:nvSpPr>
        <p:spPr bwMode="auto">
          <a:xfrm>
            <a:off x="1700784" y="3246120"/>
            <a:ext cx="182880" cy="18288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3338102" name="Oval 13"/>
          <p:cNvSpPr/>
          <p:nvPr/>
        </p:nvSpPr>
        <p:spPr bwMode="auto">
          <a:xfrm>
            <a:off x="1993392" y="3246120"/>
            <a:ext cx="182880" cy="182880"/>
          </a:xfrm>
          <a:prstGeom prst="ellipse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6892015" name="TextBox 1"/>
          <p:cNvSpPr txBox="1"/>
          <p:nvPr/>
        </p:nvSpPr>
        <p:spPr bwMode="auto"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14B8A6"/>
                </a:solidFill>
                <a:latin typeface="Calibri"/>
              </a:rPr>
              <a:t>UNDER THE HOOD</a:t>
            </a:r>
            <a:endParaRPr/>
          </a:p>
        </p:txBody>
      </p:sp>
      <p:sp>
        <p:nvSpPr>
          <p:cNvPr id="18132313" name="TextBox 2"/>
          <p:cNvSpPr txBox="1"/>
          <p:nvPr/>
        </p:nvSpPr>
        <p:spPr bwMode="auto"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000" b="1" i="0">
                <a:solidFill>
                  <a:srgbClr val="0F172A"/>
                </a:solidFill>
                <a:latin typeface="Calibri"/>
              </a:rPr>
              <a:t>System architecture</a:t>
            </a:r>
            <a:endParaRPr/>
          </a:p>
        </p:txBody>
      </p:sp>
      <p:sp>
        <p:nvSpPr>
          <p:cNvPr id="618641695" name="Rectangle 3"/>
          <p:cNvSpPr/>
          <p:nvPr/>
        </p:nvSpPr>
        <p:spPr bwMode="auto">
          <a:xfrm>
            <a:off x="548640" y="1207008"/>
            <a:ext cx="914400" cy="40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2236615" name="Rounded Rectangle 4"/>
          <p:cNvSpPr/>
          <p:nvPr/>
        </p:nvSpPr>
        <p:spPr bwMode="auto">
          <a:xfrm>
            <a:off x="4480560" y="1417320"/>
            <a:ext cx="3200400" cy="50292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8396069" name="TextBox 5"/>
          <p:cNvSpPr txBox="1"/>
          <p:nvPr/>
        </p:nvSpPr>
        <p:spPr bwMode="auto">
          <a:xfrm>
            <a:off x="4480560" y="141732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300" b="1" i="0">
                <a:solidFill>
                  <a:srgbClr val="FFFFFF"/>
                </a:solidFill>
                <a:latin typeface="Calibri"/>
              </a:rPr>
              <a:t>Browser (reader in Kashmir)</a:t>
            </a:r>
            <a:endParaRPr/>
          </a:p>
        </p:txBody>
      </p:sp>
      <p:cxnSp>
        <p:nvCxnSpPr>
          <p:cNvPr id="688937553" name="Connector 6"/>
          <p:cNvCxnSpPr/>
          <p:nvPr/>
        </p:nvCxnSpPr>
        <p:spPr bwMode="auto">
          <a:xfrm>
            <a:off x="6080760" y="1920240"/>
            <a:ext cx="0" cy="320040"/>
          </a:xfrm>
          <a:prstGeom prst="line">
            <a:avLst/>
          </a:prstGeom>
          <a:ln w="22225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1665817" name="Rounded Rectangle 7"/>
          <p:cNvSpPr/>
          <p:nvPr/>
        </p:nvSpPr>
        <p:spPr bwMode="auto">
          <a:xfrm>
            <a:off x="548640" y="2286000"/>
            <a:ext cx="7680960" cy="1691640"/>
          </a:xfrm>
          <a:prstGeom prst="roundRect">
            <a:avLst>
              <a:gd name="adj" fmla="val 4000"/>
            </a:avLst>
          </a:prstGeom>
          <a:solidFill>
            <a:srgbClr val="E6FBF8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2140844" name="TextBox 8"/>
          <p:cNvSpPr txBox="1"/>
          <p:nvPr/>
        </p:nvSpPr>
        <p:spPr bwMode="auto">
          <a:xfrm>
            <a:off x="685800" y="23591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50" b="1" i="0">
                <a:solidFill>
                  <a:srgbClr val="0D9488"/>
                </a:solidFill>
                <a:latin typeface="Calibri"/>
              </a:rPr>
              <a:t>VERCEL — Next.js App Router</a:t>
            </a:r>
            <a:endParaRPr/>
          </a:p>
        </p:txBody>
      </p:sp>
      <p:sp>
        <p:nvSpPr>
          <p:cNvPr id="851481571" name="Rounded Rectangle 9"/>
          <p:cNvSpPr/>
          <p:nvPr/>
        </p:nvSpPr>
        <p:spPr bwMode="auto">
          <a:xfrm>
            <a:off x="777240" y="2697480"/>
            <a:ext cx="365760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30619520" name="TextBox 10"/>
          <p:cNvSpPr txBox="1"/>
          <p:nvPr/>
        </p:nvSpPr>
        <p:spPr bwMode="auto">
          <a:xfrm>
            <a:off x="777240" y="2697480"/>
            <a:ext cx="36576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100" b="1" i="0">
                <a:solidFill>
                  <a:srgbClr val="0F172A"/>
                </a:solidFill>
                <a:latin typeface="Calibri"/>
              </a:rPr>
              <a:t>Server Components /</a:t>
            </a:r>
            <a:endParaRPr/>
          </a:p>
          <a:p>
            <a:pPr algn="ctr">
              <a:lnSpc>
                <a:spcPct val="100000"/>
              </a:lnSpc>
              <a:defRPr/>
            </a:pPr>
            <a:r>
              <a:rPr sz="1100" b="1" i="0">
                <a:solidFill>
                  <a:srgbClr val="0F172A"/>
                </a:solidFill>
                <a:latin typeface="Calibri"/>
              </a:rPr>
              <a:t>Actions</a:t>
            </a:r>
            <a:endParaRPr/>
          </a:p>
        </p:txBody>
      </p:sp>
      <p:sp>
        <p:nvSpPr>
          <p:cNvPr id="1619247853" name="Rounded Rectangle 11"/>
          <p:cNvSpPr/>
          <p:nvPr/>
        </p:nvSpPr>
        <p:spPr bwMode="auto">
          <a:xfrm>
            <a:off x="4617720" y="2697480"/>
            <a:ext cx="365760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6378547" name="TextBox 12"/>
          <p:cNvSpPr txBox="1"/>
          <p:nvPr/>
        </p:nvSpPr>
        <p:spPr bwMode="auto">
          <a:xfrm>
            <a:off x="4617720" y="2697480"/>
            <a:ext cx="36576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100" b="1" i="0">
                <a:solidFill>
                  <a:srgbClr val="0F172A"/>
                </a:solidFill>
                <a:latin typeface="Calibri"/>
              </a:rPr>
              <a:t>Client Components</a:t>
            </a:r>
            <a:endParaRPr/>
          </a:p>
        </p:txBody>
      </p:sp>
      <p:sp>
        <p:nvSpPr>
          <p:cNvPr id="627295012" name="Rounded Rectangle 13"/>
          <p:cNvSpPr/>
          <p:nvPr/>
        </p:nvSpPr>
        <p:spPr bwMode="auto">
          <a:xfrm>
            <a:off x="777240" y="3429000"/>
            <a:ext cx="365760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0523306" name="TextBox 14"/>
          <p:cNvSpPr txBox="1"/>
          <p:nvPr/>
        </p:nvSpPr>
        <p:spPr bwMode="auto">
          <a:xfrm>
            <a:off x="777240" y="3429000"/>
            <a:ext cx="36576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100" b="1" i="0">
                <a:solidFill>
                  <a:srgbClr val="0F172A"/>
                </a:solidFill>
                <a:latin typeface="Calibri"/>
              </a:rPr>
              <a:t>Proxy (proxy.ts)</a:t>
            </a:r>
            <a:endParaRPr/>
          </a:p>
        </p:txBody>
      </p:sp>
      <p:sp>
        <p:nvSpPr>
          <p:cNvPr id="247513811" name="Rounded Rectangle 15"/>
          <p:cNvSpPr/>
          <p:nvPr/>
        </p:nvSpPr>
        <p:spPr bwMode="auto">
          <a:xfrm>
            <a:off x="4617720" y="3429000"/>
            <a:ext cx="365760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1302017" name="TextBox 16"/>
          <p:cNvSpPr txBox="1"/>
          <p:nvPr/>
        </p:nvSpPr>
        <p:spPr bwMode="auto">
          <a:xfrm>
            <a:off x="4617720" y="3429000"/>
            <a:ext cx="36576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100" b="1" i="0">
                <a:solidFill>
                  <a:srgbClr val="0F172A"/>
                </a:solidFill>
                <a:latin typeface="Calibri"/>
              </a:rPr>
              <a:t>Route Handler</a:t>
            </a:r>
            <a:endParaRPr/>
          </a:p>
          <a:p>
            <a:pPr algn="ctr">
              <a:lnSpc>
                <a:spcPct val="100000"/>
              </a:lnSpc>
              <a:defRPr/>
            </a:pPr>
            <a:r>
              <a:rPr sz="1100" b="1" i="0">
                <a:solidFill>
                  <a:srgbClr val="0F172A"/>
                </a:solidFill>
                <a:latin typeface="Calibri"/>
              </a:rPr>
              <a:t>/api/digest</a:t>
            </a:r>
            <a:endParaRPr/>
          </a:p>
        </p:txBody>
      </p:sp>
      <p:sp>
        <p:nvSpPr>
          <p:cNvPr id="1951153466" name="Rounded Rectangle 17"/>
          <p:cNvSpPr/>
          <p:nvPr/>
        </p:nvSpPr>
        <p:spPr bwMode="auto">
          <a:xfrm>
            <a:off x="8503920" y="2240280"/>
            <a:ext cx="3108960" cy="59436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5754814" name="TextBox 18"/>
          <p:cNvSpPr txBox="1"/>
          <p:nvPr/>
        </p:nvSpPr>
        <p:spPr bwMode="auto">
          <a:xfrm>
            <a:off x="8503920" y="2240280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i="0">
                <a:solidFill>
                  <a:srgbClr val="64748B"/>
                </a:solidFill>
                <a:latin typeface="Calibri"/>
              </a:rPr>
              <a:t>Resend email</a:t>
            </a:r>
            <a:endParaRPr/>
          </a:p>
        </p:txBody>
      </p:sp>
      <p:sp>
        <p:nvSpPr>
          <p:cNvPr id="1441387916" name="Rounded Rectangle 19"/>
          <p:cNvSpPr/>
          <p:nvPr/>
        </p:nvSpPr>
        <p:spPr bwMode="auto">
          <a:xfrm>
            <a:off x="8503920" y="2971800"/>
            <a:ext cx="3108960" cy="59436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3180704" name="TextBox 20"/>
          <p:cNvSpPr txBox="1"/>
          <p:nvPr/>
        </p:nvSpPr>
        <p:spPr bwMode="auto">
          <a:xfrm>
            <a:off x="8503920" y="2971800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i="0">
                <a:solidFill>
                  <a:srgbClr val="64748B"/>
                </a:solidFill>
                <a:latin typeface="Calibri"/>
              </a:rPr>
              <a:t>Open Library API</a:t>
            </a:r>
            <a:endParaRPr/>
          </a:p>
        </p:txBody>
      </p:sp>
      <p:cxnSp>
        <p:nvCxnSpPr>
          <p:cNvPr id="2145625047" name="Connector 21"/>
          <p:cNvCxnSpPr/>
          <p:nvPr/>
        </p:nvCxnSpPr>
        <p:spPr bwMode="auto">
          <a:xfrm>
            <a:off x="4389120" y="3977640"/>
            <a:ext cx="0" cy="320040"/>
          </a:xfrm>
          <a:prstGeom prst="line">
            <a:avLst/>
          </a:prstGeom>
          <a:ln w="22225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5128071" name="Rounded Rectangle 22"/>
          <p:cNvSpPr/>
          <p:nvPr/>
        </p:nvSpPr>
        <p:spPr bwMode="auto">
          <a:xfrm>
            <a:off x="548640" y="4297680"/>
            <a:ext cx="7680960" cy="1691640"/>
          </a:xfrm>
          <a:prstGeom prst="roundRect">
            <a:avLst>
              <a:gd name="adj" fmla="val 4000"/>
            </a:avLst>
          </a:prstGeom>
          <a:solidFill>
            <a:srgbClr val="EFE7FB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4422394" name="TextBox 23"/>
          <p:cNvSpPr txBox="1"/>
          <p:nvPr/>
        </p:nvSpPr>
        <p:spPr bwMode="auto">
          <a:xfrm>
            <a:off x="685800" y="437083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50" b="1" i="0">
                <a:solidFill>
                  <a:srgbClr val="6D28D9"/>
                </a:solidFill>
                <a:latin typeface="Calibri"/>
              </a:rPr>
              <a:t>SUPABASE — local: Docker; later: Kashmir server</a:t>
            </a:r>
            <a:endParaRPr/>
          </a:p>
        </p:txBody>
      </p:sp>
      <p:sp>
        <p:nvSpPr>
          <p:cNvPr id="1257917544" name="Rounded Rectangle 24"/>
          <p:cNvSpPr/>
          <p:nvPr/>
        </p:nvSpPr>
        <p:spPr bwMode="auto">
          <a:xfrm>
            <a:off x="777240" y="4709160"/>
            <a:ext cx="365760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7578403" name="TextBox 25"/>
          <p:cNvSpPr txBox="1"/>
          <p:nvPr/>
        </p:nvSpPr>
        <p:spPr bwMode="auto">
          <a:xfrm>
            <a:off x="777240" y="4709160"/>
            <a:ext cx="36576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100" b="1" i="0">
                <a:solidFill>
                  <a:srgbClr val="0F172A"/>
                </a:solidFill>
                <a:latin typeface="Calibri"/>
              </a:rPr>
              <a:t>Postgres + RLS</a:t>
            </a:r>
            <a:endParaRPr/>
          </a:p>
        </p:txBody>
      </p:sp>
      <p:sp>
        <p:nvSpPr>
          <p:cNvPr id="1502493304" name="Rounded Rectangle 26"/>
          <p:cNvSpPr/>
          <p:nvPr/>
        </p:nvSpPr>
        <p:spPr bwMode="auto">
          <a:xfrm>
            <a:off x="4617720" y="4709160"/>
            <a:ext cx="365760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3825479" name="TextBox 27"/>
          <p:cNvSpPr txBox="1"/>
          <p:nvPr/>
        </p:nvSpPr>
        <p:spPr bwMode="auto">
          <a:xfrm>
            <a:off x="4617720" y="4709160"/>
            <a:ext cx="36576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100" b="1" i="0">
                <a:solidFill>
                  <a:srgbClr val="0F172A"/>
                </a:solidFill>
                <a:latin typeface="Calibri"/>
              </a:rPr>
              <a:t>GoTrue Auth</a:t>
            </a:r>
            <a:endParaRPr/>
          </a:p>
        </p:txBody>
      </p:sp>
      <p:sp>
        <p:nvSpPr>
          <p:cNvPr id="328192670" name="Rounded Rectangle 28"/>
          <p:cNvSpPr/>
          <p:nvPr/>
        </p:nvSpPr>
        <p:spPr bwMode="auto">
          <a:xfrm>
            <a:off x="777240" y="5440680"/>
            <a:ext cx="365760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1542361" name="TextBox 29"/>
          <p:cNvSpPr txBox="1"/>
          <p:nvPr/>
        </p:nvSpPr>
        <p:spPr bwMode="auto">
          <a:xfrm>
            <a:off x="777240" y="5440680"/>
            <a:ext cx="36576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100" b="1" i="0">
                <a:solidFill>
                  <a:srgbClr val="0F172A"/>
                </a:solidFill>
                <a:latin typeface="Calibri"/>
              </a:rPr>
              <a:t>Storage</a:t>
            </a:r>
            <a:endParaRPr/>
          </a:p>
        </p:txBody>
      </p:sp>
      <p:sp>
        <p:nvSpPr>
          <p:cNvPr id="1416330668" name="Rounded Rectangle 30"/>
          <p:cNvSpPr/>
          <p:nvPr/>
        </p:nvSpPr>
        <p:spPr bwMode="auto">
          <a:xfrm>
            <a:off x="4617720" y="5440680"/>
            <a:ext cx="365760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2982686" name="TextBox 31"/>
          <p:cNvSpPr txBox="1"/>
          <p:nvPr/>
        </p:nvSpPr>
        <p:spPr bwMode="auto">
          <a:xfrm>
            <a:off x="4617720" y="5440680"/>
            <a:ext cx="36576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100" b="1" i="0">
                <a:solidFill>
                  <a:srgbClr val="0F172A"/>
                </a:solidFill>
                <a:latin typeface="Calibri"/>
              </a:rPr>
              <a:t>Realtime</a:t>
            </a:r>
            <a:endParaRPr/>
          </a:p>
        </p:txBody>
      </p:sp>
      <p:sp>
        <p:nvSpPr>
          <p:cNvPr id="591636086" name="TextBox 32"/>
          <p:cNvSpPr txBox="1"/>
          <p:nvPr/>
        </p:nvSpPr>
        <p:spPr bwMode="auto">
          <a:xfrm>
            <a:off x="548640" y="6108192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50" b="0" i="1">
                <a:solidFill>
                  <a:srgbClr val="64748B"/>
                </a:solidFill>
                <a:latin typeface="Calibri"/>
              </a:rPr>
              <a:t>The database box is Docker on a laptop today, and Supabase's hosted cloud in production — the long-term goal is for that same box to be physical hardware in Kashmir.</a:t>
            </a:r>
            <a:endParaRPr/>
          </a:p>
        </p:txBody>
      </p:sp>
      <p:sp>
        <p:nvSpPr>
          <p:cNvPr id="1712442321" name="TextBox 33"/>
          <p:cNvSpPr txBox="1"/>
          <p:nvPr/>
        </p:nvSpPr>
        <p:spPr bwMode="auto"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OLK — Open Library Kashmir</a:t>
            </a:r>
            <a:endParaRPr/>
          </a:p>
        </p:txBody>
      </p:sp>
      <p:sp>
        <p:nvSpPr>
          <p:cNvPr id="1961161300" name="TextBox 34"/>
          <p:cNvSpPr txBox="1"/>
          <p:nvPr/>
        </p:nvSpPr>
        <p:spPr bwMode="auto">
          <a:xfrm>
            <a:off x="8686800" y="6528816"/>
            <a:ext cx="2926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Under the Hood   ·   17 / 37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2102756" name="TextBox 1"/>
          <p:cNvSpPr txBox="1"/>
          <p:nvPr/>
        </p:nvSpPr>
        <p:spPr bwMode="auto"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14B8A6"/>
                </a:solidFill>
                <a:latin typeface="Calibri"/>
              </a:rPr>
              <a:t>UNDER THE HOOD</a:t>
            </a:r>
            <a:endParaRPr/>
          </a:p>
        </p:txBody>
      </p:sp>
      <p:sp>
        <p:nvSpPr>
          <p:cNvPr id="1442978647" name="TextBox 2"/>
          <p:cNvSpPr txBox="1"/>
          <p:nvPr/>
        </p:nvSpPr>
        <p:spPr bwMode="auto"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000" b="1" i="0">
                <a:solidFill>
                  <a:srgbClr val="0F172A"/>
                </a:solidFill>
                <a:latin typeface="Calibri"/>
              </a:rPr>
              <a:t>Server Components vs. Client Components</a:t>
            </a:r>
            <a:endParaRPr/>
          </a:p>
        </p:txBody>
      </p:sp>
      <p:sp>
        <p:nvSpPr>
          <p:cNvPr id="634251950" name="Rectangle 3"/>
          <p:cNvSpPr/>
          <p:nvPr/>
        </p:nvSpPr>
        <p:spPr bwMode="auto">
          <a:xfrm>
            <a:off x="548640" y="1207008"/>
            <a:ext cx="914400" cy="40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0655475" name="TextBox 4"/>
          <p:cNvSpPr txBox="1"/>
          <p:nvPr/>
        </p:nvSpPr>
        <p:spPr bwMode="auto"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550" b="0" i="0">
                <a:solidFill>
                  <a:srgbClr val="0F172A"/>
                </a:solidFill>
                <a:latin typeface="Calibri"/>
              </a:rPr>
              <a:t>Every file under src/app is a Server Component unless its first line says "use client".</a:t>
            </a:r>
            <a:endParaRPr/>
          </a:p>
        </p:txBody>
      </p:sp>
      <p:sp>
        <p:nvSpPr>
          <p:cNvPr id="1554830164" name="Rounded Rectangle 5"/>
          <p:cNvSpPr/>
          <p:nvPr/>
        </p:nvSpPr>
        <p:spPr bwMode="auto">
          <a:xfrm>
            <a:off x="548640" y="2011680"/>
            <a:ext cx="5349240" cy="1965960"/>
          </a:xfrm>
          <a:prstGeom prst="roundRect">
            <a:avLst>
              <a:gd name="adj" fmla="val 5000"/>
            </a:avLst>
          </a:prstGeom>
          <a:solidFill>
            <a:srgbClr val="E6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2074961" name="TextBox 6"/>
          <p:cNvSpPr txBox="1"/>
          <p:nvPr/>
        </p:nvSpPr>
        <p:spPr bwMode="auto">
          <a:xfrm>
            <a:off x="777240" y="21488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0D9488"/>
                </a:solidFill>
                <a:latin typeface="Calibri"/>
              </a:rPr>
              <a:t>SERVER</a:t>
            </a:r>
            <a:endParaRPr/>
          </a:p>
        </p:txBody>
      </p:sp>
      <p:sp>
        <p:nvSpPr>
          <p:cNvPr id="412989120" name="TextBox 7"/>
          <p:cNvSpPr txBox="1"/>
          <p:nvPr/>
        </p:nvSpPr>
        <p:spPr bwMode="auto">
          <a:xfrm>
            <a:off x="777240" y="2514600"/>
            <a:ext cx="48463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300" b="0" i="0">
                <a:solidFill>
                  <a:srgbClr val="1E293B"/>
                </a:solidFill>
                <a:latin typeface="Calibri"/>
              </a:rPr>
              <a:t>Renders on Vercel, talks to Postgres directly, ships no data-fetching code to the browser — the landing page and every layout.</a:t>
            </a:r>
            <a:endParaRPr/>
          </a:p>
        </p:txBody>
      </p:sp>
      <p:sp>
        <p:nvSpPr>
          <p:cNvPr id="378456631" name="Rounded Rectangle 8"/>
          <p:cNvSpPr/>
          <p:nvPr/>
        </p:nvSpPr>
        <p:spPr bwMode="auto">
          <a:xfrm>
            <a:off x="6263640" y="2011680"/>
            <a:ext cx="5349240" cy="196596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8630681" name="TextBox 9"/>
          <p:cNvSpPr txBox="1"/>
          <p:nvPr/>
        </p:nvSpPr>
        <p:spPr bwMode="auto">
          <a:xfrm>
            <a:off x="6492240" y="21488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B45309"/>
                </a:solidFill>
                <a:latin typeface="Calibri"/>
              </a:rPr>
              <a:t>CLIENT</a:t>
            </a:r>
            <a:endParaRPr/>
          </a:p>
        </p:txBody>
      </p:sp>
      <p:sp>
        <p:nvSpPr>
          <p:cNvPr id="1835175995" name="TextBox 10"/>
          <p:cNvSpPr txBox="1"/>
          <p:nvPr/>
        </p:nvSpPr>
        <p:spPr bwMode="auto">
          <a:xfrm>
            <a:off x="6492240" y="2514600"/>
            <a:ext cx="48463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300" b="0" i="0">
                <a:solidFill>
                  <a:srgbClr val="1E293B"/>
                </a:solidFill>
                <a:latin typeface="Calibri"/>
              </a:rPr>
              <a:t>Hydrates and re-renders in the browser, talks to Supabase directly over HTTPS — subject to RLS as the logged-in user, never an elevated role. Nearly every interactive dashboard page.</a:t>
            </a:r>
            <a:endParaRPr/>
          </a:p>
        </p:txBody>
      </p:sp>
      <p:sp>
        <p:nvSpPr>
          <p:cNvPr id="1028124444" name="Rounded Rectangle 11"/>
          <p:cNvSpPr/>
          <p:nvPr/>
        </p:nvSpPr>
        <p:spPr bwMode="auto">
          <a:xfrm>
            <a:off x="548640" y="4251960"/>
            <a:ext cx="11064240" cy="1280160"/>
          </a:xfrm>
          <a:prstGeom prst="roundRect">
            <a:avLst>
              <a:gd name="adj" fmla="val 45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140485" name="Rectangle 12"/>
          <p:cNvSpPr/>
          <p:nvPr/>
        </p:nvSpPr>
        <p:spPr bwMode="auto">
          <a:xfrm>
            <a:off x="548640" y="4251960"/>
            <a:ext cx="50800" cy="12801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9170147" name="TextBox 13"/>
          <p:cNvSpPr txBox="1"/>
          <p:nvPr/>
        </p:nvSpPr>
        <p:spPr bwMode="auto">
          <a:xfrm>
            <a:off x="749808" y="4361688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50" b="1" i="0">
                <a:solidFill>
                  <a:srgbClr val="B45309"/>
                </a:solidFill>
                <a:latin typeface="Calibri"/>
              </a:rPr>
              <a:t>AN HONEST CHARACTERISTIC, NOT A RECOMMENDATION</a:t>
            </a:r>
            <a:endParaRPr/>
          </a:p>
        </p:txBody>
      </p:sp>
      <p:sp>
        <p:nvSpPr>
          <p:cNvPr id="1778458817" name="TextBox 14"/>
          <p:cNvSpPr txBox="1"/>
          <p:nvPr/>
        </p:nvSpPr>
        <p:spPr bwMode="auto">
          <a:xfrm>
            <a:off x="749808" y="4654296"/>
            <a:ext cx="1068019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defRPr/>
            </a:pPr>
            <a:r>
              <a:rPr sz="1400" b="0" i="0">
                <a:solidFill>
                  <a:srgbClr val="0F172A"/>
                </a:solidFill>
                <a:latin typeface="Calibri"/>
              </a:rPr>
              <a:t>Most of this app's complex pages are Client Components today, even where a Server Component would be more efficient. That's a real, legitimate refactor to propose — not a rule someone already decided against.</a:t>
            </a:r>
            <a:endParaRPr/>
          </a:p>
        </p:txBody>
      </p:sp>
      <p:sp>
        <p:nvSpPr>
          <p:cNvPr id="1547647306" name="TextBox 15"/>
          <p:cNvSpPr txBox="1"/>
          <p:nvPr/>
        </p:nvSpPr>
        <p:spPr bwMode="auto"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OLK — Open Library Kashmir</a:t>
            </a:r>
            <a:endParaRPr/>
          </a:p>
        </p:txBody>
      </p:sp>
      <p:sp>
        <p:nvSpPr>
          <p:cNvPr id="441993673" name="TextBox 16"/>
          <p:cNvSpPr txBox="1"/>
          <p:nvPr/>
        </p:nvSpPr>
        <p:spPr bwMode="auto">
          <a:xfrm>
            <a:off x="8686800" y="6528816"/>
            <a:ext cx="2926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Under the Hood   ·   18 / 37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55984" name="TextBox 1"/>
          <p:cNvSpPr txBox="1"/>
          <p:nvPr/>
        </p:nvSpPr>
        <p:spPr bwMode="auto"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14B8A6"/>
                </a:solidFill>
                <a:latin typeface="Calibri"/>
              </a:rPr>
              <a:t>UNDER THE HOOD</a:t>
            </a:r>
            <a:endParaRPr/>
          </a:p>
        </p:txBody>
      </p:sp>
      <p:sp>
        <p:nvSpPr>
          <p:cNvPr id="1317215490" name="TextBox 2"/>
          <p:cNvSpPr txBox="1"/>
          <p:nvPr/>
        </p:nvSpPr>
        <p:spPr bwMode="auto"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000" b="1" i="0">
                <a:solidFill>
                  <a:srgbClr val="0F172A"/>
                </a:solidFill>
                <a:latin typeface="Calibri"/>
              </a:rPr>
              <a:t>The Proxy layer — one file, five jobs</a:t>
            </a:r>
            <a:endParaRPr/>
          </a:p>
        </p:txBody>
      </p:sp>
      <p:sp>
        <p:nvSpPr>
          <p:cNvPr id="2100698056" name="Rectangle 3"/>
          <p:cNvSpPr/>
          <p:nvPr/>
        </p:nvSpPr>
        <p:spPr bwMode="auto">
          <a:xfrm>
            <a:off x="548640" y="1207008"/>
            <a:ext cx="914400" cy="40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8941132" name="TextBox 4"/>
          <p:cNvSpPr txBox="1"/>
          <p:nvPr/>
        </p:nvSpPr>
        <p:spPr bwMode="auto">
          <a:xfrm>
            <a:off x="548640" y="141732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550" b="0" i="0">
                <a:solidFill>
                  <a:srgbClr val="0F172A"/>
                </a:solidFill>
                <a:latin typeface="Calibri"/>
              </a:rPr>
              <a:t>src/proxy.ts runs on every request, before any page renders:</a:t>
            </a:r>
            <a:endParaRPr/>
          </a:p>
        </p:txBody>
      </p:sp>
      <p:sp>
        <p:nvSpPr>
          <p:cNvPr id="2011059982" name="Rectangle 5"/>
          <p:cNvSpPr/>
          <p:nvPr/>
        </p:nvSpPr>
        <p:spPr bwMode="auto">
          <a:xfrm>
            <a:off x="548640" y="1965960"/>
            <a:ext cx="108813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9775240" name="Oval 6"/>
          <p:cNvSpPr/>
          <p:nvPr/>
        </p:nvSpPr>
        <p:spPr bwMode="auto">
          <a:xfrm>
            <a:off x="685800" y="2039112"/>
            <a:ext cx="420624" cy="420624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781153946" name="TextBox 7"/>
          <p:cNvSpPr txBox="1"/>
          <p:nvPr/>
        </p:nvSpPr>
        <p:spPr bwMode="auto">
          <a:xfrm>
            <a:off x="1325880" y="2066544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50" b="0" i="0">
                <a:solidFill>
                  <a:srgbClr val="0F172A"/>
                </a:solidFill>
                <a:latin typeface="Calibri"/>
              </a:rPr>
              <a:t>Refresh auth session cookies (unconditional, every request)</a:t>
            </a:r>
            <a:endParaRPr/>
          </a:p>
        </p:txBody>
      </p:sp>
      <p:sp>
        <p:nvSpPr>
          <p:cNvPr id="1621117188" name="Rectangle 8"/>
          <p:cNvSpPr/>
          <p:nvPr/>
        </p:nvSpPr>
        <p:spPr bwMode="auto">
          <a:xfrm>
            <a:off x="548640" y="2532888"/>
            <a:ext cx="10881360" cy="566928"/>
          </a:xfrm>
          <a:prstGeom prst="rect">
            <a:avLst/>
          </a:prstGeom>
          <a:solidFill>
            <a:srgbClr val="E6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51751" name="Oval 9"/>
          <p:cNvSpPr/>
          <p:nvPr/>
        </p:nvSpPr>
        <p:spPr bwMode="auto">
          <a:xfrm>
            <a:off x="685800" y="2606040"/>
            <a:ext cx="420624" cy="420624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  <a:endParaRPr/>
          </a:p>
        </p:txBody>
      </p:sp>
      <p:sp>
        <p:nvSpPr>
          <p:cNvPr id="1370227227" name="TextBox 10"/>
          <p:cNvSpPr txBox="1"/>
          <p:nvPr/>
        </p:nvSpPr>
        <p:spPr bwMode="auto">
          <a:xfrm>
            <a:off x="1325880" y="2633472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50" b="0" i="0">
                <a:solidFill>
                  <a:srgbClr val="0F172A"/>
                </a:solidFill>
                <a:latin typeface="Calibri"/>
              </a:rPr>
              <a:t>Read feature flags from platform_settings (cached 30s)</a:t>
            </a:r>
            <a:endParaRPr/>
          </a:p>
        </p:txBody>
      </p:sp>
      <p:sp>
        <p:nvSpPr>
          <p:cNvPr id="112936762" name="Rectangle 11"/>
          <p:cNvSpPr/>
          <p:nvPr/>
        </p:nvSpPr>
        <p:spPr bwMode="auto">
          <a:xfrm>
            <a:off x="548640" y="3099816"/>
            <a:ext cx="108813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2661376" name="Oval 12"/>
          <p:cNvSpPr/>
          <p:nvPr/>
        </p:nvSpPr>
        <p:spPr bwMode="auto">
          <a:xfrm>
            <a:off x="685800" y="3172968"/>
            <a:ext cx="420624" cy="420624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  <a:endParaRPr/>
          </a:p>
        </p:txBody>
      </p:sp>
      <p:sp>
        <p:nvSpPr>
          <p:cNvPr id="1456245385" name="TextBox 13"/>
          <p:cNvSpPr txBox="1"/>
          <p:nvPr/>
        </p:nvSpPr>
        <p:spPr bwMode="auto">
          <a:xfrm>
            <a:off x="1325880" y="3200400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50" b="0" i="0">
                <a:solidFill>
                  <a:srgbClr val="0F172A"/>
                </a:solidFill>
                <a:latin typeface="Calibri"/>
              </a:rPr>
              <a:t>Redirect everyone but admins to /maintenance when maintenance mode is on</a:t>
            </a:r>
            <a:endParaRPr/>
          </a:p>
        </p:txBody>
      </p:sp>
      <p:sp>
        <p:nvSpPr>
          <p:cNvPr id="2119875689" name="Rectangle 14"/>
          <p:cNvSpPr/>
          <p:nvPr/>
        </p:nvSpPr>
        <p:spPr bwMode="auto">
          <a:xfrm>
            <a:off x="548640" y="3666744"/>
            <a:ext cx="10881360" cy="566928"/>
          </a:xfrm>
          <a:prstGeom prst="rect">
            <a:avLst/>
          </a:prstGeom>
          <a:solidFill>
            <a:srgbClr val="E6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32763470" name="Oval 15"/>
          <p:cNvSpPr/>
          <p:nvPr/>
        </p:nvSpPr>
        <p:spPr bwMode="auto">
          <a:xfrm>
            <a:off x="685800" y="3739896"/>
            <a:ext cx="420624" cy="420624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  <a:endParaRPr/>
          </a:p>
        </p:txBody>
      </p:sp>
      <p:sp>
        <p:nvSpPr>
          <p:cNvPr id="899928995" name="TextBox 16"/>
          <p:cNvSpPr txBox="1"/>
          <p:nvPr/>
        </p:nvSpPr>
        <p:spPr bwMode="auto">
          <a:xfrm>
            <a:off x="1325880" y="3767328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50" b="0" i="0">
                <a:solidFill>
                  <a:srgbClr val="0F172A"/>
                </a:solidFill>
                <a:latin typeface="Calibri"/>
              </a:rPr>
              <a:t>Redirect away from a disabled feature's whole route tree (clubs/wishlists/messages)</a:t>
            </a:r>
            <a:endParaRPr/>
          </a:p>
        </p:txBody>
      </p:sp>
      <p:sp>
        <p:nvSpPr>
          <p:cNvPr id="1066344956" name="Rectangle 17"/>
          <p:cNvSpPr/>
          <p:nvPr/>
        </p:nvSpPr>
        <p:spPr bwMode="auto">
          <a:xfrm>
            <a:off x="548640" y="4233672"/>
            <a:ext cx="108813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6210444" name="Oval 18"/>
          <p:cNvSpPr/>
          <p:nvPr/>
        </p:nvSpPr>
        <p:spPr bwMode="auto">
          <a:xfrm>
            <a:off x="685800" y="4306824"/>
            <a:ext cx="420624" cy="420624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  <a:endParaRPr/>
          </a:p>
        </p:txBody>
      </p:sp>
      <p:sp>
        <p:nvSpPr>
          <p:cNvPr id="1684363613" name="TextBox 19"/>
          <p:cNvSpPr txBox="1"/>
          <p:nvPr/>
        </p:nvSpPr>
        <p:spPr bwMode="auto">
          <a:xfrm>
            <a:off x="1325880" y="4334256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50" b="0" i="0">
                <a:solidFill>
                  <a:srgbClr val="0F172A"/>
                </a:solidFill>
                <a:latin typeface="Calibri"/>
              </a:rPr>
              <a:t>Gate unauthenticated, banned, and non-admin users off protected routes</a:t>
            </a:r>
            <a:endParaRPr/>
          </a:p>
        </p:txBody>
      </p:sp>
      <p:sp>
        <p:nvSpPr>
          <p:cNvPr id="555193453" name="Rounded Rectangle 20"/>
          <p:cNvSpPr/>
          <p:nvPr/>
        </p:nvSpPr>
        <p:spPr bwMode="auto">
          <a:xfrm>
            <a:off x="548640" y="5074920"/>
            <a:ext cx="11064240" cy="868680"/>
          </a:xfrm>
          <a:prstGeom prst="roundRect">
            <a:avLst>
              <a:gd name="adj" fmla="val 4500"/>
            </a:avLst>
          </a:prstGeom>
          <a:solidFill>
            <a:srgbClr val="E6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1140176" name="Rectangle 21"/>
          <p:cNvSpPr/>
          <p:nvPr/>
        </p:nvSpPr>
        <p:spPr bwMode="auto">
          <a:xfrm>
            <a:off x="548640" y="5074920"/>
            <a:ext cx="50800" cy="8686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7074175" name="TextBox 22"/>
          <p:cNvSpPr txBox="1"/>
          <p:nvPr/>
        </p:nvSpPr>
        <p:spPr bwMode="auto">
          <a:xfrm>
            <a:off x="749808" y="5184648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endParaRPr/>
          </a:p>
        </p:txBody>
      </p:sp>
      <p:sp>
        <p:nvSpPr>
          <p:cNvPr id="800327405" name="TextBox 23"/>
          <p:cNvSpPr txBox="1"/>
          <p:nvPr/>
        </p:nvSpPr>
        <p:spPr bwMode="auto">
          <a:xfrm>
            <a:off x="749808" y="5477255"/>
            <a:ext cx="106801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defRPr/>
            </a:pPr>
            <a:r>
              <a:rPr sz="1350" b="0" i="0">
                <a:solidFill>
                  <a:srgbClr val="0F172A"/>
                </a:solidFill>
                <a:latin typeface="Calibri"/>
              </a:rPr>
              <a:t>This is the platform-wide switchboard behind the “one switch, whole platform” feature-flag story from the platform tour.</a:t>
            </a:r>
            <a:endParaRPr/>
          </a:p>
        </p:txBody>
      </p:sp>
      <p:sp>
        <p:nvSpPr>
          <p:cNvPr id="1639722856" name="TextBox 24"/>
          <p:cNvSpPr txBox="1"/>
          <p:nvPr/>
        </p:nvSpPr>
        <p:spPr bwMode="auto"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OLK — Open Library Kashmir</a:t>
            </a:r>
            <a:endParaRPr/>
          </a:p>
        </p:txBody>
      </p:sp>
      <p:sp>
        <p:nvSpPr>
          <p:cNvPr id="141907029" name="TextBox 25"/>
          <p:cNvSpPr txBox="1"/>
          <p:nvPr/>
        </p:nvSpPr>
        <p:spPr bwMode="auto">
          <a:xfrm>
            <a:off x="8686800" y="6528816"/>
            <a:ext cx="2926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Under the Hood   ·   19 / 37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690454" name="TextBox 1"/>
          <p:cNvSpPr txBox="1"/>
          <p:nvPr/>
        </p:nvSpPr>
        <p:spPr bwMode="auto"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14B8A6"/>
                </a:solidFill>
                <a:latin typeface="Calibri"/>
              </a:rPr>
              <a:t>UNDER THE HOOD</a:t>
            </a:r>
            <a:endParaRPr/>
          </a:p>
        </p:txBody>
      </p:sp>
      <p:sp>
        <p:nvSpPr>
          <p:cNvPr id="950321127" name="TextBox 2"/>
          <p:cNvSpPr txBox="1"/>
          <p:nvPr/>
        </p:nvSpPr>
        <p:spPr bwMode="auto"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000" b="1" i="0">
                <a:solidFill>
                  <a:srgbClr val="0F172A"/>
                </a:solidFill>
                <a:latin typeface="Calibri"/>
              </a:rPr>
              <a:t>Supabase fundamentals</a:t>
            </a:r>
            <a:endParaRPr/>
          </a:p>
        </p:txBody>
      </p:sp>
      <p:sp>
        <p:nvSpPr>
          <p:cNvPr id="844369350" name="Rectangle 3"/>
          <p:cNvSpPr/>
          <p:nvPr/>
        </p:nvSpPr>
        <p:spPr bwMode="auto">
          <a:xfrm>
            <a:off x="548640" y="1207008"/>
            <a:ext cx="914400" cy="40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3813958" name="TextBox 4"/>
          <p:cNvSpPr txBox="1"/>
          <p:nvPr/>
        </p:nvSpPr>
        <p:spPr bwMode="auto"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500" b="0" i="0">
                <a:solidFill>
                  <a:srgbClr val="0F172A"/>
                </a:solidFill>
                <a:latin typeface="Calibri"/>
              </a:rPr>
              <a:t>“Supabase” is not one server — it's a bundle of independent, cooperating open-source services in front of stock Postgres.</a:t>
            </a:r>
            <a:endParaRPr/>
          </a:p>
        </p:txBody>
      </p:sp>
      <p:sp>
        <p:nvSpPr>
          <p:cNvPr id="531229099" name="Rounded Rectangle 5"/>
          <p:cNvSpPr/>
          <p:nvPr/>
        </p:nvSpPr>
        <p:spPr bwMode="auto">
          <a:xfrm>
            <a:off x="548640" y="2011680"/>
            <a:ext cx="110642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8193894" name="TextBox 6"/>
          <p:cNvSpPr txBox="1"/>
          <p:nvPr/>
        </p:nvSpPr>
        <p:spPr bwMode="auto">
          <a:xfrm>
            <a:off x="777240" y="2176272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50" b="1" i="0">
                <a:solidFill>
                  <a:srgbClr val="0D9488"/>
                </a:solidFill>
                <a:latin typeface="Calibri"/>
              </a:rPr>
              <a:t>Postgres</a:t>
            </a:r>
            <a:endParaRPr/>
          </a:p>
        </p:txBody>
      </p:sp>
      <p:sp>
        <p:nvSpPr>
          <p:cNvPr id="709688855" name="TextBox 7"/>
          <p:cNvSpPr txBox="1"/>
          <p:nvPr/>
        </p:nvSpPr>
        <p:spPr bwMode="auto">
          <a:xfrm>
            <a:off x="2834640" y="2176272"/>
            <a:ext cx="8595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50" b="0" i="0">
                <a:solidFill>
                  <a:srgbClr val="1E293B"/>
                </a:solidFill>
                <a:latin typeface="Calibri"/>
              </a:rPr>
              <a:t>The real database; every table is a plain, non-proprietary table.</a:t>
            </a:r>
            <a:endParaRPr/>
          </a:p>
        </p:txBody>
      </p:sp>
      <p:sp>
        <p:nvSpPr>
          <p:cNvPr id="1714364821" name="Rounded Rectangle 8"/>
          <p:cNvSpPr/>
          <p:nvPr/>
        </p:nvSpPr>
        <p:spPr bwMode="auto">
          <a:xfrm>
            <a:off x="548640" y="2852928"/>
            <a:ext cx="11064240" cy="777240"/>
          </a:xfrm>
          <a:prstGeom prst="roundRect">
            <a:avLst>
              <a:gd name="adj" fmla="val 4000"/>
            </a:avLst>
          </a:prstGeom>
          <a:solidFill>
            <a:srgbClr val="E6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38966340" name="TextBox 9"/>
          <p:cNvSpPr txBox="1"/>
          <p:nvPr/>
        </p:nvSpPr>
        <p:spPr bwMode="auto">
          <a:xfrm>
            <a:off x="777240" y="3017519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50" b="1" i="0">
                <a:solidFill>
                  <a:srgbClr val="0D9488"/>
                </a:solidFill>
                <a:latin typeface="Calibri"/>
              </a:rPr>
              <a:t>PostgREST</a:t>
            </a:r>
            <a:endParaRPr/>
          </a:p>
        </p:txBody>
      </p:sp>
      <p:sp>
        <p:nvSpPr>
          <p:cNvPr id="452901921" name="TextBox 10"/>
          <p:cNvSpPr txBox="1"/>
          <p:nvPr/>
        </p:nvSpPr>
        <p:spPr bwMode="auto">
          <a:xfrm>
            <a:off x="2834640" y="3017519"/>
            <a:ext cx="8595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50" b="0" i="0">
                <a:solidFill>
                  <a:srgbClr val="1E293B"/>
                </a:solidFill>
                <a:latin typeface="Calibri"/>
              </a:rPr>
              <a:t>Turns the schema into a REST API automatically — no hand-written backend for most operations.</a:t>
            </a:r>
            <a:endParaRPr/>
          </a:p>
        </p:txBody>
      </p:sp>
      <p:sp>
        <p:nvSpPr>
          <p:cNvPr id="1698099849" name="Rounded Rectangle 11"/>
          <p:cNvSpPr/>
          <p:nvPr/>
        </p:nvSpPr>
        <p:spPr bwMode="auto">
          <a:xfrm>
            <a:off x="548640" y="3694176"/>
            <a:ext cx="110642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2832795" name="TextBox 12"/>
          <p:cNvSpPr txBox="1"/>
          <p:nvPr/>
        </p:nvSpPr>
        <p:spPr bwMode="auto">
          <a:xfrm>
            <a:off x="777240" y="3858768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50" b="1" i="0">
                <a:solidFill>
                  <a:srgbClr val="0D9488"/>
                </a:solidFill>
                <a:latin typeface="Calibri"/>
              </a:rPr>
              <a:t>GoTrue</a:t>
            </a:r>
            <a:endParaRPr/>
          </a:p>
        </p:txBody>
      </p:sp>
      <p:sp>
        <p:nvSpPr>
          <p:cNvPr id="700143424" name="TextBox 13"/>
          <p:cNvSpPr txBox="1"/>
          <p:nvPr/>
        </p:nvSpPr>
        <p:spPr bwMode="auto">
          <a:xfrm>
            <a:off x="2834640" y="3858768"/>
            <a:ext cx="8595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50" b="0" i="0">
                <a:solidFill>
                  <a:srgbClr val="1E293B"/>
                </a:solidFill>
                <a:latin typeface="Calibri"/>
              </a:rPr>
              <a:t>Issues/verifies JWTs, owns auth.users.</a:t>
            </a:r>
            <a:endParaRPr/>
          </a:p>
        </p:txBody>
      </p:sp>
      <p:sp>
        <p:nvSpPr>
          <p:cNvPr id="1904138951" name="Rounded Rectangle 14"/>
          <p:cNvSpPr/>
          <p:nvPr/>
        </p:nvSpPr>
        <p:spPr bwMode="auto">
          <a:xfrm>
            <a:off x="548640" y="4535424"/>
            <a:ext cx="11064240" cy="777240"/>
          </a:xfrm>
          <a:prstGeom prst="roundRect">
            <a:avLst>
              <a:gd name="adj" fmla="val 4000"/>
            </a:avLst>
          </a:prstGeom>
          <a:solidFill>
            <a:srgbClr val="E6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2985019" name="TextBox 15"/>
          <p:cNvSpPr txBox="1"/>
          <p:nvPr/>
        </p:nvSpPr>
        <p:spPr bwMode="auto">
          <a:xfrm>
            <a:off x="777240" y="4700016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50" b="1" i="0">
                <a:solidFill>
                  <a:srgbClr val="0D9488"/>
                </a:solidFill>
                <a:latin typeface="Calibri"/>
              </a:rPr>
              <a:t>Storage</a:t>
            </a:r>
            <a:endParaRPr/>
          </a:p>
        </p:txBody>
      </p:sp>
      <p:sp>
        <p:nvSpPr>
          <p:cNvPr id="1377725379" name="TextBox 16"/>
          <p:cNvSpPr txBox="1"/>
          <p:nvPr/>
        </p:nvSpPr>
        <p:spPr bwMode="auto">
          <a:xfrm>
            <a:off x="2834640" y="4700016"/>
            <a:ext cx="8595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50" b="0" i="0">
                <a:solidFill>
                  <a:srgbClr val="1E293B"/>
                </a:solidFill>
                <a:latin typeface="Calibri"/>
              </a:rPr>
              <a:t>S3-like object store (book cover images).</a:t>
            </a:r>
            <a:endParaRPr/>
          </a:p>
        </p:txBody>
      </p:sp>
      <p:sp>
        <p:nvSpPr>
          <p:cNvPr id="1513981684" name="Rounded Rectangle 17"/>
          <p:cNvSpPr/>
          <p:nvPr/>
        </p:nvSpPr>
        <p:spPr bwMode="auto">
          <a:xfrm>
            <a:off x="548640" y="5376672"/>
            <a:ext cx="110642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067392" name="TextBox 18"/>
          <p:cNvSpPr txBox="1"/>
          <p:nvPr/>
        </p:nvSpPr>
        <p:spPr bwMode="auto">
          <a:xfrm>
            <a:off x="777240" y="5541264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50" b="1" i="0">
                <a:solidFill>
                  <a:srgbClr val="0D9488"/>
                </a:solidFill>
                <a:latin typeface="Calibri"/>
              </a:rPr>
              <a:t>Realtime</a:t>
            </a:r>
            <a:endParaRPr/>
          </a:p>
        </p:txBody>
      </p:sp>
      <p:sp>
        <p:nvSpPr>
          <p:cNvPr id="1846048162" name="TextBox 19"/>
          <p:cNvSpPr txBox="1"/>
          <p:nvPr/>
        </p:nvSpPr>
        <p:spPr bwMode="auto">
          <a:xfrm>
            <a:off x="2834640" y="5541264"/>
            <a:ext cx="8595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50" b="0" i="0">
                <a:solidFill>
                  <a:srgbClr val="1E293B"/>
                </a:solidFill>
                <a:latin typeface="Calibri"/>
              </a:rPr>
              <a:t>Streams row changes over WebSockets — powers chat and the notification bell.</a:t>
            </a:r>
            <a:endParaRPr/>
          </a:p>
        </p:txBody>
      </p:sp>
      <p:sp>
        <p:nvSpPr>
          <p:cNvPr id="704799496" name="TextBox 20"/>
          <p:cNvSpPr txBox="1"/>
          <p:nvPr/>
        </p:nvSpPr>
        <p:spPr bwMode="auto"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OLK — Open Library Kashmir</a:t>
            </a:r>
            <a:endParaRPr/>
          </a:p>
        </p:txBody>
      </p:sp>
      <p:sp>
        <p:nvSpPr>
          <p:cNvPr id="546290662" name="TextBox 21"/>
          <p:cNvSpPr txBox="1"/>
          <p:nvPr/>
        </p:nvSpPr>
        <p:spPr bwMode="auto">
          <a:xfrm>
            <a:off x="8686800" y="6528816"/>
            <a:ext cx="2926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Under the Hood   ·   20 / 37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6098030" name="TextBox 1"/>
          <p:cNvSpPr txBox="1"/>
          <p:nvPr/>
        </p:nvSpPr>
        <p:spPr bwMode="auto"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14B8A6"/>
                </a:solidFill>
                <a:latin typeface="Calibri"/>
              </a:rPr>
              <a:t>UNDER THE HOOD</a:t>
            </a:r>
            <a:endParaRPr/>
          </a:p>
        </p:txBody>
      </p:sp>
      <p:sp>
        <p:nvSpPr>
          <p:cNvPr id="235355246" name="TextBox 2"/>
          <p:cNvSpPr txBox="1"/>
          <p:nvPr/>
        </p:nvSpPr>
        <p:spPr bwMode="auto"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000" b="1" i="0">
                <a:solidFill>
                  <a:srgbClr val="0F172A"/>
                </a:solidFill>
                <a:latin typeface="Calibri"/>
              </a:rPr>
              <a:t>The database, at a glance</a:t>
            </a:r>
            <a:endParaRPr/>
          </a:p>
        </p:txBody>
      </p:sp>
      <p:sp>
        <p:nvSpPr>
          <p:cNvPr id="2083342572" name="Rectangle 3"/>
          <p:cNvSpPr/>
          <p:nvPr/>
        </p:nvSpPr>
        <p:spPr bwMode="auto">
          <a:xfrm>
            <a:off x="548640" y="1207008"/>
            <a:ext cx="914400" cy="40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1330026" name="TextBox 4"/>
          <p:cNvSpPr txBox="1"/>
          <p:nvPr/>
        </p:nvSpPr>
        <p:spPr bwMode="auto">
          <a:xfrm>
            <a:off x="548640" y="13716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600" b="1" i="0">
                <a:solidFill>
                  <a:srgbClr val="0F172A"/>
                </a:solidFill>
                <a:latin typeface="Calibri"/>
              </a:rPr>
              <a:t>24 tables, all in public, every one Row-Level-Security protected.</a:t>
            </a:r>
            <a:endParaRPr/>
          </a:p>
        </p:txBody>
      </p:sp>
      <p:sp>
        <p:nvSpPr>
          <p:cNvPr id="118989228" name="Rounded Rectangle 5"/>
          <p:cNvSpPr/>
          <p:nvPr/>
        </p:nvSpPr>
        <p:spPr bwMode="auto">
          <a:xfrm>
            <a:off x="548640" y="1920240"/>
            <a:ext cx="5349240" cy="1691640"/>
          </a:xfrm>
          <a:prstGeom prst="roundRect">
            <a:avLst>
              <a:gd name="adj" fmla="val 6000"/>
            </a:avLst>
          </a:prstGeom>
          <a:solidFill>
            <a:srgbClr val="E6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4958518" name="TextBox 6"/>
          <p:cNvSpPr txBox="1"/>
          <p:nvPr/>
        </p:nvSpPr>
        <p:spPr bwMode="auto">
          <a:xfrm>
            <a:off x="777240" y="2057400"/>
            <a:ext cx="489203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i="0">
                <a:solidFill>
                  <a:srgbClr val="0D9488"/>
                </a:solidFill>
                <a:latin typeface="Calibri"/>
              </a:rPr>
              <a:t>Identity &amp; exchange</a:t>
            </a:r>
            <a:endParaRPr/>
          </a:p>
        </p:txBody>
      </p:sp>
      <p:sp>
        <p:nvSpPr>
          <p:cNvPr id="1103571664" name="TextBox 7"/>
          <p:cNvSpPr txBox="1"/>
          <p:nvPr/>
        </p:nvSpPr>
        <p:spPr bwMode="auto">
          <a:xfrm>
            <a:off x="777240" y="2468880"/>
            <a:ext cx="489203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200" b="1" i="0">
                <a:solidFill>
                  <a:srgbClr val="0D9488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profiles, books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200" b="1" i="0">
                <a:solidFill>
                  <a:srgbClr val="0D9488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book_requests, book_progress</a:t>
            </a:r>
            <a:endParaRPr/>
          </a:p>
        </p:txBody>
      </p:sp>
      <p:sp>
        <p:nvSpPr>
          <p:cNvPr id="1554886686" name="Rounded Rectangle 8"/>
          <p:cNvSpPr/>
          <p:nvPr/>
        </p:nvSpPr>
        <p:spPr bwMode="auto">
          <a:xfrm>
            <a:off x="6263640" y="1920240"/>
            <a:ext cx="5349240" cy="1691640"/>
          </a:xfrm>
          <a:prstGeom prst="roundRect">
            <a:avLst>
              <a:gd name="adj" fmla="val 6000"/>
            </a:avLst>
          </a:prstGeom>
          <a:solidFill>
            <a:srgbClr val="E6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5847613" name="TextBox 9"/>
          <p:cNvSpPr txBox="1"/>
          <p:nvPr/>
        </p:nvSpPr>
        <p:spPr bwMode="auto">
          <a:xfrm>
            <a:off x="6492240" y="2057400"/>
            <a:ext cx="489203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i="0">
                <a:solidFill>
                  <a:srgbClr val="0D9488"/>
                </a:solidFill>
                <a:latin typeface="Calibri"/>
              </a:rPr>
              <a:t>Community</a:t>
            </a:r>
            <a:endParaRPr/>
          </a:p>
        </p:txBody>
      </p:sp>
      <p:sp>
        <p:nvSpPr>
          <p:cNvPr id="349127398" name="TextBox 10"/>
          <p:cNvSpPr txBox="1"/>
          <p:nvPr/>
        </p:nvSpPr>
        <p:spPr bwMode="auto">
          <a:xfrm>
            <a:off x="6492240" y="2468880"/>
            <a:ext cx="489203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200" b="1" i="0">
                <a:solidFill>
                  <a:srgbClr val="0D9488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messages, wishlists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200" b="1" i="0">
                <a:solidFill>
                  <a:srgbClr val="0D9488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ratings, clubs (+members, posts)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200" b="1" i="0">
                <a:solidFill>
                  <a:srgbClr val="0D9488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bookmarks, book_notes</a:t>
            </a:r>
            <a:endParaRPr/>
          </a:p>
        </p:txBody>
      </p:sp>
      <p:sp>
        <p:nvSpPr>
          <p:cNvPr id="447810823" name="Rounded Rectangle 11"/>
          <p:cNvSpPr/>
          <p:nvPr/>
        </p:nvSpPr>
        <p:spPr bwMode="auto">
          <a:xfrm>
            <a:off x="548640" y="3840480"/>
            <a:ext cx="5349240" cy="1691640"/>
          </a:xfrm>
          <a:prstGeom prst="roundRect">
            <a:avLst>
              <a:gd name="adj" fmla="val 6000"/>
            </a:avLst>
          </a:prstGeom>
          <a:solidFill>
            <a:srgbClr val="E6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7972362" name="TextBox 12"/>
          <p:cNvSpPr txBox="1"/>
          <p:nvPr/>
        </p:nvSpPr>
        <p:spPr bwMode="auto">
          <a:xfrm>
            <a:off x="777240" y="3977640"/>
            <a:ext cx="489203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i="0">
                <a:solidFill>
                  <a:srgbClr val="0D9488"/>
                </a:solidFill>
                <a:latin typeface="Calibri"/>
              </a:rPr>
              <a:t>Notifications &amp; content</a:t>
            </a:r>
            <a:endParaRPr/>
          </a:p>
        </p:txBody>
      </p:sp>
      <p:sp>
        <p:nvSpPr>
          <p:cNvPr id="895512612" name="TextBox 13"/>
          <p:cNvSpPr txBox="1"/>
          <p:nvPr/>
        </p:nvSpPr>
        <p:spPr bwMode="auto">
          <a:xfrm>
            <a:off x="777240" y="4389120"/>
            <a:ext cx="489203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200" b="1" i="0">
                <a:solidFill>
                  <a:srgbClr val="0D9488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notifications, announcements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200" b="1" i="0">
                <a:solidFill>
                  <a:srgbClr val="0D9488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genres, areas, book_of_month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200" b="1" i="0">
                <a:solidFill>
                  <a:srgbClr val="0D9488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platform_settings</a:t>
            </a:r>
            <a:endParaRPr/>
          </a:p>
        </p:txBody>
      </p:sp>
      <p:sp>
        <p:nvSpPr>
          <p:cNvPr id="1689329081" name="Rounded Rectangle 14"/>
          <p:cNvSpPr/>
          <p:nvPr/>
        </p:nvSpPr>
        <p:spPr bwMode="auto">
          <a:xfrm>
            <a:off x="6263640" y="3840480"/>
            <a:ext cx="5349240" cy="1691640"/>
          </a:xfrm>
          <a:prstGeom prst="roundRect">
            <a:avLst>
              <a:gd name="adj" fmla="val 6000"/>
            </a:avLst>
          </a:prstGeom>
          <a:solidFill>
            <a:srgbClr val="E6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9016712" name="TextBox 15"/>
          <p:cNvSpPr txBox="1"/>
          <p:nvPr/>
        </p:nvSpPr>
        <p:spPr bwMode="auto">
          <a:xfrm>
            <a:off x="6492240" y="3977640"/>
            <a:ext cx="489203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i="0">
                <a:solidFill>
                  <a:srgbClr val="0D9488"/>
                </a:solidFill>
                <a:latin typeface="Calibri"/>
              </a:rPr>
              <a:t>Admin &amp; moderation</a:t>
            </a:r>
            <a:endParaRPr/>
          </a:p>
        </p:txBody>
      </p:sp>
      <p:sp>
        <p:nvSpPr>
          <p:cNvPr id="1590042572" name="TextBox 16"/>
          <p:cNvSpPr txBox="1"/>
          <p:nvPr/>
        </p:nvSpPr>
        <p:spPr bwMode="auto">
          <a:xfrm>
            <a:off x="6492240" y="4389120"/>
            <a:ext cx="4892039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200" b="1" i="0">
                <a:solidFill>
                  <a:srgbClr val="0D9488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reports, user_bans/warnings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200" b="1" i="0">
                <a:solidFill>
                  <a:srgbClr val="0D9488"/>
                </a:solidFill>
                <a:latin typeface="Calibri"/>
              </a:rPr>
              <a:t>– 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admin_audit_log, admin_notes</a:t>
            </a:r>
            <a:endParaRPr/>
          </a:p>
        </p:txBody>
      </p:sp>
      <p:sp>
        <p:nvSpPr>
          <p:cNvPr id="2140248014" name="TextBox 17"/>
          <p:cNvSpPr txBox="1"/>
          <p:nvPr/>
        </p:nvSpPr>
        <p:spPr bwMode="auto">
          <a:xfrm>
            <a:off x="548640" y="576072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0" i="1">
                <a:solidFill>
                  <a:srgbClr val="64748B"/>
                </a:solidFill>
                <a:latin typeface="Calibri"/>
              </a:rPr>
              <a:t>No ORM — the schema itself, not generated code, is the single source of truth.</a:t>
            </a:r>
            <a:endParaRPr/>
          </a:p>
        </p:txBody>
      </p:sp>
      <p:sp>
        <p:nvSpPr>
          <p:cNvPr id="770878471" name="TextBox 18"/>
          <p:cNvSpPr txBox="1"/>
          <p:nvPr/>
        </p:nvSpPr>
        <p:spPr bwMode="auto"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OLK — Open Library Kashmir</a:t>
            </a:r>
            <a:endParaRPr/>
          </a:p>
        </p:txBody>
      </p:sp>
      <p:sp>
        <p:nvSpPr>
          <p:cNvPr id="1148034166" name="TextBox 19"/>
          <p:cNvSpPr txBox="1"/>
          <p:nvPr/>
        </p:nvSpPr>
        <p:spPr bwMode="auto">
          <a:xfrm>
            <a:off x="8686800" y="6528816"/>
            <a:ext cx="2926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Under the Hood   ·   21 / 37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9517545" name="TextBox 1"/>
          <p:cNvSpPr txBox="1"/>
          <p:nvPr/>
        </p:nvSpPr>
        <p:spPr bwMode="auto"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14B8A6"/>
                </a:solidFill>
                <a:latin typeface="Calibri"/>
              </a:rPr>
              <a:t>UNDER THE HOOD</a:t>
            </a:r>
            <a:endParaRPr/>
          </a:p>
        </p:txBody>
      </p:sp>
      <p:sp>
        <p:nvSpPr>
          <p:cNvPr id="372298890" name="TextBox 2"/>
          <p:cNvSpPr txBox="1"/>
          <p:nvPr/>
        </p:nvSpPr>
        <p:spPr bwMode="auto"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000" b="1" i="0">
                <a:solidFill>
                  <a:srgbClr val="0F172A"/>
                </a:solidFill>
                <a:latin typeface="Calibri"/>
              </a:rPr>
              <a:t>auth.users vs. public.profiles</a:t>
            </a:r>
            <a:endParaRPr/>
          </a:p>
        </p:txBody>
      </p:sp>
      <p:sp>
        <p:nvSpPr>
          <p:cNvPr id="185807450" name="Rectangle 3"/>
          <p:cNvSpPr/>
          <p:nvPr/>
        </p:nvSpPr>
        <p:spPr bwMode="auto">
          <a:xfrm>
            <a:off x="548640" y="1207008"/>
            <a:ext cx="914400" cy="40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4003080" name="TextBox 4"/>
          <p:cNvSpPr txBox="1"/>
          <p:nvPr/>
        </p:nvSpPr>
        <p:spPr bwMode="auto">
          <a:xfrm>
            <a:off x="548640" y="1463040"/>
            <a:ext cx="106070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6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F172A"/>
                </a:solidFill>
                <a:latin typeface="Calibri"/>
              </a:rPr>
              <a:t>Supabase Auth owns auth.users</a:t>
            </a:r>
            <a:r>
              <a:rPr sz="1600" b="0" i="0">
                <a:solidFill>
                  <a:srgbClr val="1E293B"/>
                </a:solidFill>
                <a:latin typeface="Calibri"/>
              </a:rPr>
              <a:t> — email, password hash. Application code never touches it directly.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6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F172A"/>
                </a:solidFill>
                <a:latin typeface="Calibri"/>
              </a:rPr>
              <a:t>public.profiles mirrors what the app needs</a:t>
            </a:r>
            <a:r>
              <a:rPr sz="1600" b="0" i="0">
                <a:solidFill>
                  <a:srgbClr val="1E293B"/>
                </a:solidFill>
                <a:latin typeface="Calibri"/>
              </a:rPr>
              <a:t> — name, area, admin role, ban state.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6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0F172A"/>
                </a:solidFill>
                <a:latin typeface="Calibri"/>
              </a:rPr>
              <a:t>Kept in lock-step by one database trigger</a:t>
            </a:r>
            <a:r>
              <a:rPr sz="1600" b="0" i="0">
                <a:solidFill>
                  <a:srgbClr val="1E293B"/>
                </a:solidFill>
                <a:latin typeface="Calibri"/>
              </a:rPr>
              <a:t>, fired the instant someone signs up.</a:t>
            </a:r>
            <a:endParaRPr/>
          </a:p>
        </p:txBody>
      </p:sp>
      <p:sp>
        <p:nvSpPr>
          <p:cNvPr id="2084888688" name="Rounded Rectangle 5"/>
          <p:cNvSpPr/>
          <p:nvPr/>
        </p:nvSpPr>
        <p:spPr bwMode="auto">
          <a:xfrm>
            <a:off x="548640" y="3566160"/>
            <a:ext cx="11064240" cy="1920240"/>
          </a:xfrm>
          <a:prstGeom prst="roundRect">
            <a:avLst>
              <a:gd name="adj" fmla="val 45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16338807" name="Rectangle 6"/>
          <p:cNvSpPr/>
          <p:nvPr/>
        </p:nvSpPr>
        <p:spPr bwMode="auto">
          <a:xfrm>
            <a:off x="548640" y="3566160"/>
            <a:ext cx="50800" cy="19202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6621851" name="TextBox 7"/>
          <p:cNvSpPr txBox="1"/>
          <p:nvPr/>
        </p:nvSpPr>
        <p:spPr bwMode="auto">
          <a:xfrm>
            <a:off x="749808" y="3675888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50" b="1" i="0">
                <a:solidFill>
                  <a:srgbClr val="B45309"/>
                </a:solidFill>
                <a:latin typeface="Calibri"/>
              </a:rPr>
              <a:t>A REAL, CONSEQUENTIAL EXCEPTION</a:t>
            </a:r>
            <a:endParaRPr/>
          </a:p>
        </p:txBody>
      </p:sp>
      <p:sp>
        <p:nvSpPr>
          <p:cNvPr id="1091789983" name="TextBox 8"/>
          <p:cNvSpPr txBox="1"/>
          <p:nvPr/>
        </p:nvSpPr>
        <p:spPr bwMode="auto">
          <a:xfrm>
            <a:off x="749808" y="3968496"/>
            <a:ext cx="10680192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defRPr/>
            </a:pPr>
            <a:r>
              <a:rPr sz="1500" b="0" i="0">
                <a:solidFill>
                  <a:srgbClr val="0F172A"/>
                </a:solidFill>
                <a:latin typeface="Calibri"/>
              </a:rPr>
              <a:t>books.owner_id points at auth.users, not profiles — so fetching “the book owner's name” always needs a second, separate query. This is documented in the code itself as the single best piece of institutional memory in the whole frontend.</a:t>
            </a:r>
            <a:endParaRPr/>
          </a:p>
        </p:txBody>
      </p:sp>
      <p:sp>
        <p:nvSpPr>
          <p:cNvPr id="255550039" name="TextBox 9"/>
          <p:cNvSpPr txBox="1"/>
          <p:nvPr/>
        </p:nvSpPr>
        <p:spPr bwMode="auto"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OLK — Open Library Kashmir</a:t>
            </a:r>
            <a:endParaRPr/>
          </a:p>
        </p:txBody>
      </p:sp>
      <p:sp>
        <p:nvSpPr>
          <p:cNvPr id="910363347" name="TextBox 10"/>
          <p:cNvSpPr txBox="1"/>
          <p:nvPr/>
        </p:nvSpPr>
        <p:spPr bwMode="auto">
          <a:xfrm>
            <a:off x="8686800" y="6528816"/>
            <a:ext cx="2926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Under the Hood   ·   22 / 37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7621418" name="TextBox 1"/>
          <p:cNvSpPr txBox="1"/>
          <p:nvPr/>
        </p:nvSpPr>
        <p:spPr bwMode="auto"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14B8A6"/>
                </a:solidFill>
                <a:latin typeface="Calibri"/>
              </a:rPr>
              <a:t>UNDER THE HOOD</a:t>
            </a:r>
            <a:endParaRPr/>
          </a:p>
        </p:txBody>
      </p:sp>
      <p:sp>
        <p:nvSpPr>
          <p:cNvPr id="2140749715" name="TextBox 2"/>
          <p:cNvSpPr txBox="1"/>
          <p:nvPr/>
        </p:nvSpPr>
        <p:spPr bwMode="auto"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000" b="1" i="0">
                <a:solidFill>
                  <a:srgbClr val="0F172A"/>
                </a:solidFill>
                <a:latin typeface="Calibri"/>
              </a:rPr>
              <a:t>Row-Level Security — the real security model</a:t>
            </a:r>
            <a:endParaRPr/>
          </a:p>
        </p:txBody>
      </p:sp>
      <p:sp>
        <p:nvSpPr>
          <p:cNvPr id="2087515143" name="Rectangle 3"/>
          <p:cNvSpPr/>
          <p:nvPr/>
        </p:nvSpPr>
        <p:spPr bwMode="auto">
          <a:xfrm>
            <a:off x="548640" y="1207008"/>
            <a:ext cx="914400" cy="40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2197769" name="TextBox 4"/>
          <p:cNvSpPr txBox="1"/>
          <p:nvPr/>
        </p:nvSpPr>
        <p:spPr bwMode="auto">
          <a:xfrm>
            <a:off x="548640" y="1463040"/>
            <a:ext cx="1078992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55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50" b="1" i="0">
                <a:solidFill>
                  <a:srgbClr val="0F172A"/>
                </a:solidFill>
                <a:latin typeface="Calibri"/>
              </a:rPr>
              <a:t>Every table: RLS enabled, default closed.</a:t>
            </a:r>
            <a:r>
              <a:rPr sz="1550" b="0" i="0">
                <a:solidFill>
                  <a:srgbClr val="1E293B"/>
                </a:solidFill>
                <a:latin typeface="Calibri"/>
              </a:rPr>
              <a:t> No matching policy means no rows — for anyone, through any route.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55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0F172A"/>
                </a:solidFill>
                <a:latin typeface="Calibri"/>
              </a:rPr>
              <a:t>Postgres checks every query against auth.uid() / auth.role() from the caller's own JWT.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55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50" b="1" i="0">
                <a:solidFill>
                  <a:srgbClr val="0F172A"/>
                </a:solidFill>
                <a:latin typeface="Calibri"/>
              </a:rPr>
              <a:t>There is no separate authorization layer</a:t>
            </a:r>
            <a:r>
              <a:rPr sz="1550" b="0" i="0">
                <a:solidFill>
                  <a:srgbClr val="1E293B"/>
                </a:solidFill>
                <a:latin typeface="Calibri"/>
              </a:rPr>
              <a:t> for ordinary data access — the database is the security boundary.</a:t>
            </a:r>
            <a:endParaRPr/>
          </a:p>
        </p:txBody>
      </p:sp>
      <p:sp>
        <p:nvSpPr>
          <p:cNvPr id="295221766" name="Rounded Rectangle 5"/>
          <p:cNvSpPr/>
          <p:nvPr/>
        </p:nvSpPr>
        <p:spPr bwMode="auto">
          <a:xfrm>
            <a:off x="548640" y="3749039"/>
            <a:ext cx="11064240" cy="1188720"/>
          </a:xfrm>
          <a:prstGeom prst="roundRect">
            <a:avLst>
              <a:gd name="adj" fmla="val 4500"/>
            </a:avLst>
          </a:prstGeom>
          <a:solidFill>
            <a:srgbClr val="E6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7317788" name="Rectangle 6"/>
          <p:cNvSpPr/>
          <p:nvPr/>
        </p:nvSpPr>
        <p:spPr bwMode="auto">
          <a:xfrm>
            <a:off x="548640" y="3749039"/>
            <a:ext cx="50800" cy="1188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656704" name="TextBox 7"/>
          <p:cNvSpPr txBox="1"/>
          <p:nvPr/>
        </p:nvSpPr>
        <p:spPr bwMode="auto">
          <a:xfrm>
            <a:off x="749808" y="3858767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50" b="1" i="0">
                <a:solidFill>
                  <a:srgbClr val="0D9488"/>
                </a:solidFill>
                <a:latin typeface="Calibri"/>
              </a:rPr>
              <a:t>THREE ADMIN ROLES, ONE HIERARCHY</a:t>
            </a:r>
            <a:endParaRPr/>
          </a:p>
        </p:txBody>
      </p:sp>
      <p:sp>
        <p:nvSpPr>
          <p:cNvPr id="329372318" name="TextBox 8"/>
          <p:cNvSpPr txBox="1"/>
          <p:nvPr/>
        </p:nvSpPr>
        <p:spPr bwMode="auto">
          <a:xfrm>
            <a:off x="749808" y="4151375"/>
            <a:ext cx="1068019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defRPr/>
            </a:pPr>
            <a:r>
              <a:rPr sz="1500" b="0" i="0">
                <a:solidFill>
                  <a:srgbClr val="0F172A"/>
                </a:solidFill>
                <a:latin typeface="Calibri"/>
              </a:rPr>
              <a:t>viewer  ≺  moderator  ≺  super_admin — checked in exactly one place (is_admin_or_mod(), is_super_admin()), not duplicated across every policy that needs it.</a:t>
            </a:r>
            <a:endParaRPr/>
          </a:p>
        </p:txBody>
      </p:sp>
      <p:sp>
        <p:nvSpPr>
          <p:cNvPr id="546774902" name="TextBox 9"/>
          <p:cNvSpPr txBox="1"/>
          <p:nvPr/>
        </p:nvSpPr>
        <p:spPr bwMode="auto"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OLK — Open Library Kashmir</a:t>
            </a:r>
            <a:endParaRPr/>
          </a:p>
        </p:txBody>
      </p:sp>
      <p:sp>
        <p:nvSpPr>
          <p:cNvPr id="470045538" name="TextBox 10"/>
          <p:cNvSpPr txBox="1"/>
          <p:nvPr/>
        </p:nvSpPr>
        <p:spPr bwMode="auto">
          <a:xfrm>
            <a:off x="8686800" y="6528816"/>
            <a:ext cx="2926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Under the Hood   ·   23 / 37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752860" name="TextBox 1"/>
          <p:cNvSpPr txBox="1"/>
          <p:nvPr/>
        </p:nvSpPr>
        <p:spPr bwMode="auto"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14B8A6"/>
                </a:solidFill>
                <a:latin typeface="Calibri"/>
              </a:rPr>
              <a:t>UNDER THE HOOD</a:t>
            </a:r>
            <a:endParaRPr/>
          </a:p>
        </p:txBody>
      </p:sp>
      <p:sp>
        <p:nvSpPr>
          <p:cNvPr id="1267593097" name="TextBox 2"/>
          <p:cNvSpPr txBox="1"/>
          <p:nvPr/>
        </p:nvSpPr>
        <p:spPr bwMode="auto"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000" b="1" i="0">
                <a:solidFill>
                  <a:srgbClr val="0F172A"/>
                </a:solidFill>
                <a:latin typeface="Calibri"/>
              </a:rPr>
              <a:t>Security in practice: audits catch real bugs</a:t>
            </a:r>
            <a:endParaRPr/>
          </a:p>
        </p:txBody>
      </p:sp>
      <p:sp>
        <p:nvSpPr>
          <p:cNvPr id="338263795" name="Rectangle 3"/>
          <p:cNvSpPr/>
          <p:nvPr/>
        </p:nvSpPr>
        <p:spPr bwMode="auto">
          <a:xfrm>
            <a:off x="548640" y="1207008"/>
            <a:ext cx="914400" cy="40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11455330" name="TextBox 4"/>
          <p:cNvSpPr txBox="1"/>
          <p:nvPr/>
        </p:nvSpPr>
        <p:spPr bwMode="auto">
          <a:xfrm>
            <a:off x="548640" y="137160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500" b="0" i="0">
                <a:solidFill>
                  <a:srgbClr val="0F172A"/>
                </a:solidFill>
                <a:latin typeface="Calibri"/>
              </a:rPr>
              <a:t>A recent full security &amp; code-quality audit found and closed real gaps — not theoretical ones:</a:t>
            </a:r>
            <a:endParaRPr/>
          </a:p>
        </p:txBody>
      </p:sp>
      <p:sp>
        <p:nvSpPr>
          <p:cNvPr id="762631565" name="Rounded Rectangle 5"/>
          <p:cNvSpPr/>
          <p:nvPr/>
        </p:nvSpPr>
        <p:spPr bwMode="auto">
          <a:xfrm>
            <a:off x="548640" y="1965960"/>
            <a:ext cx="11064240" cy="96012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5088808" name="Rectangle 6"/>
          <p:cNvSpPr/>
          <p:nvPr/>
        </p:nvSpPr>
        <p:spPr bwMode="auto">
          <a:xfrm>
            <a:off x="548640" y="1965960"/>
            <a:ext cx="73152" cy="9601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0677911" name="TextBox 7"/>
          <p:cNvSpPr txBox="1"/>
          <p:nvPr/>
        </p:nvSpPr>
        <p:spPr bwMode="auto">
          <a:xfrm>
            <a:off x="777240" y="205740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50" b="1" i="0">
                <a:solidFill>
                  <a:srgbClr val="B91C1C"/>
                </a:solidFill>
                <a:latin typeface="Calibri"/>
              </a:rPr>
              <a:t>Admin self-escalation, closed</a:t>
            </a:r>
            <a:endParaRPr/>
          </a:p>
        </p:txBody>
      </p:sp>
      <p:sp>
        <p:nvSpPr>
          <p:cNvPr id="1483733410" name="TextBox 8"/>
          <p:cNvSpPr txBox="1"/>
          <p:nvPr/>
        </p:nvSpPr>
        <p:spPr bwMode="auto">
          <a:xfrm>
            <a:off x="777240" y="2368296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1150" b="0" i="0">
                <a:solidFill>
                  <a:srgbClr val="1E293B"/>
                </a:solidFill>
                <a:latin typeface="Calibri"/>
              </a:rPr>
              <a:t>Any user could PATCH their own profiles row directly and grant themselves is_admin/super_admin — RLS checks who can update a row, not which columns. Fixed with a BEFORE UPDATE trigger, not a policy.</a:t>
            </a:r>
            <a:endParaRPr/>
          </a:p>
        </p:txBody>
      </p:sp>
      <p:sp>
        <p:nvSpPr>
          <p:cNvPr id="925425524" name="Rounded Rectangle 9"/>
          <p:cNvSpPr/>
          <p:nvPr/>
        </p:nvSpPr>
        <p:spPr bwMode="auto">
          <a:xfrm>
            <a:off x="548640" y="3017519"/>
            <a:ext cx="11064240" cy="96012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5215847" name="Rectangle 10"/>
          <p:cNvSpPr/>
          <p:nvPr/>
        </p:nvSpPr>
        <p:spPr bwMode="auto">
          <a:xfrm>
            <a:off x="548640" y="3017519"/>
            <a:ext cx="73152" cy="9601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2417731" name="TextBox 11"/>
          <p:cNvSpPr txBox="1"/>
          <p:nvPr/>
        </p:nvSpPr>
        <p:spPr bwMode="auto">
          <a:xfrm>
            <a:off x="777240" y="310896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50" b="1" i="0">
                <a:solidFill>
                  <a:srgbClr val="B91C1C"/>
                </a:solidFill>
                <a:latin typeface="Calibri"/>
              </a:rPr>
              <a:t>Notification spoofing, closed</a:t>
            </a:r>
            <a:endParaRPr/>
          </a:p>
        </p:txBody>
      </p:sp>
      <p:sp>
        <p:nvSpPr>
          <p:cNvPr id="476125197" name="TextBox 12"/>
          <p:cNvSpPr txBox="1"/>
          <p:nvPr/>
        </p:nvSpPr>
        <p:spPr bwMode="auto">
          <a:xfrm>
            <a:off x="777240" y="3419856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1150" b="0" i="0">
                <a:solidFill>
                  <a:srgbClr val="1E293B"/>
                </a:solidFill>
                <a:latin typeface="Calibri"/>
              </a:rPr>
              <a:t>A looser legacy policy let any authenticated user insert a notification addressed to anyone. Cross-user notifications now only ever go through the trusted server-role path.</a:t>
            </a:r>
            <a:endParaRPr/>
          </a:p>
        </p:txBody>
      </p:sp>
      <p:sp>
        <p:nvSpPr>
          <p:cNvPr id="34325283" name="Rounded Rectangle 13"/>
          <p:cNvSpPr/>
          <p:nvPr/>
        </p:nvSpPr>
        <p:spPr bwMode="auto">
          <a:xfrm>
            <a:off x="548640" y="4069080"/>
            <a:ext cx="11064240" cy="96012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2064544" name="Rectangle 14"/>
          <p:cNvSpPr/>
          <p:nvPr/>
        </p:nvSpPr>
        <p:spPr bwMode="auto">
          <a:xfrm>
            <a:off x="548640" y="4069080"/>
            <a:ext cx="73152" cy="9601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0545956" name="TextBox 15"/>
          <p:cNvSpPr txBox="1"/>
          <p:nvPr/>
        </p:nvSpPr>
        <p:spPr bwMode="auto">
          <a:xfrm>
            <a:off x="777240" y="4160519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50" b="1" i="0">
                <a:solidFill>
                  <a:srgbClr val="B45309"/>
                </a:solidFill>
                <a:latin typeface="Calibri"/>
              </a:rPr>
              <a:t>Ratings counterparty check, added</a:t>
            </a:r>
            <a:endParaRPr/>
          </a:p>
        </p:txBody>
      </p:sp>
      <p:sp>
        <p:nvSpPr>
          <p:cNvPr id="1359779423" name="TextBox 16"/>
          <p:cNvSpPr txBox="1"/>
          <p:nvPr/>
        </p:nvSpPr>
        <p:spPr bwMode="auto">
          <a:xfrm>
            <a:off x="777240" y="4471416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1150" b="0" i="0">
                <a:solidFill>
                  <a:srgbClr val="1E293B"/>
                </a:solidFill>
                <a:latin typeface="Calibri"/>
              </a:rPr>
              <a:t>Anyone who guessed a request_id could rate an arbitrary user. INSERT now verifies the rater/rated pair against a completed exchange.</a:t>
            </a:r>
            <a:endParaRPr/>
          </a:p>
        </p:txBody>
      </p:sp>
      <p:sp>
        <p:nvSpPr>
          <p:cNvPr id="1312661533" name="Rounded Rectangle 17"/>
          <p:cNvSpPr/>
          <p:nvPr/>
        </p:nvSpPr>
        <p:spPr bwMode="auto">
          <a:xfrm>
            <a:off x="548640" y="5120640"/>
            <a:ext cx="11064240" cy="96012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6922970" name="Rectangle 18"/>
          <p:cNvSpPr/>
          <p:nvPr/>
        </p:nvSpPr>
        <p:spPr bwMode="auto">
          <a:xfrm>
            <a:off x="548640" y="5120640"/>
            <a:ext cx="73152" cy="9601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4266274" name="TextBox 19"/>
          <p:cNvSpPr txBox="1"/>
          <p:nvPr/>
        </p:nvSpPr>
        <p:spPr bwMode="auto">
          <a:xfrm>
            <a:off x="777240" y="521208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50" b="1" i="0">
                <a:solidFill>
                  <a:srgbClr val="B45309"/>
                </a:solidFill>
                <a:latin typeface="Calibri"/>
              </a:rPr>
              <a:t>A missed legacy policy, found</a:t>
            </a:r>
            <a:endParaRPr/>
          </a:p>
        </p:txBody>
      </p:sp>
      <p:sp>
        <p:nvSpPr>
          <p:cNvPr id="940018192" name="TextBox 20"/>
          <p:cNvSpPr txBox="1"/>
          <p:nvPr/>
        </p:nvSpPr>
        <p:spPr bwMode="auto">
          <a:xfrm>
            <a:off x="777240" y="5522976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defRPr/>
            </a:pPr>
            <a:r>
              <a:rPr sz="1150" b="0" i="0">
                <a:solidFill>
                  <a:srgbClr val="1E293B"/>
                </a:solidFill>
                <a:latin typeface="Calibri"/>
              </a:rPr>
              <a:t>An old admin-delete policy on books let any moderator delete any book — the newer, correct super_admin-only policy was silently co-existing with it. Dropped.</a:t>
            </a:r>
            <a:endParaRPr/>
          </a:p>
        </p:txBody>
      </p:sp>
      <p:sp>
        <p:nvSpPr>
          <p:cNvPr id="1352092996" name="TextBox 21"/>
          <p:cNvSpPr txBox="1"/>
          <p:nvPr/>
        </p:nvSpPr>
        <p:spPr bwMode="auto"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OLK — Open Library Kashmir</a:t>
            </a:r>
            <a:endParaRPr/>
          </a:p>
        </p:txBody>
      </p:sp>
      <p:sp>
        <p:nvSpPr>
          <p:cNvPr id="1817664039" name="TextBox 22"/>
          <p:cNvSpPr txBox="1"/>
          <p:nvPr/>
        </p:nvSpPr>
        <p:spPr bwMode="auto">
          <a:xfrm>
            <a:off x="8686800" y="6528816"/>
            <a:ext cx="2926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Under the Hood   ·   24 / 37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960035" name="TextBox 1"/>
          <p:cNvSpPr txBox="1"/>
          <p:nvPr/>
        </p:nvSpPr>
        <p:spPr bwMode="auto"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14B8A6"/>
                </a:solidFill>
                <a:latin typeface="Calibri"/>
              </a:rPr>
              <a:t>UNDER THE HOOD</a:t>
            </a:r>
            <a:endParaRPr/>
          </a:p>
        </p:txBody>
      </p:sp>
      <p:sp>
        <p:nvSpPr>
          <p:cNvPr id="1320772892" name="TextBox 2"/>
          <p:cNvSpPr txBox="1"/>
          <p:nvPr/>
        </p:nvSpPr>
        <p:spPr bwMode="auto"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000" b="1" i="0">
                <a:solidFill>
                  <a:srgbClr val="0F172A"/>
                </a:solidFill>
                <a:latin typeface="Calibri"/>
              </a:rPr>
              <a:t>SECURITY DEFINER: the escape hatch, used carefully</a:t>
            </a:r>
            <a:endParaRPr/>
          </a:p>
        </p:txBody>
      </p:sp>
      <p:sp>
        <p:nvSpPr>
          <p:cNvPr id="670209876" name="Rectangle 3"/>
          <p:cNvSpPr/>
          <p:nvPr/>
        </p:nvSpPr>
        <p:spPr bwMode="auto">
          <a:xfrm>
            <a:off x="548640" y="1207008"/>
            <a:ext cx="914400" cy="40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8135790" name="TextBox 4"/>
          <p:cNvSpPr txBox="1"/>
          <p:nvPr/>
        </p:nvSpPr>
        <p:spPr bwMode="auto">
          <a:xfrm>
            <a:off x="548640" y="1417320"/>
            <a:ext cx="107899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50" b="0" i="0">
                <a:solidFill>
                  <a:srgbClr val="0F172A"/>
                </a:solidFill>
                <a:latin typeface="Calibri"/>
              </a:rPr>
              <a:t>Some features need to cross the RLS boundary on purpose: matching your wishlist against a book someone else just listed means searching everyone's wishlist rows, not just your own.</a:t>
            </a:r>
            <a:endParaRPr/>
          </a:p>
        </p:txBody>
      </p:sp>
      <p:sp>
        <p:nvSpPr>
          <p:cNvPr id="1894482802" name="TextBox 5"/>
          <p:cNvSpPr txBox="1"/>
          <p:nvPr/>
        </p:nvSpPr>
        <p:spPr bwMode="auto">
          <a:xfrm>
            <a:off x="548640" y="2286000"/>
            <a:ext cx="1078992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45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0F172A"/>
                </a:solidFill>
                <a:latin typeface="Calibri"/>
              </a:rPr>
              <a:t>A narrow Postgres function runs with elevated privilege — but only returns exactly the columns it was written to return.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45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0F172A"/>
                </a:solidFill>
                <a:latin typeface="Calibri"/>
              </a:rPr>
              <a:t>Discipline enforced throughout: never SELECT * on a sensitive table; explicit REVOKE/GRANT on the risky ones.</a:t>
            </a:r>
            <a:endParaRPr/>
          </a:p>
        </p:txBody>
      </p:sp>
      <p:sp>
        <p:nvSpPr>
          <p:cNvPr id="1112830013" name="Rounded Rectangle 6"/>
          <p:cNvSpPr/>
          <p:nvPr/>
        </p:nvSpPr>
        <p:spPr bwMode="auto">
          <a:xfrm>
            <a:off x="548640" y="3794760"/>
            <a:ext cx="11064240" cy="1188720"/>
          </a:xfrm>
          <a:prstGeom prst="roundRect">
            <a:avLst>
              <a:gd name="adj" fmla="val 45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1059902" name="Rectangle 7"/>
          <p:cNvSpPr/>
          <p:nvPr/>
        </p:nvSpPr>
        <p:spPr bwMode="auto">
          <a:xfrm>
            <a:off x="548640" y="3794760"/>
            <a:ext cx="50800" cy="11887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3471579" name="TextBox 8"/>
          <p:cNvSpPr txBox="1"/>
          <p:nvPr/>
        </p:nvSpPr>
        <p:spPr bwMode="auto">
          <a:xfrm>
            <a:off x="749808" y="3904488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50" b="1" i="0">
                <a:solidFill>
                  <a:srgbClr val="B45309"/>
                </a:solidFill>
                <a:latin typeface="Calibri"/>
              </a:rPr>
              <a:t>WHY THIS MATTERS</a:t>
            </a:r>
            <a:endParaRPr/>
          </a:p>
        </p:txBody>
      </p:sp>
      <p:sp>
        <p:nvSpPr>
          <p:cNvPr id="1149698466" name="TextBox 9"/>
          <p:cNvSpPr txBox="1"/>
          <p:nvPr/>
        </p:nvSpPr>
        <p:spPr bwMode="auto">
          <a:xfrm>
            <a:off x="749808" y="4197096"/>
            <a:ext cx="1068019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defRPr/>
            </a:pPr>
            <a:r>
              <a:rPr sz="1500" b="0" i="0">
                <a:solidFill>
                  <a:srgbClr val="0F172A"/>
                </a:solidFill>
                <a:latin typeface="Calibri"/>
              </a:rPr>
              <a:t>A bug in one of these functions is a bug that runs with elevated privilege — it is exactly as dangerous as it is useful.</a:t>
            </a:r>
            <a:endParaRPr/>
          </a:p>
        </p:txBody>
      </p:sp>
      <p:sp>
        <p:nvSpPr>
          <p:cNvPr id="28755304" name="TextBox 10"/>
          <p:cNvSpPr txBox="1"/>
          <p:nvPr/>
        </p:nvSpPr>
        <p:spPr bwMode="auto"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OLK — Open Library Kashmir</a:t>
            </a:r>
            <a:endParaRPr/>
          </a:p>
        </p:txBody>
      </p:sp>
      <p:sp>
        <p:nvSpPr>
          <p:cNvPr id="1834411053" name="TextBox 11"/>
          <p:cNvSpPr txBox="1"/>
          <p:nvPr/>
        </p:nvSpPr>
        <p:spPr bwMode="auto">
          <a:xfrm>
            <a:off x="8686800" y="6528816"/>
            <a:ext cx="2926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Under the Hood   ·   25 / 37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392257" name="TextBox 1"/>
          <p:cNvSpPr txBox="1"/>
          <p:nvPr/>
        </p:nvSpPr>
        <p:spPr bwMode="auto"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14B8A6"/>
                </a:solidFill>
                <a:latin typeface="Calibri"/>
              </a:rPr>
              <a:t>UNDER THE HOOD</a:t>
            </a:r>
            <a:endParaRPr/>
          </a:p>
        </p:txBody>
      </p:sp>
      <p:sp>
        <p:nvSpPr>
          <p:cNvPr id="101634963" name="TextBox 2"/>
          <p:cNvSpPr txBox="1"/>
          <p:nvPr/>
        </p:nvSpPr>
        <p:spPr bwMode="auto"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000" b="1" i="0">
                <a:solidFill>
                  <a:srgbClr val="0F172A"/>
                </a:solidFill>
                <a:latin typeface="Calibri"/>
              </a:rPr>
              <a:t>How location actually works</a:t>
            </a:r>
            <a:endParaRPr/>
          </a:p>
        </p:txBody>
      </p:sp>
      <p:sp>
        <p:nvSpPr>
          <p:cNvPr id="102702965" name="Rectangle 3"/>
          <p:cNvSpPr/>
          <p:nvPr/>
        </p:nvSpPr>
        <p:spPr bwMode="auto">
          <a:xfrm>
            <a:off x="548640" y="1207008"/>
            <a:ext cx="914400" cy="40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2422783" name="TextBox 4"/>
          <p:cNvSpPr txBox="1"/>
          <p:nvPr/>
        </p:nvSpPr>
        <p:spPr bwMode="auto">
          <a:xfrm>
            <a:off x="548640" y="1417320"/>
            <a:ext cx="107899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45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0F172A"/>
                </a:solidFill>
                <a:latin typeface="Calibri"/>
              </a:rPr>
              <a:t>No PostGIS, no Google Maps API.</a:t>
            </a:r>
            <a:r>
              <a:rPr sz="1450" b="0" i="0">
                <a:solidFill>
                  <a:srgbClr val="1E293B"/>
                </a:solidFill>
                <a:latin typeface="Calibri"/>
              </a:rPr>
              <a:t> Just two floats — latitude/longitude — on profiles and clubs, captured via the browser's native navigator.geolocation API.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45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0F172A"/>
                </a:solidFill>
                <a:latin typeface="Calibri"/>
              </a:rPr>
              <a:t>area_name</a:t>
            </a:r>
            <a:r>
              <a:rPr sz="1450" b="0" i="0">
                <a:solidFill>
                  <a:srgbClr val="1E293B"/>
                </a:solidFill>
                <a:latin typeface="Calibri"/>
              </a:rPr>
              <a:t> is a free-text label shown alongside the coordinates — approximate, human, never an exact street address.</a:t>
            </a:r>
            <a:endParaRPr/>
          </a:p>
        </p:txBody>
      </p:sp>
      <p:sp>
        <p:nvSpPr>
          <p:cNvPr id="1882766151" name="Rectangle 5"/>
          <p:cNvSpPr/>
          <p:nvPr/>
        </p:nvSpPr>
        <p:spPr bwMode="auto">
          <a:xfrm>
            <a:off x="548640" y="2971800"/>
            <a:ext cx="11064240" cy="8686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2417975" name="TextBox 6"/>
          <p:cNvSpPr txBox="1"/>
          <p:nvPr/>
        </p:nvSpPr>
        <p:spPr bwMode="auto">
          <a:xfrm>
            <a:off x="777240" y="3127248"/>
            <a:ext cx="106070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0" i="0">
                <a:solidFill>
                  <a:srgbClr val="2DD4BF"/>
                </a:solidFill>
                <a:latin typeface="Consolas"/>
              </a:rPr>
              <a:t>6371 * acos( cos(lat1)*cos(lat2)*cos(lng2-lng1) + sin(lat1)*sin(lat2) )   -- distance, in km</a:t>
            </a:r>
            <a:endParaRPr/>
          </a:p>
        </p:txBody>
      </p:sp>
      <p:sp>
        <p:nvSpPr>
          <p:cNvPr id="1817577713" name="TextBox 7"/>
          <p:cNvSpPr txBox="1"/>
          <p:nvPr/>
        </p:nvSpPr>
        <p:spPr bwMode="auto">
          <a:xfrm>
            <a:off x="548640" y="4023360"/>
            <a:ext cx="110642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300" b="0" i="0">
                <a:solidFill>
                  <a:srgbClr val="1E293B"/>
                </a:solidFill>
                <a:latin typeface="Calibri"/>
              </a:rPr>
              <a:t>That's the entire “nearby” feature: the haversine great-circle formula, running as one Postgres function, sorting results by real distance. A clamp (LEAST/GREATEST) guards against a floating-point edge case that once made this return NaN for a user browsing their own listing.</a:t>
            </a:r>
            <a:endParaRPr/>
          </a:p>
        </p:txBody>
      </p:sp>
      <p:sp>
        <p:nvSpPr>
          <p:cNvPr id="541386298" name="TextBox 8"/>
          <p:cNvSpPr txBox="1"/>
          <p:nvPr/>
        </p:nvSpPr>
        <p:spPr bwMode="auto"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OLK — Open Library Kashmir</a:t>
            </a:r>
            <a:endParaRPr/>
          </a:p>
        </p:txBody>
      </p:sp>
      <p:sp>
        <p:nvSpPr>
          <p:cNvPr id="1850340036" name="TextBox 9"/>
          <p:cNvSpPr txBox="1"/>
          <p:nvPr/>
        </p:nvSpPr>
        <p:spPr bwMode="auto">
          <a:xfrm>
            <a:off x="8686800" y="6528816"/>
            <a:ext cx="2926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Under the Hood   ·   26 / 37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1920117" name="TextBox 1"/>
          <p:cNvSpPr txBox="1"/>
          <p:nvPr/>
        </p:nvSpPr>
        <p:spPr bwMode="auto"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14B8A6"/>
                </a:solidFill>
                <a:latin typeface="Calibri"/>
              </a:rPr>
              <a:t>UNDER THE HOOD</a:t>
            </a:r>
            <a:endParaRPr/>
          </a:p>
        </p:txBody>
      </p:sp>
      <p:sp>
        <p:nvSpPr>
          <p:cNvPr id="1668845481" name="TextBox 2"/>
          <p:cNvSpPr txBox="1"/>
          <p:nvPr/>
        </p:nvSpPr>
        <p:spPr bwMode="auto"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000" b="1" i="0">
                <a:solidFill>
                  <a:srgbClr val="0F172A"/>
                </a:solidFill>
                <a:latin typeface="Calibri"/>
              </a:rPr>
              <a:t>Defense in depth: rate limiting &amp; validation</a:t>
            </a:r>
            <a:endParaRPr/>
          </a:p>
        </p:txBody>
      </p:sp>
      <p:sp>
        <p:nvSpPr>
          <p:cNvPr id="78003102" name="Rectangle 3"/>
          <p:cNvSpPr/>
          <p:nvPr/>
        </p:nvSpPr>
        <p:spPr bwMode="auto">
          <a:xfrm>
            <a:off x="548640" y="1207008"/>
            <a:ext cx="914400" cy="40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0785595" name="TextBox 4"/>
          <p:cNvSpPr txBox="1"/>
          <p:nvPr/>
        </p:nvSpPr>
        <p:spPr bwMode="auto">
          <a:xfrm>
            <a:off x="548640" y="141732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500" b="0" i="0">
                <a:solidFill>
                  <a:srgbClr val="0F172A"/>
                </a:solidFill>
                <a:latin typeface="Calibri"/>
              </a:rPr>
              <a:t>Every important limit lives in the database, not just the UI — so it holds even against a direct API call:</a:t>
            </a:r>
            <a:endParaRPr/>
          </a:p>
        </p:txBody>
      </p:sp>
      <p:sp>
        <p:nvSpPr>
          <p:cNvPr id="1075599403" name="TextBox 5"/>
          <p:cNvSpPr txBox="1"/>
          <p:nvPr/>
        </p:nvSpPr>
        <p:spPr bwMode="auto">
          <a:xfrm>
            <a:off x="548640" y="2011680"/>
            <a:ext cx="1078992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0F172A"/>
                </a:solidFill>
                <a:latin typeface="Calibri"/>
              </a:rPr>
              <a:t>Max messages/hour and requests/day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— enforced by BEFORE INSERT triggers, reading their limits from platform_settings, atomically.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0F172A"/>
                </a:solidFill>
                <a:latin typeface="Calibri"/>
              </a:rPr>
              <a:t>Club-creation eligibility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(5+ completed exchanges, no reports) — checked client-side and re-checked by a database trigger.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Free-text search is sanitised before being interpolated into the query filter DSL — the same category of defence as SQL parameterisation.</a:t>
            </a:r>
            <a:endParaRPr/>
          </a:p>
        </p:txBody>
      </p:sp>
      <p:sp>
        <p:nvSpPr>
          <p:cNvPr id="636689066" name="TextBox 6"/>
          <p:cNvSpPr txBox="1"/>
          <p:nvPr/>
        </p:nvSpPr>
        <p:spPr bwMode="auto"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OLK — Open Library Kashmir</a:t>
            </a:r>
            <a:endParaRPr/>
          </a:p>
        </p:txBody>
      </p:sp>
      <p:sp>
        <p:nvSpPr>
          <p:cNvPr id="829897052" name="TextBox 7"/>
          <p:cNvSpPr txBox="1"/>
          <p:nvPr/>
        </p:nvSpPr>
        <p:spPr bwMode="auto">
          <a:xfrm>
            <a:off x="8686800" y="6528816"/>
            <a:ext cx="2926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Under the Hood   ·   27 / 37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4722473" name="TextBox 1"/>
          <p:cNvSpPr txBox="1"/>
          <p:nvPr/>
        </p:nvSpPr>
        <p:spPr bwMode="auto"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14B8A6"/>
                </a:solidFill>
                <a:latin typeface="Calibri"/>
              </a:rPr>
              <a:t>UNDER THE HOOD</a:t>
            </a:r>
            <a:endParaRPr/>
          </a:p>
        </p:txBody>
      </p:sp>
      <p:sp>
        <p:nvSpPr>
          <p:cNvPr id="2097451203" name="TextBox 2"/>
          <p:cNvSpPr txBox="1"/>
          <p:nvPr/>
        </p:nvSpPr>
        <p:spPr bwMode="auto"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000" b="1" i="0">
                <a:solidFill>
                  <a:srgbClr val="0F172A"/>
                </a:solidFill>
                <a:latin typeface="Calibri"/>
              </a:rPr>
              <a:t>Docker &amp; local development</a:t>
            </a:r>
            <a:endParaRPr/>
          </a:p>
        </p:txBody>
      </p:sp>
      <p:sp>
        <p:nvSpPr>
          <p:cNvPr id="1607265355" name="Rectangle 3"/>
          <p:cNvSpPr/>
          <p:nvPr/>
        </p:nvSpPr>
        <p:spPr bwMode="auto">
          <a:xfrm>
            <a:off x="548640" y="1207008"/>
            <a:ext cx="914400" cy="40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6365559" name="TextBox 4"/>
          <p:cNvSpPr txBox="1"/>
          <p:nvPr/>
        </p:nvSpPr>
        <p:spPr bwMode="auto">
          <a:xfrm>
            <a:off x="548640" y="1463040"/>
            <a:ext cx="1078992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0F172A"/>
                </a:solidFill>
                <a:latin typeface="Calibri"/>
              </a:rPr>
              <a:t>The entire Supabase stack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— Postgres, GoTrue, PostgREST, Realtime, Storage, Studio — runs as Docker containers via the Supabase CLI. One command: npx supabase start.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26 migrations, replayed from scratch with supabase db reset any time local state is in doubt.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Local and production are deliberately structured to be near-identical: same migrations, same RLS policies, same functions.</a:t>
            </a:r>
            <a:endParaRPr/>
          </a:p>
        </p:txBody>
      </p:sp>
      <p:sp>
        <p:nvSpPr>
          <p:cNvPr id="1564533619" name="Rounded Rectangle 5"/>
          <p:cNvSpPr/>
          <p:nvPr/>
        </p:nvSpPr>
        <p:spPr bwMode="auto">
          <a:xfrm>
            <a:off x="548640" y="4343400"/>
            <a:ext cx="11064240" cy="118872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4538853" name="Rectangle 6"/>
          <p:cNvSpPr/>
          <p:nvPr/>
        </p:nvSpPr>
        <p:spPr bwMode="auto">
          <a:xfrm>
            <a:off x="548640" y="4343400"/>
            <a:ext cx="50800" cy="11887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6264403" name="TextBox 7"/>
          <p:cNvSpPr txBox="1"/>
          <p:nvPr/>
        </p:nvSpPr>
        <p:spPr bwMode="auto">
          <a:xfrm>
            <a:off x="749808" y="4453128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50" b="1" i="0">
                <a:solidFill>
                  <a:srgbClr val="FFFFFF"/>
                </a:solidFill>
                <a:latin typeface="Calibri"/>
              </a:rPr>
              <a:t>NOT JUST DEVELOPER CONVENIENCE</a:t>
            </a:r>
            <a:endParaRPr/>
          </a:p>
        </p:txBody>
      </p:sp>
      <p:sp>
        <p:nvSpPr>
          <p:cNvPr id="877714202" name="TextBox 8"/>
          <p:cNvSpPr txBox="1"/>
          <p:nvPr/>
        </p:nvSpPr>
        <p:spPr bwMode="auto">
          <a:xfrm>
            <a:off x="749808" y="4745736"/>
            <a:ext cx="1068019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defRPr/>
            </a:pPr>
            <a:r>
              <a:rPr sz="1450" b="0" i="0">
                <a:solidFill>
                  <a:srgbClr val="FFFFFF"/>
                </a:solidFill>
                <a:latin typeface="Calibri"/>
              </a:rPr>
              <a:t>Every hour spent comfortable with this Docker stack is rehearsal for the day it runs on real hardware in Kashmir instead of a laptop.</a:t>
            </a:r>
            <a:endParaRPr/>
          </a:p>
        </p:txBody>
      </p:sp>
      <p:sp>
        <p:nvSpPr>
          <p:cNvPr id="2125490515" name="TextBox 9"/>
          <p:cNvSpPr txBox="1"/>
          <p:nvPr/>
        </p:nvSpPr>
        <p:spPr bwMode="auto"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OLK — Open Library Kashmir</a:t>
            </a:r>
            <a:endParaRPr/>
          </a:p>
        </p:txBody>
      </p:sp>
      <p:sp>
        <p:nvSpPr>
          <p:cNvPr id="770037458" name="TextBox 10"/>
          <p:cNvSpPr txBox="1"/>
          <p:nvPr/>
        </p:nvSpPr>
        <p:spPr bwMode="auto">
          <a:xfrm>
            <a:off x="8686800" y="6528816"/>
            <a:ext cx="2926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Under the Hood   ·   28 / 37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90688" name="TextBox 1"/>
          <p:cNvSpPr txBox="1"/>
          <p:nvPr/>
        </p:nvSpPr>
        <p:spPr bwMode="auto"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14B8A6"/>
                </a:solidFill>
                <a:latin typeface="Calibri"/>
              </a:rPr>
              <a:t>UNDER THE HOOD</a:t>
            </a:r>
            <a:endParaRPr/>
          </a:p>
        </p:txBody>
      </p:sp>
      <p:sp>
        <p:nvSpPr>
          <p:cNvPr id="1017363064" name="TextBox 2"/>
          <p:cNvSpPr txBox="1"/>
          <p:nvPr/>
        </p:nvSpPr>
        <p:spPr bwMode="auto"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000" b="1" i="0">
                <a:solidFill>
                  <a:srgbClr val="0F172A"/>
                </a:solidFill>
                <a:latin typeface="Calibri"/>
              </a:rPr>
              <a:t>Deployment, today</a:t>
            </a:r>
            <a:endParaRPr/>
          </a:p>
        </p:txBody>
      </p:sp>
      <p:sp>
        <p:nvSpPr>
          <p:cNvPr id="468870920" name="Rectangle 3"/>
          <p:cNvSpPr/>
          <p:nvPr/>
        </p:nvSpPr>
        <p:spPr bwMode="auto">
          <a:xfrm>
            <a:off x="548640" y="1207008"/>
            <a:ext cx="914400" cy="40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0085142" name="TextBox 4"/>
          <p:cNvSpPr txBox="1"/>
          <p:nvPr/>
        </p:nvSpPr>
        <p:spPr bwMode="auto">
          <a:xfrm>
            <a:off x="548640" y="1463040"/>
            <a:ext cx="1078992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45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0F172A"/>
                </a:solidFill>
                <a:latin typeface="Calibri"/>
              </a:rPr>
              <a:t>Vercel</a:t>
            </a:r>
            <a:r>
              <a:rPr sz="1450" b="0" i="0">
                <a:solidFill>
                  <a:srgbClr val="1E293B"/>
                </a:solidFill>
                <a:latin typeface="Calibri"/>
              </a:rPr>
              <a:t> builds and serves the frontend — push to the connected branch, it redeploys automatically; PRs get their own preview.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45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0F172A"/>
                </a:solidFill>
                <a:latin typeface="Calibri"/>
              </a:rPr>
              <a:t>Database migrations are pushed separately</a:t>
            </a:r>
            <a:r>
              <a:rPr sz="1450" b="0" i="0">
                <a:solidFill>
                  <a:srgbClr val="1E293B"/>
                </a:solidFill>
                <a:latin typeface="Calibri"/>
              </a:rPr>
              <a:t>: supabase db push against the hosted project — forward-only, no reset-and-replay safety net in production.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45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0F172A"/>
                </a:solidFill>
                <a:latin typeface="Calibri"/>
              </a:rPr>
              <a:t>The weekly digest</a:t>
            </a:r>
            <a:r>
              <a:rPr sz="1450" b="0" i="0">
                <a:solidFill>
                  <a:srgbClr val="1E293B"/>
                </a:solidFill>
                <a:latin typeface="Calibri"/>
              </a:rPr>
              <a:t> is a real cron-triggered endpoint, authenticated with a shared secret — the one part of this app that's a genuine HTTP API rather than a page.</a:t>
            </a:r>
            <a:endParaRPr/>
          </a:p>
        </p:txBody>
      </p:sp>
      <p:sp>
        <p:nvSpPr>
          <p:cNvPr id="373524148" name="TextBox 5"/>
          <p:cNvSpPr txBox="1"/>
          <p:nvPr/>
        </p:nvSpPr>
        <p:spPr bwMode="auto">
          <a:xfrm>
            <a:off x="548640" y="42976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0" i="1">
                <a:solidFill>
                  <a:srgbClr val="64748B"/>
                </a:solidFill>
                <a:latin typeface="Calibri"/>
              </a:rPr>
              <a:t>The service-role key that bypasses RLS entirely never reaches the browser — enforced at build time, not just by convention.</a:t>
            </a:r>
            <a:endParaRPr/>
          </a:p>
        </p:txBody>
      </p:sp>
      <p:sp>
        <p:nvSpPr>
          <p:cNvPr id="1222227621" name="TextBox 6"/>
          <p:cNvSpPr txBox="1"/>
          <p:nvPr/>
        </p:nvSpPr>
        <p:spPr bwMode="auto"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OLK — Open Library Kashmir</a:t>
            </a:r>
            <a:endParaRPr/>
          </a:p>
        </p:txBody>
      </p:sp>
      <p:sp>
        <p:nvSpPr>
          <p:cNvPr id="1018478007" name="TextBox 7"/>
          <p:cNvSpPr txBox="1"/>
          <p:nvPr/>
        </p:nvSpPr>
        <p:spPr bwMode="auto">
          <a:xfrm>
            <a:off x="8686800" y="6528816"/>
            <a:ext cx="2926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Under the Hood   ·   29 / 37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284147" name="TextBox 1"/>
          <p:cNvSpPr txBox="1"/>
          <p:nvPr/>
        </p:nvSpPr>
        <p:spPr bwMode="auto"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14B8A6"/>
                </a:solidFill>
                <a:latin typeface="Calibri"/>
              </a:rPr>
              <a:t>UNDER THE HOOD</a:t>
            </a:r>
            <a:endParaRPr/>
          </a:p>
        </p:txBody>
      </p:sp>
      <p:sp>
        <p:nvSpPr>
          <p:cNvPr id="1115743453" name="TextBox 2"/>
          <p:cNvSpPr txBox="1"/>
          <p:nvPr/>
        </p:nvSpPr>
        <p:spPr bwMode="auto"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000" b="1" i="0">
                <a:solidFill>
                  <a:srgbClr val="0F172A"/>
                </a:solidFill>
                <a:latin typeface="Calibri"/>
              </a:rPr>
              <a:t>Honest accounting: what's still open</a:t>
            </a:r>
            <a:endParaRPr/>
          </a:p>
        </p:txBody>
      </p:sp>
      <p:sp>
        <p:nvSpPr>
          <p:cNvPr id="796717921" name="Rectangle 3"/>
          <p:cNvSpPr/>
          <p:nvPr/>
        </p:nvSpPr>
        <p:spPr bwMode="auto">
          <a:xfrm>
            <a:off x="548640" y="1207008"/>
            <a:ext cx="914400" cy="40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6454814" name="Rounded Rectangle 4"/>
          <p:cNvSpPr/>
          <p:nvPr/>
        </p:nvSpPr>
        <p:spPr bwMode="auto">
          <a:xfrm>
            <a:off x="548640" y="1554480"/>
            <a:ext cx="11064240" cy="105156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3133235" name="Rectangle 5"/>
          <p:cNvSpPr/>
          <p:nvPr/>
        </p:nvSpPr>
        <p:spPr bwMode="auto">
          <a:xfrm>
            <a:off x="548640" y="1554480"/>
            <a:ext cx="73152" cy="10515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0387795" name="TextBox 6"/>
          <p:cNvSpPr txBox="1"/>
          <p:nvPr/>
        </p:nvSpPr>
        <p:spPr bwMode="auto">
          <a:xfrm>
            <a:off x="777240" y="1664208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50" b="1" i="0">
                <a:solidFill>
                  <a:srgbClr val="B45309"/>
                </a:solidFill>
                <a:latin typeface="Calibri"/>
              </a:rPr>
              <a:t>about-modal.tsx has a placeholder bio for one founder</a:t>
            </a:r>
            <a:endParaRPr/>
          </a:p>
        </p:txBody>
      </p:sp>
      <p:sp>
        <p:nvSpPr>
          <p:cNvPr id="2138462965" name="TextBox 7"/>
          <p:cNvSpPr txBox="1"/>
          <p:nvPr/>
        </p:nvSpPr>
        <p:spPr bwMode="auto">
          <a:xfrm>
            <a:off x="777240" y="201168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1250" b="0" i="0">
                <a:solidFill>
                  <a:srgbClr val="1E293B"/>
                </a:solidFill>
                <a:latin typeface="Calibri"/>
              </a:rPr>
              <a:t>Owais Saleem's bio is real; Malik Umair's is still “Biography coming soon.” — waiting on him, not a code task.</a:t>
            </a:r>
            <a:endParaRPr/>
          </a:p>
        </p:txBody>
      </p:sp>
      <p:sp>
        <p:nvSpPr>
          <p:cNvPr id="2030067885" name="Rounded Rectangle 8"/>
          <p:cNvSpPr/>
          <p:nvPr/>
        </p:nvSpPr>
        <p:spPr bwMode="auto">
          <a:xfrm>
            <a:off x="548640" y="2743200"/>
            <a:ext cx="11064240" cy="105156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57194170" name="Rectangle 9"/>
          <p:cNvSpPr/>
          <p:nvPr/>
        </p:nvSpPr>
        <p:spPr bwMode="auto">
          <a:xfrm>
            <a:off x="548640" y="2743200"/>
            <a:ext cx="73152" cy="10515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9788741" name="TextBox 10"/>
          <p:cNvSpPr txBox="1"/>
          <p:nvPr/>
        </p:nvSpPr>
        <p:spPr bwMode="auto">
          <a:xfrm>
            <a:off x="777240" y="2852928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50" b="1" i="0">
                <a:solidFill>
                  <a:srgbClr val="B45309"/>
                </a:solidFill>
                <a:latin typeface="Calibri"/>
              </a:rPr>
              <a:t>Automated test coverage is minimal</a:t>
            </a:r>
            <a:endParaRPr/>
          </a:p>
        </p:txBody>
      </p:sp>
      <p:sp>
        <p:nvSpPr>
          <p:cNvPr id="1099011130" name="TextBox 11"/>
          <p:cNvSpPr txBox="1"/>
          <p:nvPr/>
        </p:nvSpPr>
        <p:spPr bwMode="auto">
          <a:xfrm>
            <a:off x="777240" y="320040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1250" b="0" i="0">
                <a:solidFill>
                  <a:srgbClr val="1E293B"/>
                </a:solidFill>
                <a:latin typeface="Calibri"/>
              </a:rPr>
              <a:t>Vitest covers a handful of pure functions; no component, integration, or end-to-end coverage yet. Ongoing, incremental work.</a:t>
            </a:r>
            <a:endParaRPr/>
          </a:p>
        </p:txBody>
      </p:sp>
      <p:sp>
        <p:nvSpPr>
          <p:cNvPr id="463186293" name="Rounded Rectangle 12"/>
          <p:cNvSpPr/>
          <p:nvPr/>
        </p:nvSpPr>
        <p:spPr bwMode="auto">
          <a:xfrm>
            <a:off x="548640" y="4114800"/>
            <a:ext cx="11064240" cy="1371600"/>
          </a:xfrm>
          <a:prstGeom prst="roundRect">
            <a:avLst>
              <a:gd name="adj" fmla="val 4500"/>
            </a:avLst>
          </a:prstGeom>
          <a:solidFill>
            <a:srgbClr val="E6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6288937" name="Rectangle 13"/>
          <p:cNvSpPr/>
          <p:nvPr/>
        </p:nvSpPr>
        <p:spPr bwMode="auto">
          <a:xfrm>
            <a:off x="548640" y="4114800"/>
            <a:ext cx="50800" cy="13716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7760724" name="TextBox 14"/>
          <p:cNvSpPr txBox="1"/>
          <p:nvPr/>
        </p:nvSpPr>
        <p:spPr bwMode="auto">
          <a:xfrm>
            <a:off x="749808" y="4224528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50" b="1" i="0">
                <a:solidFill>
                  <a:srgbClr val="0D9488"/>
                </a:solidFill>
                <a:latin typeface="Calibri"/>
              </a:rPr>
              <a:t>SHORTER THAN IT USED TO BE</a:t>
            </a:r>
            <a:endParaRPr/>
          </a:p>
        </p:txBody>
      </p:sp>
      <p:sp>
        <p:nvSpPr>
          <p:cNvPr id="939739297" name="TextBox 15"/>
          <p:cNvSpPr txBox="1"/>
          <p:nvPr/>
        </p:nvSpPr>
        <p:spPr bwMode="auto">
          <a:xfrm>
            <a:off x="749808" y="4517136"/>
            <a:ext cx="1068019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defRPr/>
            </a:pPr>
            <a:r>
              <a:rPr sz="1400" b="0" i="0">
                <a:solidFill>
                  <a:srgbClr val="0F172A"/>
                </a:solidFill>
                <a:latin typeface="Calibri"/>
              </a:rPr>
              <a:t>This chapter used to list 21 items. All but these two are fixed — including, this month, every finding from the security audit on the previous slide. All of it, and the reasoning behind every design decision in this section, lives in Guide/main.pdf.</a:t>
            </a:r>
            <a:endParaRPr/>
          </a:p>
        </p:txBody>
      </p:sp>
      <p:sp>
        <p:nvSpPr>
          <p:cNvPr id="1857140318" name="TextBox 16"/>
          <p:cNvSpPr txBox="1"/>
          <p:nvPr/>
        </p:nvSpPr>
        <p:spPr bwMode="auto"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OLK — Open Library Kashmir</a:t>
            </a:r>
            <a:endParaRPr/>
          </a:p>
        </p:txBody>
      </p:sp>
      <p:sp>
        <p:nvSpPr>
          <p:cNvPr id="516569061" name="TextBox 17"/>
          <p:cNvSpPr txBox="1"/>
          <p:nvPr/>
        </p:nvSpPr>
        <p:spPr bwMode="auto">
          <a:xfrm>
            <a:off x="8686800" y="6528816"/>
            <a:ext cx="2926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Under the Hood   ·   30 / 37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3397614" name="Rectangle 1"/>
          <p:cNvSpPr/>
          <p:nvPr/>
        </p:nvSpPr>
        <p:spPr bwMode="auto">
          <a:xfrm>
            <a:off x="0" y="3931920"/>
            <a:ext cx="12191695" cy="29260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2495654" name="Freeform 2"/>
          <p:cNvSpPr/>
          <p:nvPr/>
        </p:nvSpPr>
        <p:spPr bwMode="auto">
          <a:xfrm>
            <a:off x="0" y="4517136"/>
            <a:ext cx="12191695" cy="2340864"/>
          </a:xfrm>
          <a:custGeom>
            <a:avLst/>
            <a:gdLst/>
            <a:ahLst/>
            <a:cxnLst/>
            <a:rect l="l" t="t" r="r" b="b"/>
            <a:pathLst>
              <a:path w="12191695" h="2340864" fill="norm" stroke="1" extrusionOk="0">
                <a:moveTo>
                  <a:pt x="0" y="2340864"/>
                </a:moveTo>
                <a:lnTo>
                  <a:pt x="0" y="1024128"/>
                </a:lnTo>
                <a:lnTo>
                  <a:pt x="1706837" y="292608"/>
                </a:lnTo>
                <a:lnTo>
                  <a:pt x="3291758" y="877824"/>
                </a:lnTo>
                <a:lnTo>
                  <a:pt x="5120512" y="58522"/>
                </a:lnTo>
                <a:lnTo>
                  <a:pt x="7071183" y="819302"/>
                </a:lnTo>
                <a:lnTo>
                  <a:pt x="9021854" y="0"/>
                </a:lnTo>
                <a:lnTo>
                  <a:pt x="10972526" y="760781"/>
                </a:lnTo>
                <a:lnTo>
                  <a:pt x="12191695" y="234086"/>
                </a:lnTo>
                <a:lnTo>
                  <a:pt x="12191695" y="2340864"/>
                </a:lnTo>
                <a:lnTo>
                  <a:pt x="0" y="2340864"/>
                </a:lnTo>
                <a:close/>
              </a:path>
            </a:pathLst>
          </a:cu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6421822" name="Freeform 3"/>
          <p:cNvSpPr/>
          <p:nvPr/>
        </p:nvSpPr>
        <p:spPr bwMode="auto">
          <a:xfrm>
            <a:off x="0" y="5219395"/>
            <a:ext cx="12191695" cy="1638605"/>
          </a:xfrm>
          <a:custGeom>
            <a:avLst/>
            <a:gdLst/>
            <a:ahLst/>
            <a:cxnLst/>
            <a:rect l="l" t="t" r="r" b="b"/>
            <a:pathLst>
              <a:path w="12191695" h="1638605" fill="norm" stroke="1" extrusionOk="0">
                <a:moveTo>
                  <a:pt x="0" y="1638605"/>
                </a:moveTo>
                <a:lnTo>
                  <a:pt x="0" y="907085"/>
                </a:lnTo>
                <a:lnTo>
                  <a:pt x="1219170" y="234087"/>
                </a:lnTo>
                <a:lnTo>
                  <a:pt x="2682173" y="702259"/>
                </a:lnTo>
                <a:lnTo>
                  <a:pt x="4389010" y="58522"/>
                </a:lnTo>
                <a:lnTo>
                  <a:pt x="6095848" y="760781"/>
                </a:lnTo>
                <a:lnTo>
                  <a:pt x="7802685" y="0"/>
                </a:lnTo>
                <a:lnTo>
                  <a:pt x="9509522" y="760781"/>
                </a:lnTo>
                <a:lnTo>
                  <a:pt x="11216359" y="117043"/>
                </a:lnTo>
                <a:lnTo>
                  <a:pt x="12191695" y="526695"/>
                </a:lnTo>
                <a:lnTo>
                  <a:pt x="12191695" y="1638605"/>
                </a:lnTo>
                <a:lnTo>
                  <a:pt x="0" y="1638605"/>
                </a:lnTo>
                <a:close/>
              </a:path>
            </a:pathLst>
          </a:cu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2571619" name="Oval 4"/>
          <p:cNvSpPr/>
          <p:nvPr/>
        </p:nvSpPr>
        <p:spPr bwMode="auto">
          <a:xfrm>
            <a:off x="1950671" y="4458614"/>
            <a:ext cx="310896" cy="310896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2291637" name="Rectangle 5"/>
          <p:cNvSpPr/>
          <p:nvPr/>
        </p:nvSpPr>
        <p:spPr bwMode="auto">
          <a:xfrm>
            <a:off x="0" y="5160873"/>
            <a:ext cx="12191695" cy="330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7331473" name="TextBox 6"/>
          <p:cNvSpPr txBox="1"/>
          <p:nvPr/>
        </p:nvSpPr>
        <p:spPr bwMode="auto">
          <a:xfrm>
            <a:off x="822960" y="9144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500" b="1" i="0">
                <a:solidFill>
                  <a:srgbClr val="2DD4BF"/>
                </a:solidFill>
                <a:latin typeface="Calibri"/>
              </a:rPr>
              <a:t>PART 5 / 5</a:t>
            </a:r>
            <a:endParaRPr/>
          </a:p>
        </p:txBody>
      </p:sp>
      <p:sp>
        <p:nvSpPr>
          <p:cNvPr id="2079989132" name="TextBox 7"/>
          <p:cNvSpPr txBox="1"/>
          <p:nvPr/>
        </p:nvSpPr>
        <p:spPr bwMode="auto">
          <a:xfrm>
            <a:off x="777240" y="137160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The Road Ahead</a:t>
            </a:r>
            <a:endParaRPr/>
          </a:p>
        </p:txBody>
      </p:sp>
      <p:sp>
        <p:nvSpPr>
          <p:cNvPr id="1691639755" name="TextBox 8"/>
          <p:cNvSpPr txBox="1"/>
          <p:nvPr/>
        </p:nvSpPr>
        <p:spPr bwMode="auto">
          <a:xfrm>
            <a:off x="822960" y="251460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b="0" i="0">
                <a:solidFill>
                  <a:srgbClr val="CBD5E1"/>
                </a:solidFill>
                <a:latin typeface="Calibri"/>
              </a:rPr>
              <a:t>Mobile, self-hosting, and growing responsibly — not before it's earned.</a:t>
            </a:r>
            <a:endParaRPr/>
          </a:p>
        </p:txBody>
      </p:sp>
      <p:sp>
        <p:nvSpPr>
          <p:cNvPr id="1170066609" name="Oval 9"/>
          <p:cNvSpPr/>
          <p:nvPr/>
        </p:nvSpPr>
        <p:spPr bwMode="auto">
          <a:xfrm>
            <a:off x="822960" y="3246120"/>
            <a:ext cx="182880" cy="18288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1782131" name="Oval 10"/>
          <p:cNvSpPr/>
          <p:nvPr/>
        </p:nvSpPr>
        <p:spPr bwMode="auto">
          <a:xfrm>
            <a:off x="1115568" y="3246120"/>
            <a:ext cx="182880" cy="18288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62257328" name="Oval 11"/>
          <p:cNvSpPr/>
          <p:nvPr/>
        </p:nvSpPr>
        <p:spPr bwMode="auto">
          <a:xfrm>
            <a:off x="1408176" y="3246120"/>
            <a:ext cx="182880" cy="18288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1092529" name="Oval 12"/>
          <p:cNvSpPr/>
          <p:nvPr/>
        </p:nvSpPr>
        <p:spPr bwMode="auto">
          <a:xfrm>
            <a:off x="1700784" y="3246120"/>
            <a:ext cx="182880" cy="18288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4963266" name="Oval 13"/>
          <p:cNvSpPr/>
          <p:nvPr/>
        </p:nvSpPr>
        <p:spPr bwMode="auto">
          <a:xfrm>
            <a:off x="1993392" y="3246120"/>
            <a:ext cx="182880" cy="18288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301728" name="TextBox 1"/>
          <p:cNvSpPr txBox="1"/>
          <p:nvPr/>
        </p:nvSpPr>
        <p:spPr bwMode="auto"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14B8A6"/>
                </a:solidFill>
                <a:latin typeface="Calibri"/>
              </a:rPr>
              <a:t>THE ROAD AHEAD</a:t>
            </a:r>
            <a:endParaRPr/>
          </a:p>
        </p:txBody>
      </p:sp>
      <p:sp>
        <p:nvSpPr>
          <p:cNvPr id="1460717204" name="TextBox 2"/>
          <p:cNvSpPr txBox="1"/>
          <p:nvPr/>
        </p:nvSpPr>
        <p:spPr bwMode="auto"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000" b="1" i="0">
                <a:solidFill>
                  <a:srgbClr val="0F172A"/>
                </a:solidFill>
                <a:latin typeface="Calibri"/>
              </a:rPr>
              <a:t>A mobile app, on the same backend</a:t>
            </a:r>
            <a:endParaRPr/>
          </a:p>
        </p:txBody>
      </p:sp>
      <p:sp>
        <p:nvSpPr>
          <p:cNvPr id="1486634170" name="Rectangle 3"/>
          <p:cNvSpPr/>
          <p:nvPr/>
        </p:nvSpPr>
        <p:spPr bwMode="auto">
          <a:xfrm>
            <a:off x="548640" y="1207008"/>
            <a:ext cx="914400" cy="40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7551480" name="TextBox 4"/>
          <p:cNvSpPr txBox="1"/>
          <p:nvPr/>
        </p:nvSpPr>
        <p:spPr bwMode="auto">
          <a:xfrm>
            <a:off x="548640" y="1508759"/>
            <a:ext cx="1078992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65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650" b="1" i="0">
                <a:solidFill>
                  <a:srgbClr val="0F172A"/>
                </a:solidFill>
                <a:latin typeface="Calibri"/>
              </a:rPr>
              <a:t>Supabase's API is transport-agnostic</a:t>
            </a:r>
            <a:r>
              <a:rPr sz="1650" b="0" i="0">
                <a:solidFill>
                  <a:srgbClr val="1E293B"/>
                </a:solidFill>
                <a:latin typeface="Calibri"/>
              </a:rPr>
              <a:t> — a React Native/Expo (or Flutter) app talks to the exact same Postgres, the same RLS policies, the same auth. No separate backend to build.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65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0F172A"/>
                </a:solidFill>
                <a:latin typeface="Calibri"/>
              </a:rPr>
              <a:t>Push notifications would sit naturally alongside — or eventually replace — the email digest.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65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650" b="1" i="0">
                <a:solidFill>
                  <a:srgbClr val="0F172A"/>
                </a:solidFill>
                <a:latin typeface="Calibri"/>
              </a:rPr>
              <a:t>Worth designing for from day one: </a:t>
            </a:r>
            <a:r>
              <a:rPr sz="1650" b="0" i="0">
                <a:solidFill>
                  <a:srgbClr val="1E293B"/>
                </a:solidFill>
                <a:latin typeface="Calibri"/>
              </a:rPr>
              <a:t>offline-first behaviour for areas with patchy connectivity.</a:t>
            </a:r>
            <a:endParaRPr/>
          </a:p>
        </p:txBody>
      </p:sp>
      <p:sp>
        <p:nvSpPr>
          <p:cNvPr id="1645510492" name="TextBox 5"/>
          <p:cNvSpPr txBox="1"/>
          <p:nvPr/>
        </p:nvSpPr>
        <p:spPr bwMode="auto"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OLK — Open Library Kashmir</a:t>
            </a:r>
            <a:endParaRPr/>
          </a:p>
        </p:txBody>
      </p:sp>
      <p:sp>
        <p:nvSpPr>
          <p:cNvPr id="1715174165" name="TextBox 6"/>
          <p:cNvSpPr txBox="1"/>
          <p:nvPr/>
        </p:nvSpPr>
        <p:spPr bwMode="auto">
          <a:xfrm>
            <a:off x="8686800" y="6528816"/>
            <a:ext cx="2926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The Road Ahead   ·   31 / 37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520859" name="TextBox 1"/>
          <p:cNvSpPr txBox="1"/>
          <p:nvPr/>
        </p:nvSpPr>
        <p:spPr bwMode="auto"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14B8A6"/>
                </a:solidFill>
                <a:latin typeface="Calibri"/>
              </a:rPr>
              <a:t>THE ROAD AHEAD</a:t>
            </a:r>
            <a:endParaRPr/>
          </a:p>
        </p:txBody>
      </p:sp>
      <p:sp>
        <p:nvSpPr>
          <p:cNvPr id="1055515987" name="TextBox 2"/>
          <p:cNvSpPr txBox="1"/>
          <p:nvPr/>
        </p:nvSpPr>
        <p:spPr bwMode="auto"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000" b="1" i="0">
                <a:solidFill>
                  <a:srgbClr val="0F172A"/>
                </a:solidFill>
                <a:latin typeface="Calibri"/>
              </a:rPr>
              <a:t>Self-hosting in Kashmir — the long game</a:t>
            </a:r>
            <a:endParaRPr/>
          </a:p>
        </p:txBody>
      </p:sp>
      <p:sp>
        <p:nvSpPr>
          <p:cNvPr id="1017519694" name="Rectangle 3"/>
          <p:cNvSpPr/>
          <p:nvPr/>
        </p:nvSpPr>
        <p:spPr bwMode="auto">
          <a:xfrm>
            <a:off x="548640" y="1207008"/>
            <a:ext cx="914400" cy="40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0656557" name="TextBox 4"/>
          <p:cNvSpPr txBox="1"/>
          <p:nvPr/>
        </p:nvSpPr>
        <p:spPr bwMode="auto">
          <a:xfrm>
            <a:off x="548640" y="1463040"/>
            <a:ext cx="1078992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55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0F172A"/>
                </a:solidFill>
                <a:latin typeface="Calibri"/>
              </a:rPr>
              <a:t>Every Supabase service is open source and self-hostable — nothing about today's architecture is a rented black box.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55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0F172A"/>
                </a:solidFill>
                <a:latin typeface="Calibri"/>
              </a:rPr>
              <a:t>The Docker stack developers already run daily is the rehearsal for a physical server in-region.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55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50" b="1" i="0">
                <a:solidFill>
                  <a:srgbClr val="0F172A"/>
                </a:solidFill>
                <a:latin typeface="Calibri"/>
              </a:rPr>
              <a:t>Why it matters: </a:t>
            </a:r>
            <a:r>
              <a:rPr sz="1550" b="0" i="0">
                <a:solidFill>
                  <a:srgbClr val="1E293B"/>
                </a:solidFill>
                <a:latin typeface="Calibri"/>
              </a:rPr>
              <a:t>reducing dependency on foreign-hosted infrastructure, data sovereignty over community members' information, long-term cost control.</a:t>
            </a:r>
            <a:endParaRPr/>
          </a:p>
        </p:txBody>
      </p:sp>
      <p:sp>
        <p:nvSpPr>
          <p:cNvPr id="895618798" name="Rounded Rectangle 5"/>
          <p:cNvSpPr/>
          <p:nvPr/>
        </p:nvSpPr>
        <p:spPr bwMode="auto">
          <a:xfrm>
            <a:off x="548640" y="3703320"/>
            <a:ext cx="11064240" cy="1463040"/>
          </a:xfrm>
          <a:prstGeom prst="roundRect">
            <a:avLst>
              <a:gd name="adj" fmla="val 45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594247" name="Rectangle 6"/>
          <p:cNvSpPr/>
          <p:nvPr/>
        </p:nvSpPr>
        <p:spPr bwMode="auto">
          <a:xfrm>
            <a:off x="548640" y="3703320"/>
            <a:ext cx="50800" cy="14630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5637883" name="TextBox 7"/>
          <p:cNvSpPr txBox="1"/>
          <p:nvPr/>
        </p:nvSpPr>
        <p:spPr bwMode="auto">
          <a:xfrm>
            <a:off x="749808" y="3813048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50" b="1" i="0">
                <a:solidFill>
                  <a:srgbClr val="B45309"/>
                </a:solidFill>
                <a:latin typeface="Calibri"/>
              </a:rPr>
              <a:t>A VPS IS NOT AUTOMATICALLY PROGRESS</a:t>
            </a:r>
            <a:endParaRPr/>
          </a:p>
        </p:txBody>
      </p:sp>
      <p:sp>
        <p:nvSpPr>
          <p:cNvPr id="844231072" name="TextBox 8"/>
          <p:cNvSpPr txBox="1"/>
          <p:nvPr/>
        </p:nvSpPr>
        <p:spPr bwMode="auto">
          <a:xfrm>
            <a:off x="749808" y="4105656"/>
            <a:ext cx="10680192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defRPr/>
            </a:pPr>
            <a:r>
              <a:rPr sz="1450" b="0" i="0">
                <a:solidFill>
                  <a:srgbClr val="0F172A"/>
                </a:solidFill>
                <a:latin typeface="Calibri"/>
              </a:rPr>
              <a:t>Renting a generic VPS just swaps one third party's control for another's — the data still lives on hardware you don't own. It only becomes real progress toward sovereignty if it's treated as a rehearsal for physical hardware, not the destination itself.</a:t>
            </a:r>
            <a:endParaRPr/>
          </a:p>
        </p:txBody>
      </p:sp>
      <p:sp>
        <p:nvSpPr>
          <p:cNvPr id="1952427045" name="TextBox 9"/>
          <p:cNvSpPr txBox="1"/>
          <p:nvPr/>
        </p:nvSpPr>
        <p:spPr bwMode="auto"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OLK — Open Library Kashmir</a:t>
            </a:r>
            <a:endParaRPr/>
          </a:p>
        </p:txBody>
      </p:sp>
      <p:sp>
        <p:nvSpPr>
          <p:cNvPr id="467028420" name="TextBox 10"/>
          <p:cNvSpPr txBox="1"/>
          <p:nvPr/>
        </p:nvSpPr>
        <p:spPr bwMode="auto">
          <a:xfrm>
            <a:off x="8686800" y="6528816"/>
            <a:ext cx="2926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The Road Ahead   ·   32 / 37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1075252" name="TextBox 1"/>
          <p:cNvSpPr txBox="1"/>
          <p:nvPr/>
        </p:nvSpPr>
        <p:spPr bwMode="auto"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14B8A6"/>
                </a:solidFill>
                <a:latin typeface="Calibri"/>
              </a:rPr>
              <a:t>THE ROAD AHEAD</a:t>
            </a:r>
            <a:endParaRPr/>
          </a:p>
        </p:txBody>
      </p:sp>
      <p:sp>
        <p:nvSpPr>
          <p:cNvPr id="1422948699" name="TextBox 2"/>
          <p:cNvSpPr txBox="1"/>
          <p:nvPr/>
        </p:nvSpPr>
        <p:spPr bwMode="auto"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000" b="1" i="0">
                <a:solidFill>
                  <a:srgbClr val="0F172A"/>
                </a:solidFill>
                <a:latin typeface="Calibri"/>
              </a:rPr>
              <a:t>Case study: evaluating a self-host proposal</a:t>
            </a:r>
            <a:endParaRPr/>
          </a:p>
        </p:txBody>
      </p:sp>
      <p:sp>
        <p:nvSpPr>
          <p:cNvPr id="1674559497" name="Rectangle 3"/>
          <p:cNvSpPr/>
          <p:nvPr/>
        </p:nvSpPr>
        <p:spPr bwMode="auto">
          <a:xfrm>
            <a:off x="548640" y="1207008"/>
            <a:ext cx="914400" cy="40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5264133" name="TextBox 4"/>
          <p:cNvSpPr txBox="1"/>
          <p:nvPr/>
        </p:nvSpPr>
        <p:spPr bwMode="auto">
          <a:xfrm>
            <a:off x="548640" y="1371600"/>
            <a:ext cx="107899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50" b="0" i="0">
                <a:solidFill>
                  <a:srgbClr val="0F172A"/>
                </a:solidFill>
                <a:latin typeface="Calibri"/>
              </a:rPr>
              <a:t>In July 2026, a colleague of the founder wrote up a full migration plan: VPS + PM2 + Caddy, a self-hosted Supabase Docker stack, PgBouncer, self-hosted mail, system cron — sized for 100,000 users.</a:t>
            </a:r>
            <a:endParaRPr/>
          </a:p>
        </p:txBody>
      </p:sp>
      <p:sp>
        <p:nvSpPr>
          <p:cNvPr id="791550699" name="Rounded Rectangle 5"/>
          <p:cNvSpPr/>
          <p:nvPr/>
        </p:nvSpPr>
        <p:spPr bwMode="auto">
          <a:xfrm>
            <a:off x="548640" y="2194560"/>
            <a:ext cx="5349240" cy="2651760"/>
          </a:xfrm>
          <a:prstGeom prst="roundRect">
            <a:avLst>
              <a:gd name="adj" fmla="val 5000"/>
            </a:avLst>
          </a:prstGeom>
          <a:solidFill>
            <a:srgbClr val="E6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08628847" name="TextBox 6"/>
          <p:cNvSpPr txBox="1"/>
          <p:nvPr/>
        </p:nvSpPr>
        <p:spPr bwMode="auto">
          <a:xfrm>
            <a:off x="777240" y="233172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0D9488"/>
                </a:solidFill>
                <a:latin typeface="Calibri"/>
              </a:rPr>
              <a:t>WHAT WAS RIGHT</a:t>
            </a:r>
            <a:endParaRPr/>
          </a:p>
        </p:txBody>
      </p:sp>
      <p:sp>
        <p:nvSpPr>
          <p:cNvPr id="229730372" name="TextBox 7"/>
          <p:cNvSpPr txBox="1"/>
          <p:nvPr/>
        </p:nvSpPr>
        <p:spPr bwMode="auto">
          <a:xfrm>
            <a:off x="777240" y="2743200"/>
            <a:ext cx="48463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3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PM2+Caddy, PgBouncer, cron, pg_dump backups are all conventional, correct choices.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3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The problem was in the framing, not the components.</a:t>
            </a:r>
            <a:endParaRPr/>
          </a:p>
        </p:txBody>
      </p:sp>
      <p:sp>
        <p:nvSpPr>
          <p:cNvPr id="242665397" name="Rounded Rectangle 8"/>
          <p:cNvSpPr/>
          <p:nvPr/>
        </p:nvSpPr>
        <p:spPr bwMode="auto">
          <a:xfrm>
            <a:off x="6263640" y="2194560"/>
            <a:ext cx="5349240" cy="265176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58325659" name="TextBox 9"/>
          <p:cNvSpPr txBox="1"/>
          <p:nvPr/>
        </p:nvSpPr>
        <p:spPr bwMode="auto">
          <a:xfrm>
            <a:off x="6492240" y="233172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B45309"/>
                </a:solidFill>
                <a:latin typeface="Calibri"/>
              </a:rPr>
              <a:t>WHAT WAS RISKY</a:t>
            </a:r>
            <a:endParaRPr/>
          </a:p>
        </p:txBody>
      </p:sp>
      <p:sp>
        <p:nvSpPr>
          <p:cNvPr id="2039688475" name="TextBox 10"/>
          <p:cNvSpPr txBox="1"/>
          <p:nvPr/>
        </p:nvSpPr>
        <p:spPr bwMode="auto">
          <a:xfrm>
            <a:off x="6492240" y="2743200"/>
            <a:ext cx="48463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200" b="1" i="0">
                <a:solidFill>
                  <a:srgbClr val="B45309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The 100k figure had no basis — the project was pre-launch, with no real users yet.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200" b="1" i="0">
                <a:solidFill>
                  <a:srgbClr val="B45309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“Zero code changes” undersold the real ongoing burden of owning Postgres/GoTrue/Kong/Realtime as running services.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200" b="1" i="0">
                <a:solidFill>
                  <a:srgbClr val="B45309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Self-hosted email is the highest-risk item: a fresh VPS IP gets spam-foldered regardless of correct SPF/DKIM/DMARC.</a:t>
            </a:r>
            <a:endParaRPr/>
          </a:p>
        </p:txBody>
      </p:sp>
      <p:sp>
        <p:nvSpPr>
          <p:cNvPr id="2057920486" name="TextBox 11"/>
          <p:cNvSpPr txBox="1"/>
          <p:nvPr/>
        </p:nvSpPr>
        <p:spPr bwMode="auto"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OLK — Open Library Kashmir</a:t>
            </a:r>
            <a:endParaRPr/>
          </a:p>
        </p:txBody>
      </p:sp>
      <p:sp>
        <p:nvSpPr>
          <p:cNvPr id="1075876916" name="TextBox 12"/>
          <p:cNvSpPr txBox="1"/>
          <p:nvPr/>
        </p:nvSpPr>
        <p:spPr bwMode="auto">
          <a:xfrm>
            <a:off x="8686800" y="6528816"/>
            <a:ext cx="2926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The Road Ahead   ·   33 / 37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0158047" name="TextBox 1"/>
          <p:cNvSpPr txBox="1"/>
          <p:nvPr/>
        </p:nvSpPr>
        <p:spPr bwMode="auto"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14B8A6"/>
                </a:solidFill>
                <a:latin typeface="Calibri"/>
              </a:rPr>
              <a:t>THE ROAD AHEAD</a:t>
            </a:r>
            <a:endParaRPr/>
          </a:p>
        </p:txBody>
      </p:sp>
      <p:sp>
        <p:nvSpPr>
          <p:cNvPr id="900828228" name="TextBox 2"/>
          <p:cNvSpPr txBox="1"/>
          <p:nvPr/>
        </p:nvSpPr>
        <p:spPr bwMode="auto"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000" b="1" i="0">
                <a:solidFill>
                  <a:srgbClr val="0F172A"/>
                </a:solidFill>
                <a:latin typeface="Calibri"/>
              </a:rPr>
              <a:t>The decision, and what shipped immediately</a:t>
            </a:r>
            <a:endParaRPr/>
          </a:p>
        </p:txBody>
      </p:sp>
      <p:sp>
        <p:nvSpPr>
          <p:cNvPr id="825244602" name="Rectangle 3"/>
          <p:cNvSpPr/>
          <p:nvPr/>
        </p:nvSpPr>
        <p:spPr bwMode="auto">
          <a:xfrm>
            <a:off x="548640" y="1207008"/>
            <a:ext cx="914400" cy="40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0223504" name="Rounded Rectangle 4"/>
          <p:cNvSpPr/>
          <p:nvPr/>
        </p:nvSpPr>
        <p:spPr bwMode="auto">
          <a:xfrm>
            <a:off x="548640" y="1417320"/>
            <a:ext cx="11064240" cy="105156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43164852" name="Rectangle 5"/>
          <p:cNvSpPr/>
          <p:nvPr/>
        </p:nvSpPr>
        <p:spPr bwMode="auto">
          <a:xfrm>
            <a:off x="548640" y="1417320"/>
            <a:ext cx="50800" cy="105156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5896525" name="TextBox 6"/>
          <p:cNvSpPr txBox="1"/>
          <p:nvPr/>
        </p:nvSpPr>
        <p:spPr bwMode="auto">
          <a:xfrm>
            <a:off x="749808" y="1527048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50" b="1" i="0">
                <a:solidFill>
                  <a:srgbClr val="FFFFFF"/>
                </a:solidFill>
                <a:latin typeface="Calibri"/>
              </a:rPr>
              <a:t>DECISION (2026-07-11)</a:t>
            </a:r>
            <a:endParaRPr/>
          </a:p>
        </p:txBody>
      </p:sp>
      <p:sp>
        <p:nvSpPr>
          <p:cNvPr id="1260192047" name="TextBox 7"/>
          <p:cNvSpPr txBox="1"/>
          <p:nvPr/>
        </p:nvSpPr>
        <p:spPr bwMode="auto">
          <a:xfrm>
            <a:off x="749808" y="1819656"/>
            <a:ext cx="106801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defRPr/>
            </a:pPr>
            <a:r>
              <a:rPr sz="1500" b="0" i="0">
                <a:solidFill>
                  <a:srgbClr val="FFFFFF"/>
                </a:solidFill>
                <a:latin typeface="Calibri"/>
              </a:rPr>
              <a:t>None of this ships now. The project stays on Vercel + managed Supabase + Resend until there's a second developer and evidence of real load.</a:t>
            </a:r>
            <a:endParaRPr/>
          </a:p>
        </p:txBody>
      </p:sp>
      <p:sp>
        <p:nvSpPr>
          <p:cNvPr id="1607667182" name="Rounded Rectangle 8"/>
          <p:cNvSpPr/>
          <p:nvPr/>
        </p:nvSpPr>
        <p:spPr bwMode="auto">
          <a:xfrm>
            <a:off x="548640" y="2697480"/>
            <a:ext cx="5349240" cy="1554480"/>
          </a:xfrm>
          <a:prstGeom prst="roundRect">
            <a:avLst>
              <a:gd name="adj" fmla="val 6000"/>
            </a:avLst>
          </a:prstGeom>
          <a:solidFill>
            <a:srgbClr val="E6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5247286" name="TextBox 9"/>
          <p:cNvSpPr txBox="1"/>
          <p:nvPr/>
        </p:nvSpPr>
        <p:spPr bwMode="auto">
          <a:xfrm>
            <a:off x="822960" y="288036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0D9488"/>
                </a:solidFill>
                <a:latin typeface="Calibri"/>
              </a:rPr>
              <a:t>First-year planning target</a:t>
            </a:r>
            <a:endParaRPr/>
          </a:p>
        </p:txBody>
      </p:sp>
      <p:sp>
        <p:nvSpPr>
          <p:cNvPr id="1549976285" name="TextBox 10"/>
          <p:cNvSpPr txBox="1"/>
          <p:nvPr/>
        </p:nvSpPr>
        <p:spPr bwMode="auto">
          <a:xfrm>
            <a:off x="822960" y="3291840"/>
            <a:ext cx="4800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1300" b="0" i="0">
                <a:solidFill>
                  <a:srgbClr val="1E293B"/>
                </a:solidFill>
                <a:latin typeface="Calibri"/>
              </a:rPr>
              <a:t>10,000 users — not 100k. Reasonable for a regional community platform; doesn't stress the current managed stack.</a:t>
            </a:r>
            <a:endParaRPr/>
          </a:p>
        </p:txBody>
      </p:sp>
      <p:sp>
        <p:nvSpPr>
          <p:cNvPr id="1316134946" name="Rounded Rectangle 11"/>
          <p:cNvSpPr/>
          <p:nvPr/>
        </p:nvSpPr>
        <p:spPr bwMode="auto">
          <a:xfrm>
            <a:off x="6263640" y="2697480"/>
            <a:ext cx="5349240" cy="1554480"/>
          </a:xfrm>
          <a:prstGeom prst="roundRect">
            <a:avLst>
              <a:gd name="adj" fmla="val 6000"/>
            </a:avLst>
          </a:prstGeom>
          <a:solidFill>
            <a:srgbClr val="E6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4100127" name="TextBox 12"/>
          <p:cNvSpPr txBox="1"/>
          <p:nvPr/>
        </p:nvSpPr>
        <p:spPr bwMode="auto">
          <a:xfrm>
            <a:off x="6537960" y="288036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0D9488"/>
                </a:solidFill>
                <a:latin typeface="Calibri"/>
              </a:rPr>
              <a:t>Shipped immediately instead</a:t>
            </a:r>
            <a:endParaRPr/>
          </a:p>
        </p:txBody>
      </p:sp>
      <p:sp>
        <p:nvSpPr>
          <p:cNvPr id="2022657562" name="TextBox 13"/>
          <p:cNvSpPr txBox="1"/>
          <p:nvPr/>
        </p:nvSpPr>
        <p:spPr bwMode="auto">
          <a:xfrm>
            <a:off x="6537960" y="3291840"/>
            <a:ext cx="4800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1300" b="0" i="0">
                <a:solidFill>
                  <a:srgbClr val="1E293B"/>
                </a:solidFill>
                <a:latin typeface="Calibri"/>
              </a:rPr>
              <a:t>11 btree indexes on book_requests, ratings, and reports — the audit's one cheap, reversible fix with no architectural bet attached.</a:t>
            </a:r>
            <a:endParaRPr/>
          </a:p>
        </p:txBody>
      </p:sp>
      <p:sp>
        <p:nvSpPr>
          <p:cNvPr id="1273329867" name="TextBox 14"/>
          <p:cNvSpPr txBox="1"/>
          <p:nvPr/>
        </p:nvSpPr>
        <p:spPr bwMode="auto">
          <a:xfrm>
            <a:off x="548640" y="4526280"/>
            <a:ext cx="110642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300" b="0" i="1">
                <a:solidFill>
                  <a:srgbClr val="64748B"/>
                </a:solidFill>
                <a:latin typeface="Calibri"/>
              </a:rPr>
              <a:t>Parked for later, revisited once there's more than one developer and real signs of load: VPS-hosted compute, the self-hosted Supabase stack, self-hosted mail, and automated off-site backups.</a:t>
            </a:r>
            <a:endParaRPr/>
          </a:p>
        </p:txBody>
      </p:sp>
      <p:sp>
        <p:nvSpPr>
          <p:cNvPr id="460762902" name="TextBox 15"/>
          <p:cNvSpPr txBox="1"/>
          <p:nvPr/>
        </p:nvSpPr>
        <p:spPr bwMode="auto"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OLK — Open Library Kashmir</a:t>
            </a:r>
            <a:endParaRPr/>
          </a:p>
        </p:txBody>
      </p:sp>
      <p:sp>
        <p:nvSpPr>
          <p:cNvPr id="1028770830" name="TextBox 16"/>
          <p:cNvSpPr txBox="1"/>
          <p:nvPr/>
        </p:nvSpPr>
        <p:spPr bwMode="auto">
          <a:xfrm>
            <a:off x="8686800" y="6528816"/>
            <a:ext cx="2926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The Road Ahead   ·   34 / 37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7982319" name="TextBox 1"/>
          <p:cNvSpPr txBox="1"/>
          <p:nvPr/>
        </p:nvSpPr>
        <p:spPr bwMode="auto"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14B8A6"/>
                </a:solidFill>
                <a:latin typeface="Calibri"/>
              </a:rPr>
              <a:t>THE ROAD AHEAD</a:t>
            </a:r>
            <a:endParaRPr/>
          </a:p>
        </p:txBody>
      </p:sp>
      <p:sp>
        <p:nvSpPr>
          <p:cNvPr id="799279079" name="TextBox 2"/>
          <p:cNvSpPr txBox="1"/>
          <p:nvPr/>
        </p:nvSpPr>
        <p:spPr bwMode="auto"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000" b="1" i="0">
                <a:solidFill>
                  <a:srgbClr val="0F172A"/>
                </a:solidFill>
                <a:latin typeface="Calibri"/>
              </a:rPr>
              <a:t>Steps toward self-hosting</a:t>
            </a:r>
            <a:endParaRPr/>
          </a:p>
        </p:txBody>
      </p:sp>
      <p:sp>
        <p:nvSpPr>
          <p:cNvPr id="132907931" name="Rectangle 3"/>
          <p:cNvSpPr/>
          <p:nvPr/>
        </p:nvSpPr>
        <p:spPr bwMode="auto">
          <a:xfrm>
            <a:off x="548640" y="1207008"/>
            <a:ext cx="914400" cy="40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9409894" name="Rounded Rectangle 4"/>
          <p:cNvSpPr/>
          <p:nvPr/>
        </p:nvSpPr>
        <p:spPr bwMode="auto">
          <a:xfrm>
            <a:off x="365760" y="2103120"/>
            <a:ext cx="2057400" cy="1234440"/>
          </a:xfrm>
          <a:prstGeom prst="roundRect">
            <a:avLst>
              <a:gd name="adj" fmla="val 12000"/>
            </a:avLst>
          </a:prstGeom>
          <a:solidFill>
            <a:srgbClr val="E6FBF8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>
              <a:defRPr/>
            </a:pPr>
            <a:r>
              <a:rPr sz="1150" b="1" i="0">
                <a:solidFill>
                  <a:srgbClr val="0F172A"/>
                </a:solidFill>
                <a:latin typeface="Calibri"/>
              </a:rPr>
              <a:t>Stay fluent</a:t>
            </a:r>
            <a:br>
              <a:rPr sz="1150" b="1" i="0">
                <a:solidFill>
                  <a:srgbClr val="0F172A"/>
                </a:solidFill>
                <a:latin typeface="Calibri"/>
              </a:rPr>
            </a:br>
            <a:r>
              <a:rPr sz="1150" b="1" i="0">
                <a:solidFill>
                  <a:srgbClr val="0F172A"/>
                </a:solidFill>
                <a:latin typeface="Calibri"/>
              </a:rPr>
              <a:t>with local Docker</a:t>
            </a:r>
            <a:endParaRPr/>
          </a:p>
        </p:txBody>
      </p:sp>
      <p:cxnSp>
        <p:nvCxnSpPr>
          <p:cNvPr id="442981187" name="Connector 5"/>
          <p:cNvCxnSpPr/>
          <p:nvPr/>
        </p:nvCxnSpPr>
        <p:spPr bwMode="auto">
          <a:xfrm>
            <a:off x="2423160" y="2720340"/>
            <a:ext cx="228600" cy="0"/>
          </a:xfrm>
          <a:prstGeom prst="line">
            <a:avLst/>
          </a:prstGeom>
          <a:ln w="22225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0552001" name="Rounded Rectangle 6"/>
          <p:cNvSpPr/>
          <p:nvPr/>
        </p:nvSpPr>
        <p:spPr bwMode="auto">
          <a:xfrm>
            <a:off x="2651760" y="2103120"/>
            <a:ext cx="2057400" cy="1234440"/>
          </a:xfrm>
          <a:prstGeom prst="roundRect">
            <a:avLst>
              <a:gd name="adj" fmla="val 12000"/>
            </a:avLst>
          </a:prstGeom>
          <a:solidFill>
            <a:srgbClr val="E6FBF8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>
              <a:defRPr/>
            </a:pPr>
            <a:r>
              <a:rPr sz="1150" b="1" i="0">
                <a:solidFill>
                  <a:srgbClr val="0F172A"/>
                </a:solidFill>
                <a:latin typeface="Calibri"/>
              </a:rPr>
              <a:t>Pilot self-host</a:t>
            </a:r>
            <a:br>
              <a:rPr sz="1150" b="1" i="0">
                <a:solidFill>
                  <a:srgbClr val="0F172A"/>
                </a:solidFill>
                <a:latin typeface="Calibri"/>
              </a:rPr>
            </a:br>
            <a:r>
              <a:rPr sz="1150" b="1" i="0">
                <a:solidFill>
                  <a:srgbClr val="0F172A"/>
                </a:solidFill>
                <a:latin typeface="Calibri"/>
              </a:rPr>
              <a:t>on a small server</a:t>
            </a:r>
            <a:endParaRPr/>
          </a:p>
        </p:txBody>
      </p:sp>
      <p:cxnSp>
        <p:nvCxnSpPr>
          <p:cNvPr id="174014514" name="Connector 7"/>
          <p:cNvCxnSpPr/>
          <p:nvPr/>
        </p:nvCxnSpPr>
        <p:spPr bwMode="auto">
          <a:xfrm>
            <a:off x="4709160" y="2720340"/>
            <a:ext cx="228600" cy="0"/>
          </a:xfrm>
          <a:prstGeom prst="line">
            <a:avLst/>
          </a:prstGeom>
          <a:ln w="22225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3110449" name="Rounded Rectangle 8"/>
          <p:cNvSpPr/>
          <p:nvPr/>
        </p:nvSpPr>
        <p:spPr bwMode="auto">
          <a:xfrm>
            <a:off x="4937760" y="2103120"/>
            <a:ext cx="2057400" cy="1234440"/>
          </a:xfrm>
          <a:prstGeom prst="roundRect">
            <a:avLst>
              <a:gd name="adj" fmla="val 12000"/>
            </a:avLst>
          </a:prstGeom>
          <a:solidFill>
            <a:srgbClr val="E6FBF8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>
              <a:defRPr/>
            </a:pPr>
            <a:r>
              <a:rPr sz="1150" b="1" i="0">
                <a:solidFill>
                  <a:srgbClr val="0F172A"/>
                </a:solidFill>
                <a:latin typeface="Calibri"/>
              </a:rPr>
              <a:t>Shadow-run</a:t>
            </a:r>
            <a:br>
              <a:rPr sz="1150" b="1" i="0">
                <a:solidFill>
                  <a:srgbClr val="0F172A"/>
                </a:solidFill>
                <a:latin typeface="Calibri"/>
              </a:rPr>
            </a:br>
            <a:r>
              <a:rPr sz="1150" b="1" i="0">
                <a:solidFill>
                  <a:srgbClr val="0F172A"/>
                </a:solidFill>
                <a:latin typeface="Calibri"/>
              </a:rPr>
              <a:t>alongside hosted Supabase</a:t>
            </a:r>
            <a:endParaRPr/>
          </a:p>
        </p:txBody>
      </p:sp>
      <p:cxnSp>
        <p:nvCxnSpPr>
          <p:cNvPr id="2120940638" name="Connector 9"/>
          <p:cNvCxnSpPr/>
          <p:nvPr/>
        </p:nvCxnSpPr>
        <p:spPr bwMode="auto">
          <a:xfrm>
            <a:off x="6995160" y="2720340"/>
            <a:ext cx="228600" cy="0"/>
          </a:xfrm>
          <a:prstGeom prst="line">
            <a:avLst/>
          </a:prstGeom>
          <a:ln w="22225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9959193" name="Rounded Rectangle 10"/>
          <p:cNvSpPr/>
          <p:nvPr/>
        </p:nvSpPr>
        <p:spPr bwMode="auto">
          <a:xfrm>
            <a:off x="7223760" y="2103120"/>
            <a:ext cx="2057400" cy="1234440"/>
          </a:xfrm>
          <a:prstGeom prst="roundRect">
            <a:avLst>
              <a:gd name="adj" fmla="val 12000"/>
            </a:avLst>
          </a:prstGeom>
          <a:solidFill>
            <a:srgbClr val="E6FBF8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>
              <a:defRPr/>
            </a:pPr>
            <a:r>
              <a:rPr sz="1150" b="1" i="0">
                <a:solidFill>
                  <a:srgbClr val="0F172A"/>
                </a:solidFill>
                <a:latin typeface="Calibri"/>
              </a:rPr>
              <a:t>Cut over:</a:t>
            </a:r>
            <a:br>
              <a:rPr sz="1150" b="1" i="0">
                <a:solidFill>
                  <a:srgbClr val="0F172A"/>
                </a:solidFill>
                <a:latin typeface="Calibri"/>
              </a:rPr>
            </a:br>
            <a:r>
              <a:rPr sz="1150" b="1" i="0">
                <a:solidFill>
                  <a:srgbClr val="0F172A"/>
                </a:solidFill>
                <a:latin typeface="Calibri"/>
              </a:rPr>
              <a:t>Storage → Postgres → Auth</a:t>
            </a:r>
            <a:endParaRPr/>
          </a:p>
        </p:txBody>
      </p:sp>
      <p:cxnSp>
        <p:nvCxnSpPr>
          <p:cNvPr id="1965690808" name="Connector 11"/>
          <p:cNvCxnSpPr/>
          <p:nvPr/>
        </p:nvCxnSpPr>
        <p:spPr bwMode="auto">
          <a:xfrm>
            <a:off x="9281160" y="2720340"/>
            <a:ext cx="228600" cy="0"/>
          </a:xfrm>
          <a:prstGeom prst="line">
            <a:avLst/>
          </a:prstGeom>
          <a:ln w="22225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7677039" name="Rounded Rectangle 12"/>
          <p:cNvSpPr/>
          <p:nvPr/>
        </p:nvSpPr>
        <p:spPr bwMode="auto">
          <a:xfrm>
            <a:off x="9509760" y="2103120"/>
            <a:ext cx="2057400" cy="1234440"/>
          </a:xfrm>
          <a:prstGeom prst="roundRect">
            <a:avLst>
              <a:gd name="adj" fmla="val 12000"/>
            </a:avLst>
          </a:prstGeom>
          <a:solidFill>
            <a:srgbClr val="DDE7F0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>
              <a:defRPr/>
            </a:pPr>
            <a:r>
              <a:rPr sz="1150" b="1" i="0">
                <a:solidFill>
                  <a:srgbClr val="0F172A"/>
                </a:solidFill>
                <a:latin typeface="Calibri"/>
              </a:rPr>
              <a:t>Frontend hosting:</a:t>
            </a:r>
            <a:br>
              <a:rPr sz="1150" b="1" i="0">
                <a:solidFill>
                  <a:srgbClr val="0F172A"/>
                </a:solidFill>
                <a:latin typeface="Calibri"/>
              </a:rPr>
            </a:br>
            <a:r>
              <a:rPr sz="1150" b="1" i="0">
                <a:solidFill>
                  <a:srgbClr val="0F172A"/>
                </a:solidFill>
                <a:latin typeface="Calibri"/>
              </a:rPr>
              <a:t>a later decision</a:t>
            </a:r>
            <a:endParaRPr/>
          </a:p>
        </p:txBody>
      </p:sp>
      <p:sp>
        <p:nvSpPr>
          <p:cNvPr id="755157685" name="TextBox 13"/>
          <p:cNvSpPr txBox="1"/>
          <p:nvPr/>
        </p:nvSpPr>
        <p:spPr bwMode="auto">
          <a:xfrm>
            <a:off x="548640" y="393192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400" b="0" i="1">
                <a:solidFill>
                  <a:srgbClr val="64748B"/>
                </a:solidFill>
                <a:latin typeface="Calibri"/>
              </a:rPr>
              <a:t>Lowest-risk service cuts over first (Storage), highest-risk last (Auth) — Vercel can keep serving the frontend throughout; that's a separate decision for later.</a:t>
            </a:r>
            <a:endParaRPr/>
          </a:p>
        </p:txBody>
      </p:sp>
      <p:sp>
        <p:nvSpPr>
          <p:cNvPr id="1712949757" name="TextBox 14"/>
          <p:cNvSpPr txBox="1"/>
          <p:nvPr/>
        </p:nvSpPr>
        <p:spPr bwMode="auto"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OLK — Open Library Kashmir</a:t>
            </a:r>
            <a:endParaRPr/>
          </a:p>
        </p:txBody>
      </p:sp>
      <p:sp>
        <p:nvSpPr>
          <p:cNvPr id="1783162300" name="TextBox 15"/>
          <p:cNvSpPr txBox="1"/>
          <p:nvPr/>
        </p:nvSpPr>
        <p:spPr bwMode="auto">
          <a:xfrm>
            <a:off x="8686800" y="6528816"/>
            <a:ext cx="2926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The Road Ahead   ·   35 / 37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992513" name="TextBox 1"/>
          <p:cNvSpPr txBox="1"/>
          <p:nvPr/>
        </p:nvSpPr>
        <p:spPr bwMode="auto"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14B8A6"/>
                </a:solidFill>
                <a:latin typeface="Calibri"/>
              </a:rPr>
              <a:t>THE ROAD AHEAD</a:t>
            </a:r>
            <a:endParaRPr/>
          </a:p>
        </p:txBody>
      </p:sp>
      <p:sp>
        <p:nvSpPr>
          <p:cNvPr id="2143000855" name="TextBox 2"/>
          <p:cNvSpPr txBox="1"/>
          <p:nvPr/>
        </p:nvSpPr>
        <p:spPr bwMode="auto"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000" b="1" i="0">
                <a:solidFill>
                  <a:srgbClr val="0F172A"/>
                </a:solidFill>
                <a:latin typeface="Calibri"/>
              </a:rPr>
              <a:t>Scaling path: 0 → 10,000 users</a:t>
            </a:r>
            <a:endParaRPr/>
          </a:p>
        </p:txBody>
      </p:sp>
      <p:sp>
        <p:nvSpPr>
          <p:cNvPr id="189793463" name="Rectangle 3"/>
          <p:cNvSpPr/>
          <p:nvPr/>
        </p:nvSpPr>
        <p:spPr bwMode="auto">
          <a:xfrm>
            <a:off x="548640" y="1207008"/>
            <a:ext cx="914400" cy="40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9130724" name="TextBox 4"/>
          <p:cNvSpPr txBox="1"/>
          <p:nvPr/>
        </p:nvSpPr>
        <p:spPr bwMode="auto">
          <a:xfrm>
            <a:off x="548640" y="1463040"/>
            <a:ext cx="1078992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0F172A"/>
                </a:solidFill>
                <a:latin typeface="Calibri"/>
              </a:rPr>
              <a:t>Today's architecture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— Postgres + RLS + haversine queries — comfortably serves the first-year target on a single modest Postgres instance. No sharding needed.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0F172A"/>
                </a:solidFill>
                <a:latin typeface="Calibri"/>
              </a:rPr>
              <a:t>First things to actually watch as usage grows: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connection pooling (Supabase provides pgbouncer out of the box), indexes on hot paths (nearby search, area filters — several shipped already), and Storage bandwidth for cover images.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Add basic observability — query stats, error tracking — before scale becomes a real problem, not after.</a:t>
            </a:r>
            <a:endParaRPr/>
          </a:p>
        </p:txBody>
      </p:sp>
      <p:sp>
        <p:nvSpPr>
          <p:cNvPr id="2078844691" name="Rounded Rectangle 5"/>
          <p:cNvSpPr/>
          <p:nvPr/>
        </p:nvSpPr>
        <p:spPr bwMode="auto">
          <a:xfrm>
            <a:off x="548640" y="4434840"/>
            <a:ext cx="11064240" cy="100584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7092205" name="Rectangle 6"/>
          <p:cNvSpPr/>
          <p:nvPr/>
        </p:nvSpPr>
        <p:spPr bwMode="auto">
          <a:xfrm>
            <a:off x="548640" y="4434840"/>
            <a:ext cx="50800" cy="10058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8751385" name="TextBox 7"/>
          <p:cNvSpPr txBox="1"/>
          <p:nvPr/>
        </p:nvSpPr>
        <p:spPr bwMode="auto">
          <a:xfrm>
            <a:off x="749808" y="4544568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150" b="1" i="0">
                <a:solidFill>
                  <a:srgbClr val="FFFFFF"/>
                </a:solidFill>
                <a:latin typeface="Calibri"/>
              </a:rPr>
              <a:t>THE HEADLINE</a:t>
            </a:r>
            <a:endParaRPr/>
          </a:p>
        </p:txBody>
      </p:sp>
      <p:sp>
        <p:nvSpPr>
          <p:cNvPr id="1082834257" name="TextBox 8"/>
          <p:cNvSpPr txBox="1"/>
          <p:nvPr/>
        </p:nvSpPr>
        <p:spPr bwMode="auto">
          <a:xfrm>
            <a:off x="749808" y="4837176"/>
            <a:ext cx="1068019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defRPr/>
            </a:pPr>
            <a:r>
              <a:rPr sz="1500" b="0" i="0">
                <a:solidFill>
                  <a:srgbClr val="FFFFFF"/>
                </a:solidFill>
                <a:latin typeface="Calibri"/>
              </a:rPr>
              <a:t>10,000 users is a tuning problem for this stack, not a rewrite — and we're not designing for 100k until there's evidence we need to.</a:t>
            </a:r>
            <a:endParaRPr/>
          </a:p>
        </p:txBody>
      </p:sp>
      <p:sp>
        <p:nvSpPr>
          <p:cNvPr id="808464342" name="TextBox 9"/>
          <p:cNvSpPr txBox="1"/>
          <p:nvPr/>
        </p:nvSpPr>
        <p:spPr bwMode="auto"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OLK — Open Library Kashmir</a:t>
            </a:r>
            <a:endParaRPr/>
          </a:p>
        </p:txBody>
      </p:sp>
      <p:sp>
        <p:nvSpPr>
          <p:cNvPr id="1298102826" name="TextBox 10"/>
          <p:cNvSpPr txBox="1"/>
          <p:nvPr/>
        </p:nvSpPr>
        <p:spPr bwMode="auto">
          <a:xfrm>
            <a:off x="8686800" y="6528816"/>
            <a:ext cx="2926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The Road Ahead   ·   36 / 37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918510" name="TextBox 1"/>
          <p:cNvSpPr txBox="1"/>
          <p:nvPr/>
        </p:nvSpPr>
        <p:spPr bwMode="auto"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300" b="1" i="0">
                <a:solidFill>
                  <a:srgbClr val="14B8A6"/>
                </a:solidFill>
                <a:latin typeface="Calibri"/>
              </a:rPr>
              <a:t>THE ROAD AHEAD</a:t>
            </a:r>
            <a:endParaRPr/>
          </a:p>
        </p:txBody>
      </p:sp>
      <p:sp>
        <p:nvSpPr>
          <p:cNvPr id="969126419" name="TextBox 2"/>
          <p:cNvSpPr txBox="1"/>
          <p:nvPr/>
        </p:nvSpPr>
        <p:spPr bwMode="auto">
          <a:xfrm>
            <a:off x="530352" y="56692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3000" b="1" i="0">
                <a:solidFill>
                  <a:srgbClr val="0F172A"/>
                </a:solidFill>
                <a:latin typeface="Calibri"/>
              </a:rPr>
              <a:t>More creative ideas, worth a conversation</a:t>
            </a:r>
            <a:endParaRPr/>
          </a:p>
        </p:txBody>
      </p:sp>
      <p:sp>
        <p:nvSpPr>
          <p:cNvPr id="719128501" name="Rectangle 3"/>
          <p:cNvSpPr/>
          <p:nvPr/>
        </p:nvSpPr>
        <p:spPr bwMode="auto">
          <a:xfrm>
            <a:off x="548640" y="1207008"/>
            <a:ext cx="914400" cy="40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0429072" name="TextBox 4"/>
          <p:cNvSpPr txBox="1"/>
          <p:nvPr/>
        </p:nvSpPr>
        <p:spPr bwMode="auto">
          <a:xfrm>
            <a:off x="548640" y="1508759"/>
            <a:ext cx="107899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  <a:defRPr/>
            </a:pPr>
            <a:r>
              <a:rPr sz="17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0F172A"/>
                </a:solidFill>
                <a:latin typeface="Calibri"/>
              </a:rPr>
              <a:t>SMS/WhatsApp notifications for areas with limited smartphone data plans.</a:t>
            </a:r>
            <a:endParaRPr/>
          </a:p>
          <a:p>
            <a:pPr>
              <a:lnSpc>
                <a:spcPct val="108000"/>
              </a:lnSpc>
              <a:spcAft>
                <a:spcPts val="1600"/>
              </a:spcAft>
              <a:defRPr/>
            </a:pPr>
            <a:r>
              <a:rPr sz="17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0F172A"/>
                </a:solidFill>
                <a:latin typeface="Calibri"/>
              </a:rPr>
              <a:t>Partnerships with schools and libraries — bulk onboarding, organised “book drive” events.</a:t>
            </a:r>
            <a:endParaRPr/>
          </a:p>
          <a:p>
            <a:pPr>
              <a:lnSpc>
                <a:spcPct val="108000"/>
              </a:lnSpc>
              <a:spcAft>
                <a:spcPts val="1600"/>
              </a:spcAft>
              <a:defRPr/>
            </a:pPr>
            <a:r>
              <a:rPr sz="17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0F172A"/>
                </a:solidFill>
                <a:latin typeface="Calibri"/>
              </a:rPr>
              <a:t>Multi-language UI — Kashmiri, Urdu, English.</a:t>
            </a:r>
            <a:endParaRPr/>
          </a:p>
          <a:p>
            <a:pPr>
              <a:lnSpc>
                <a:spcPct val="108000"/>
              </a:lnSpc>
              <a:spcAft>
                <a:spcPts val="1600"/>
              </a:spcAft>
              <a:defRPr/>
            </a:pPr>
            <a:r>
              <a:rPr sz="17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0F172A"/>
                </a:solidFill>
                <a:latin typeface="Calibri"/>
              </a:rPr>
              <a:t>A public, read-only stats page — transparency about community impact.</a:t>
            </a:r>
            <a:endParaRPr/>
          </a:p>
          <a:p>
            <a:pPr>
              <a:lnSpc>
                <a:spcPct val="108000"/>
              </a:lnSpc>
              <a:spcAft>
                <a:spcPts val="1600"/>
              </a:spcAft>
              <a:defRPr/>
            </a:pPr>
            <a:r>
              <a:rPr sz="17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0F172A"/>
                </a:solidFill>
                <a:latin typeface="Calibri"/>
              </a:rPr>
              <a:t>Community-run local “book hubs”: a reading club paired with a physical drop-off point.</a:t>
            </a:r>
            <a:endParaRPr/>
          </a:p>
        </p:txBody>
      </p:sp>
      <p:sp>
        <p:nvSpPr>
          <p:cNvPr id="1002304859" name="TextBox 5"/>
          <p:cNvSpPr txBox="1"/>
          <p:nvPr/>
        </p:nvSpPr>
        <p:spPr bwMode="auto"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OLK — Open Library Kashmir</a:t>
            </a:r>
            <a:endParaRPr/>
          </a:p>
        </p:txBody>
      </p:sp>
      <p:sp>
        <p:nvSpPr>
          <p:cNvPr id="938752650" name="TextBox 6"/>
          <p:cNvSpPr txBox="1"/>
          <p:nvPr/>
        </p:nvSpPr>
        <p:spPr bwMode="auto">
          <a:xfrm>
            <a:off x="8686800" y="6528816"/>
            <a:ext cx="2926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/>
            </a:pPr>
            <a:r>
              <a:rPr sz="1000" b="0" i="0">
                <a:solidFill>
                  <a:srgbClr val="64748B"/>
                </a:solidFill>
                <a:latin typeface="Calibri"/>
              </a:rPr>
              <a:t>The Road Ahead   ·   37 / 37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7484844" name="Rectangle 1"/>
          <p:cNvSpPr/>
          <p:nvPr/>
        </p:nvSpPr>
        <p:spPr bwMode="auto">
          <a:xfrm>
            <a:off x="0" y="4206240"/>
            <a:ext cx="12191695" cy="2651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42851195" name="Freeform 2"/>
          <p:cNvSpPr/>
          <p:nvPr/>
        </p:nvSpPr>
        <p:spPr bwMode="auto">
          <a:xfrm>
            <a:off x="0" y="4736592"/>
            <a:ext cx="12191695" cy="2121408"/>
          </a:xfrm>
          <a:custGeom>
            <a:avLst/>
            <a:gdLst/>
            <a:ahLst/>
            <a:cxnLst/>
            <a:rect l="l" t="t" r="r" b="b"/>
            <a:pathLst>
              <a:path w="12191695" h="2121408" fill="norm" stroke="1" extrusionOk="0">
                <a:moveTo>
                  <a:pt x="0" y="2121408"/>
                </a:moveTo>
                <a:lnTo>
                  <a:pt x="0" y="928116"/>
                </a:lnTo>
                <a:lnTo>
                  <a:pt x="1706837" y="265176"/>
                </a:lnTo>
                <a:lnTo>
                  <a:pt x="3291758" y="795528"/>
                </a:lnTo>
                <a:lnTo>
                  <a:pt x="5120512" y="53035"/>
                </a:lnTo>
                <a:lnTo>
                  <a:pt x="7071183" y="742493"/>
                </a:lnTo>
                <a:lnTo>
                  <a:pt x="9021854" y="0"/>
                </a:lnTo>
                <a:lnTo>
                  <a:pt x="10972526" y="689458"/>
                </a:lnTo>
                <a:lnTo>
                  <a:pt x="12191695" y="212141"/>
                </a:lnTo>
                <a:lnTo>
                  <a:pt x="12191695" y="2121408"/>
                </a:lnTo>
                <a:lnTo>
                  <a:pt x="0" y="2121408"/>
                </a:lnTo>
                <a:close/>
              </a:path>
            </a:pathLst>
          </a:cu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0875330" name="Freeform 3"/>
          <p:cNvSpPr/>
          <p:nvPr/>
        </p:nvSpPr>
        <p:spPr bwMode="auto">
          <a:xfrm>
            <a:off x="0" y="5373014"/>
            <a:ext cx="12191695" cy="1484985"/>
          </a:xfrm>
          <a:custGeom>
            <a:avLst/>
            <a:gdLst/>
            <a:ahLst/>
            <a:cxnLst/>
            <a:rect l="l" t="t" r="r" b="b"/>
            <a:pathLst>
              <a:path w="12191695" h="1484986" fill="norm" stroke="1" extrusionOk="0">
                <a:moveTo>
                  <a:pt x="0" y="1484986"/>
                </a:moveTo>
                <a:lnTo>
                  <a:pt x="0" y="822046"/>
                </a:lnTo>
                <a:lnTo>
                  <a:pt x="1219170" y="212141"/>
                </a:lnTo>
                <a:lnTo>
                  <a:pt x="2682173" y="636423"/>
                </a:lnTo>
                <a:lnTo>
                  <a:pt x="4389010" y="53036"/>
                </a:lnTo>
                <a:lnTo>
                  <a:pt x="6095848" y="689458"/>
                </a:lnTo>
                <a:lnTo>
                  <a:pt x="7802685" y="0"/>
                </a:lnTo>
                <a:lnTo>
                  <a:pt x="9509522" y="689458"/>
                </a:lnTo>
                <a:lnTo>
                  <a:pt x="11216359" y="106071"/>
                </a:lnTo>
                <a:lnTo>
                  <a:pt x="12191695" y="477317"/>
                </a:lnTo>
                <a:lnTo>
                  <a:pt x="12191695" y="1484986"/>
                </a:lnTo>
                <a:lnTo>
                  <a:pt x="0" y="1484986"/>
                </a:lnTo>
                <a:close/>
              </a:path>
            </a:pathLst>
          </a:cu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3641487" name="Oval 4"/>
          <p:cNvSpPr/>
          <p:nvPr/>
        </p:nvSpPr>
        <p:spPr bwMode="auto">
          <a:xfrm>
            <a:off x="1950671" y="4683556"/>
            <a:ext cx="310896" cy="310896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2303913" name="Rectangle 5"/>
          <p:cNvSpPr/>
          <p:nvPr/>
        </p:nvSpPr>
        <p:spPr bwMode="auto">
          <a:xfrm>
            <a:off x="0" y="5319979"/>
            <a:ext cx="12191695" cy="330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0689245" name="TextBox 6"/>
          <p:cNvSpPr txBox="1"/>
          <p:nvPr/>
        </p:nvSpPr>
        <p:spPr bwMode="auto">
          <a:xfrm>
            <a:off x="822960" y="11887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600" b="1" i="0">
                <a:solidFill>
                  <a:srgbClr val="2DD4BF"/>
                </a:solidFill>
                <a:latin typeface="Calibri"/>
              </a:rPr>
              <a:t>THANK YOU</a:t>
            </a:r>
            <a:endParaRPr/>
          </a:p>
        </p:txBody>
      </p:sp>
      <p:sp>
        <p:nvSpPr>
          <p:cNvPr id="1769640287" name="TextBox 7"/>
          <p:cNvSpPr txBox="1"/>
          <p:nvPr/>
        </p:nvSpPr>
        <p:spPr bwMode="auto">
          <a:xfrm>
            <a:off x="777240" y="160020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4200" b="1" i="0">
                <a:solidFill>
                  <a:srgbClr val="FFFFFF"/>
                </a:solidFill>
                <a:latin typeface="Calibri"/>
              </a:rPr>
              <a:t>Let's get involved</a:t>
            </a:r>
            <a:endParaRPr/>
          </a:p>
        </p:txBody>
      </p:sp>
      <p:sp>
        <p:nvSpPr>
          <p:cNvPr id="949012864" name="TextBox 8"/>
          <p:cNvSpPr txBox="1"/>
          <p:nvPr/>
        </p:nvSpPr>
        <p:spPr bwMode="auto">
          <a:xfrm>
            <a:off x="822960" y="2651760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500" b="1" i="0">
                <a:solidFill>
                  <a:srgbClr val="2DD4BF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0F172A"/>
                </a:solidFill>
                <a:latin typeface="Calibri"/>
              </a:rPr>
              <a:t>Start here: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Guide/main.pdf — the full 23-chapter technical manual, written specifically for new maintainers.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500" b="1" i="0">
                <a:solidFill>
                  <a:srgbClr val="2DD4BF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0F172A"/>
                </a:solidFill>
                <a:latin typeface="Calibri"/>
              </a:rPr>
              <a:t>Run it locally: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npx supabase start &amp;&amp; npm run dev</a:t>
            </a:r>
            <a:endParaRPr/>
          </a:p>
          <a:p>
            <a:pPr>
              <a:lnSpc>
                <a:spcPct val="108000"/>
              </a:lnSpc>
              <a:spcAft>
                <a:spcPts val="1000"/>
              </a:spcAft>
              <a:defRPr/>
            </a:pPr>
            <a:r>
              <a:rPr sz="1500" b="1" i="0">
                <a:solidFill>
                  <a:srgbClr val="2DD4B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CBD5E1"/>
                </a:solidFill>
                <a:latin typeface="Calibri"/>
              </a:rPr>
              <a:t>Every design decision in this deck has a chapter, a migration, or a line of code behind it.</a:t>
            </a:r>
            <a:endParaRPr/>
          </a:p>
        </p:txBody>
      </p:sp>
      <p:sp>
        <p:nvSpPr>
          <p:cNvPr id="1097565452" name="TextBox 9"/>
          <p:cNvSpPr txBox="1"/>
          <p:nvPr/>
        </p:nvSpPr>
        <p:spPr bwMode="auto">
          <a:xfrm>
            <a:off x="822960" y="457200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400" b="1" i="0">
                <a:solidFill>
                  <a:srgbClr val="2DD4BF"/>
                </a:solidFill>
                <a:latin typeface="Calibri"/>
              </a:rPr>
              <a:t>Questions &amp; discussion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44</Slides>
  <Notes>44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2026-07-11T14:02:46Z</dcterms:modified>
  <cp:category/>
</cp:coreProperties>
</file>